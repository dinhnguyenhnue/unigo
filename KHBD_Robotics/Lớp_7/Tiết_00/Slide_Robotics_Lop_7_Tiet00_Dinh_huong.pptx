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64592" cy="4389120"/>
            </a:xfrm>
            <a:prstGeom prst="rect">
              <a:avLst/>
            </a:prstGeom>
            <a:solidFill>
              <a:srgbClr val="312E8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1097280" y="1463040"/>
            <a:ext cx="10058400" cy="38404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r>
              <a:rPr sz="1400">
                <a:solidFill>
                  <a:srgbClr val="4F46E5"/>
                </a:solidFill>
                <a:latin typeface="Times New Roman"/>
              </a:rPr>
              <a:t>UNIGO COLLEGE</a:t>
            </a:r>
          </a:p>
          <a:p>
            <a:pPr>
              <a:spcBef>
                <a:spcPts val="800"/>
              </a:spcBef>
              <a:spcAft>
                <a:spcPts val="1000"/>
              </a:spcAft>
            </a:pPr>
            <a:r>
              <a:rPr sz="3600">
                <a:solidFill>
                  <a:srgbClr val="312E81"/>
                </a:solidFill>
                <a:latin typeface="Times New Roman"/>
              </a:rPr>
              <a:t>ROBOTICS 7</a:t>
            </a:r>
          </a:p>
          <a:p>
            <a:pPr>
              <a:spcAft>
                <a:spcPts val="1600"/>
              </a:spcAft>
            </a:pPr>
            <a:r>
              <a:rPr sz="2200">
                <a:solidFill>
                  <a:srgbClr val="4F46E5"/>
                </a:solidFill>
                <a:latin typeface="Times New Roman"/>
              </a:rPr>
              <a:t>Tiết 0: Định hướng môn học &amp; Nội quy phòng thực hành</a:t>
            </a:r>
          </a:p>
          <a:p>
            <a:r>
              <a:rPr sz="1800">
                <a:solidFill>
                  <a:srgbClr val="475569"/>
                </a:solidFill>
                <a:latin typeface="Times New Roman"/>
              </a:rPr>
              <a:t>💡 He thong Robotics phuc tap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4F46E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4F46E5"/>
                </a:solidFill>
                <a:latin typeface="Times New Roman"/>
              </a:rPr>
              <a:t>🎯  Mục tiêu tiết học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Hiểu mục tiêu &amp; vai trò của môn học Robotics.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Nắm rõ phương pháp học tập trải nghiệm &amp; làm việc nhóm.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Thành thạo nội quy bảo quản bộ Kit Robotics &amp; an toàn phòng lab.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Tạo niềm hứng khởi sáng tạo công nghệ trong năm học mới.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05966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059669"/>
                </a:solidFill>
                <a:latin typeface="Times New Roman"/>
              </a:rPr>
              <a:t>🧠  Khởi động — Robot xung quanh ta!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59669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Câu hỏi: Theo em, Robot là gì? Em đã gặp robot nào trong thực tế?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59669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Chia sẻ: Tay máy công nghiệp, Robot hút bụi, Robot tự hành...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59669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Cùng khám phá: Làm thế nào để tự tay chế tạo một Robot?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312E8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312E81"/>
                </a:solidFill>
                <a:latin typeface="Times New Roman"/>
              </a:rPr>
              <a:t>📚  Tổng quan chương trình Robotics Lớp 7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312E81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Cơ cấu cơ khí: Động cơ, bánh răng, cơ chế truyền động.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312E81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Cảm biến &amp; Bộ điều khiển: Nhận biết âm thanh, khoảng cách, màu sắc.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312E81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Lập trình điều khiển: Thuật toán điều khiển Robot thông minh.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312E81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Dự án sáng tạo &amp; Triển lãm Robotics UNIGO cuối năm.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4F46E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4F46E5"/>
                </a:solidFill>
                <a:latin typeface="Times New Roman"/>
              </a:rPr>
              <a:t>🛠️  Phương pháp học tập Robotics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Học qua trải nghiệm (Experiential Learning): Lắp ráp &amp; Lập trình.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Học theo nhóm (Teamwork): Phân công vai trò kỹ sư &amp; lập trình viên.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Giải quyết vấn đề (Problem Solving): Thử nghiệm &amp; cải tiến mô hình.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B91C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B91C1C"/>
                </a:solidFill>
                <a:latin typeface="Times New Roman"/>
              </a:rPr>
              <a:t>⚠️  Nội quy phòng Thực hành Robotics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Bảo quản bộ Kit Robotics: Phân loại chi tiết đúng ô khay đựng.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KHÔNG làm rơi vỡ động cơ, cảm biến hay mạch điều khiển.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Tắt nguồn pin/bộ điều khiển sau khi kết thúc giờ thực hành.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Gặp sự cố kỹ thuật → BÁO NGAY cho Giáo viên hướng dẫn.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5394960" cy="4389120"/>
            <a:chOff x="457200" y="1188720"/>
            <a:chExt cx="539496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539496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312E8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822960" y="1371600"/>
            <a:ext cx="475488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312E81"/>
                </a:solidFill>
                <a:latin typeface="Times New Roman"/>
              </a:rPr>
              <a:t>📊  Đánh giá môn học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312E81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Đánh giá kĩ năng thực hành lắp ráp.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312E81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Sản phẩm Robot hoàn thiện theo bài.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312E81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Dự án sáng tạo &amp; Triển lãm cuối năm.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6217920" y="1188720"/>
            <a:ext cx="5394960" cy="4389120"/>
            <a:chOff x="6217920" y="1188720"/>
            <a:chExt cx="5394960" cy="4389120"/>
          </a:xfrm>
        </p:grpSpPr>
        <p:sp>
          <p:nvSpPr>
            <p:cNvPr id="7" name="Rounded Rectangle 6"/>
            <p:cNvSpPr/>
            <p:nvPr/>
          </p:nvSpPr>
          <p:spPr>
            <a:xfrm>
              <a:off x="6217920" y="1188720"/>
              <a:ext cx="539496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217920" y="1188720"/>
              <a:ext cx="109728" cy="4389120"/>
            </a:xfrm>
            <a:prstGeom prst="rect">
              <a:avLst/>
            </a:prstGeom>
            <a:solidFill>
              <a:srgbClr val="4F46E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6583680" y="1371600"/>
            <a:ext cx="475488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4F46E5"/>
                </a:solidFill>
                <a:latin typeface="Times New Roman"/>
              </a:rPr>
              <a:t>🧰  Đồ dùng cần có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Bộ Kit Robotics UNIGO.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Vở ghi &amp; Sổ tay ý tưởng sáng chế.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Máy tính/Máy tính bảng lập trình.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05966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059669"/>
                </a:solidFill>
                <a:latin typeface="Times New Roman"/>
              </a:rPr>
              <a:t>📝  Nhiệm vụ mở rộng (Homework)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59669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Phác thảo ý tưởng 1 mô hình Robot em ước mơ chế tạo.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59669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Đặt tên và mô tả tính năng chính của Robot đó.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59669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Cam kết thực hiện đúng nội quy bảo quản bộ Kit Robotics.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59669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Xem trước Bài 1 trong chương trình Robotics.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0916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Group 2"/>
          <p:cNvGrpSpPr/>
          <p:nvPr/>
        </p:nvGrpSpPr>
        <p:grpSpPr>
          <a:xfrm>
            <a:off x="1097280" y="1371600"/>
            <a:ext cx="9966960" cy="4114800"/>
            <a:chOff x="1097280" y="1371600"/>
            <a:chExt cx="9966960" cy="4114800"/>
          </a:xfrm>
        </p:grpSpPr>
        <p:sp>
          <p:nvSpPr>
            <p:cNvPr id="4" name="Rounded Rectangle 3"/>
            <p:cNvSpPr/>
            <p:nvPr/>
          </p:nvSpPr>
          <p:spPr>
            <a:xfrm>
              <a:off x="1097280" y="1371600"/>
              <a:ext cx="9966960" cy="411480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097280" y="1371600"/>
              <a:ext cx="164592" cy="4114800"/>
            </a:xfrm>
            <a:prstGeom prst="rect">
              <a:avLst/>
            </a:prstGeom>
            <a:solidFill>
              <a:srgbClr val="05966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554480" y="1554480"/>
            <a:ext cx="9144000" cy="3657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312E81"/>
                </a:solidFill>
                <a:latin typeface="Times New Roman"/>
              </a:rPr>
              <a:t>📌  Ghi nhớ — Robotics Lớp 7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59669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Robotics giúp em tự tay biến ý tưởng thành hiện thực.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59669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Cẩn thận, tỉ mỉ &amp; tuân thủ an toàn thiết bị.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59669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Đam mê sáng tạo — Chinh phục công nghệ!</a:t>
            </a:r>
          </a:p>
          <a:p>
            <a:pPr algn="ctr">
              <a:spcBef>
                <a:spcPts val="2000"/>
              </a:spcBef>
            </a:pPr>
            <a:r>
              <a:rPr sz="2200">
                <a:solidFill>
                  <a:srgbClr val="4F46E5"/>
                </a:solidFill>
                <a:latin typeface="Times New Roman"/>
              </a:rPr>
              <a:t>Chúc các em một năm học Robotics bùng nổ! 🚀🤖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