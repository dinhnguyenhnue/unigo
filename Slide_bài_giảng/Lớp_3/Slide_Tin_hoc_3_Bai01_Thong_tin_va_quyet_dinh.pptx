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80000" y="-1080000"/>
            <a:ext cx="4320000" cy="4320000"/>
          </a:xfrm>
          <a:prstGeom prst="ellipse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00000" y="6480000"/>
            <a:ext cx="3600000" cy="3600000"/>
          </a:xfrm>
          <a:prstGeom prst="ellipse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720000"/>
            <a:ext cx="2880000" cy="54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latin="Arial">
                <a:solidFill>
                  <a:srgbClr val="FFFFFF"/>
                </a:solidFill>
                <a:latin typeface="Arial"/>
              </a:rPr>
              <a:t>TIN HỌC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800000"/>
            <a:ext cx="165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rPr a:latin="Arial">
                <a:latin typeface="Arial"/>
              </a:rPr>
              <a:t>CHỦ ĐỀ 1: MÁY TÍNH VÀ 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060000"/>
            <a:ext cx="15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rPr a:latin="Arial">
                <a:latin typeface="Arial"/>
              </a:rPr>
              <a:t>BÀI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4860000"/>
            <a:ext cx="158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DC64"/>
                </a:solidFill>
                <a:latin typeface="Arial"/>
              </a:defRPr>
            </a:pPr>
            <a:r>
              <a:rPr a:latin="Arial">
                <a:latin typeface="Arial"/>
              </a:rPr>
              <a:t>THÔNG TIN VÀ QUYẾT ĐỊNH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7920000"/>
            <a:ext cx="165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8DCFF"/>
                </a:solidFill>
                <a:latin typeface="Arial"/>
              </a:defRPr>
            </a:pPr>
            <a:r>
              <a:rPr a:latin="Arial">
                <a:latin typeface="Arial"/>
              </a:rPr>
              <a:t>Giáo viên: ......................................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a:latin="Arial">
                <a:solidFill>
                  <a:srgbClr val="FFFFFF"/>
                </a:solidFill>
                <a:latin typeface="Arial"/>
              </a:rPr>
              <a:t>🎯  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800000"/>
            <a:ext cx="1584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a:latin="Arial">
                <a:solidFill>
                  <a:srgbClr val="212121"/>
                </a:solidFill>
                <a:latin typeface="Arial"/>
              </a:rPr>
              <a:t>Sau bài học này, em sẽ:</a:t>
            </a:r>
          </a:p>
          <a:p>
            <a:pPr algn="l">
              <a:lnSpc>
                <a:spcPct val="130000"/>
              </a:lnSpc>
            </a:pPr>
            <a:r>
              <a:rPr sz="10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✅  Nêu được ví dụ minh hoạ cho vai trò quan trọng của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     thông tin đối với việc ra quyết định.</a:t>
            </a:r>
          </a:p>
          <a:p>
            <a:pPr algn="l">
              <a:lnSpc>
                <a:spcPct val="130000"/>
              </a:lnSpc>
            </a:pPr>
            <a:r>
              <a:rPr sz="10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✅  Nhận biết được thông tin và quyết định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     trong ví dụ cụ thể.</a:t>
            </a:r>
          </a:p>
          <a:p>
            <a:pPr algn="l">
              <a:lnSpc>
                <a:spcPct val="130000"/>
              </a:lnSpc>
            </a:pPr>
            <a:r>
              <a:rPr sz="10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✅  Nhận biết được ba dạng thông tin thường gặp: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0070C0"/>
                </a:solidFill>
                <a:latin typeface="Arial"/>
              </a:rPr>
              <a:t>     chữ, âm thanh, hình ảnh.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a:latin="Arial">
                <a:solidFill>
                  <a:srgbClr val="FFFFFF"/>
                </a:solidFill>
                <a:latin typeface="Arial"/>
              </a:rPr>
              <a:t>🔔  KHỞI ĐỘNG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16560000" cy="28800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1980000"/>
            <a:ext cx="151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a:latin="Arial">
                <a:solidFill>
                  <a:srgbClr val="0070C0"/>
                </a:solidFill>
                <a:latin typeface="Arial"/>
              </a:rPr>
              <a:t>Câu chuyện của bạn Minh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"Mỗi sáng, khi tiếng chuông đồng hồ báo thức reo lên,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  bạn Minh quyết định thức dậy, rời khỏi giường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  để vệ sinh cá nhân, ăn sáng và đi học."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5400000"/>
            <a:ext cx="158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a:latin="Arial">
                <a:solidFill>
                  <a:srgbClr val="00468C"/>
                </a:solidFill>
                <a:latin typeface="Arial"/>
              </a:rPr>
              <a:t>❓ Điều gì đã giúp bạn Minh ra quyết định?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646464"/>
                </a:solidFill>
                <a:latin typeface="Arial"/>
              </a:rPr>
              <a:t>💭 Em hãy chia sẻ: Mỗi buổi sáng em thường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646464"/>
                </a:solidFill>
                <a:latin typeface="Arial"/>
              </a:rPr>
              <a:t>     làm gì khi nghe chuông báo thức?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a:latin="Arial">
                <a:solidFill>
                  <a:srgbClr val="FFFFFF"/>
                </a:solidFill>
                <a:latin typeface="Arial"/>
              </a:rPr>
              <a:t>📖  1. THÔNG TIN VÀ QUYẾT ĐỊNH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7920000" cy="108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FFFFFF"/>
                </a:solidFill>
                <a:latin typeface="Arial"/>
              </a:rPr>
              <a:t>📋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06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Là những điều em biết,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thu nhận được từ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thế giới xung quanh.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 a:latin="Arial">
                <a:solidFill>
                  <a:srgbClr val="0070C0"/>
                </a:solidFill>
                <a:latin typeface="Arial"/>
              </a:rPr>
              <a:t>Ví dụ: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646464"/>
                </a:solidFill>
                <a:latin typeface="Arial"/>
              </a:rPr>
              <a:t>• Tiếng chuông → sắp đến giờ đi học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646464"/>
                </a:solidFill>
                <a:latin typeface="Arial"/>
              </a:rPr>
              <a:t>• Đi đá bóng → cần quần áo thể thao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60000" y="1800000"/>
            <a:ext cx="7920000" cy="108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FFFFFF"/>
                </a:solidFill>
                <a:latin typeface="Arial"/>
              </a:rPr>
              <a:t>⚡ QUYẾT ĐỊNH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0000" y="3060000"/>
            <a:ext cx="72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Là việc em chọn làm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sau khi suy nghĩ về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thông tin thu được.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 a:latin="Arial">
                <a:solidFill>
                  <a:srgbClr val="FF8C00"/>
                </a:solidFill>
                <a:latin typeface="Arial"/>
              </a:rPr>
              <a:t>Ví dụ: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646464"/>
                </a:solidFill>
                <a:latin typeface="Arial"/>
              </a:rPr>
              <a:t>• Thức dậy, vệ sinh, đi học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646464"/>
                </a:solidFill>
                <a:latin typeface="Arial"/>
              </a:rPr>
              <a:t>• Mặc quần áo thể thao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80000" y="2160000"/>
            <a:ext cx="1260000" cy="54000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00000" y="7560000"/>
            <a:ext cx="14400000" cy="9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C86400"/>
                </a:solidFill>
                <a:latin typeface="Arial"/>
              </a:rPr>
              <a:t>💡 Thông tin giúp em đưa ra quyết định!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FFFFFF"/>
                </a:solidFill>
                <a:latin typeface="Arial"/>
              </a:rPr>
              <a:t>🔍  HOẠT ĐỘNG 1: TÌM HIỂU THÔNG TIN VÀ QUYẾT ĐỊNH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0" y="1800000"/>
          <a:ext cx="144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0"/>
                <a:gridCol w="72000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a:latin="Arial"/>
                        <a:t>Thông tin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a:latin="Arial"/>
                        <a:t>Quyết định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a:latin="Arial"/>
                        <a:t>Ra khỏi nhà để đi đá bóng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a:latin="Arial"/>
                        <a:t>Mặc bộ quần áo thể thao</a:t>
                      </a:r>
                    </a:p>
                    <a:p>
                      <a:pPr algn="ctr">
                        <a:defRPr sz="18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a:latin="Arial"/>
                        <a:t>và đi đôi giày yêu thích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a:latin="Arial"/>
                        <a:t>Ra khỏi nhà để đi học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a:latin="Arial"/>
                        <a:t>Mặc đồng phục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a:latin="Arial"/>
                        <a:t>Hôm nay có tiết Giáo dục thể chất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a:latin="Arial"/>
                        <a:t>Mang giày thể thao đi học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00000" y="6120000"/>
            <a:ext cx="14400000" cy="1080000"/>
          </a:xfrm>
          <a:prstGeom prst="roundRect">
            <a:avLst/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a:latin="Arial">
                <a:solidFill>
                  <a:srgbClr val="645000"/>
                </a:solidFill>
                <a:latin typeface="Arial"/>
              </a:rPr>
              <a:t>📌 Những điều em biết là thông tin.
Từ thông tin, em sẽ đưa ra quyết định của mình.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FFFFFF"/>
                </a:solidFill>
                <a:latin typeface="Arial"/>
              </a:rPr>
              <a:t>🎯  2. VAI TRÒ CỦA THÔNG TIN TRONG QUYẾT ĐỊNH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620000"/>
            <a:ext cx="158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a:latin="Arial">
                <a:solidFill>
                  <a:srgbClr val="0070C0"/>
                </a:solidFill>
                <a:latin typeface="Arial"/>
              </a:rPr>
              <a:t>📝 Tình huống: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"Theo thời khoá biểu, hôm nay có tiết Giáo dục thể chất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  nên Minh mang giày thể thao đi học để thuận tiện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  cho việc tập đội hình, đội ngũ."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4140000"/>
            <a:ext cx="15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a:latin="Arial">
                <a:solidFill>
                  <a:srgbClr val="FF8C00"/>
                </a:solidFill>
                <a:latin typeface="Arial"/>
              </a:rPr>
              <a:t>❓ Câu hỏi thảo luận: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a) Bạn Minh đã quyết định điều gì?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b) Dựa trên thông tin nào Minh đã quyết định điều đó?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0" y="6480000"/>
            <a:ext cx="14400000" cy="126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a:latin="Arial">
                <a:solidFill>
                  <a:srgbClr val="1B5E20"/>
                </a:solidFill>
                <a:latin typeface="Arial"/>
              </a:rPr>
              <a:t>🌟 Cần phải có thông tin để ra quyết định.
Thông tin giúp Minh ra quyết định!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a:latin="Arial">
                <a:solidFill>
                  <a:srgbClr val="FFFFFF"/>
                </a:solidFill>
                <a:latin typeface="Arial"/>
              </a:rPr>
              <a:t>📚  3. BA DẠNG THÔNG TIN THƯỜNG GẶP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5040000" cy="108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FFFFFF"/>
                </a:solidFill>
                <a:latin typeface="Arial"/>
              </a:rPr>
              <a:t>📝 DẠNG CHỮ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060000"/>
            <a:ext cx="46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Thông tin được thể hiện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bằng các chữ viết,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con số.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VD: Tên trường,</a:t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tấm biển thông báo,</a:t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sách giáo khoa...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0" y="1800000"/>
            <a:ext cx="5040000" cy="108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FFFFFF"/>
                </a:solidFill>
                <a:latin typeface="Arial"/>
              </a:rPr>
              <a:t>🖼️ DẠNG HÌNH ẢNH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0000" y="3060000"/>
            <a:ext cx="46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Thông tin được thể hiện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bằng tranh vẽ, ảnh chụp,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biểu tượng.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VD: Hình cổng trường,</a:t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biển báo giao thông,</a:t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bản đồ...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240000" y="1800000"/>
            <a:ext cx="5040000" cy="108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a:latin="Arial">
                <a:solidFill>
                  <a:srgbClr val="FFFFFF"/>
                </a:solidFill>
                <a:latin typeface="Arial"/>
              </a:rPr>
              <a:t>🔊 DẠNG ÂM THANH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20000" y="3060000"/>
            <a:ext cx="46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Thông tin được thể hiện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bằng âm thanh, tiếng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212121"/>
                </a:solidFill>
                <a:latin typeface="Arial"/>
              </a:rPr>
              <a:t>nói, nhạc.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VD: Tiếng chuông báo</a:t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thức, tiếng chim hót,</a:t>
            </a:r>
          </a:p>
          <a:p>
            <a:pPr algn="l">
              <a:lnSpc>
                <a:spcPct val="130000"/>
              </a:lnSpc>
            </a:pPr>
            <a:r>
              <a:rPr sz="1500" b="0" a:latin="Arial">
                <a:solidFill>
                  <a:srgbClr val="646464"/>
                </a:solidFill>
                <a:latin typeface="Arial"/>
              </a:rPr>
              <a:t>lời mẹ dặn...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0000" y="7200000"/>
            <a:ext cx="14400000" cy="90000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a:latin="Arial">
                <a:solidFill>
                  <a:srgbClr val="6A1B9A"/>
                </a:solidFill>
                <a:latin typeface="Arial"/>
              </a:rPr>
              <a:t>💡 Ba dạng thông tin thường gặp: dạng chữ, dạng hình ảnh và dạng âm thanh.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a:latin="Arial">
                <a:solidFill>
                  <a:srgbClr val="FFFFFF"/>
                </a:solidFill>
                <a:latin typeface="Arial"/>
              </a:rPr>
              <a:t>✏️  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620000"/>
            <a:ext cx="1584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a:latin="Arial">
                <a:solidFill>
                  <a:srgbClr val="00468C"/>
                </a:solidFill>
                <a:latin typeface="Arial"/>
              </a:rPr>
              <a:t>Bài 1: Phân biệt thông tin và quyết định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"Đi học về, An xem trước bài hôm sau để đến lớp hiểu bài tốt hơn."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 a:latin="Arial">
                <a:solidFill>
                  <a:srgbClr val="FF8C00"/>
                </a:solidFill>
                <a:latin typeface="Arial"/>
              </a:rPr>
              <a:t>Câu nào sau đây là thông tin, câu nào là quyết định?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   A. Xem trước bài cho ngày hôm sau sẽ giúp em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      hiểu bài tốt hơn.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   B. An xem trước bài hôm sau khi đi học về.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0" y="6840000"/>
            <a:ext cx="14400000" cy="108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a:latin="Arial">
                <a:solidFill>
                  <a:srgbClr val="C86400"/>
                </a:solidFill>
                <a:latin typeface="Arial"/>
              </a:rPr>
              <a:t>💡 Gợi ý: Thông tin = điều em biết | Quyết định = việc em chọn làm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a:latin="Arial">
                <a:solidFill>
                  <a:srgbClr val="FFFFFF"/>
                </a:solidFill>
                <a:latin typeface="Arial"/>
              </a:rPr>
              <a:t>✏️  LUYỆN TẬP (tiếp theo)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620000"/>
            <a:ext cx="1584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a:latin="Arial">
                <a:solidFill>
                  <a:srgbClr val="00468C"/>
                </a:solidFill>
                <a:latin typeface="Arial"/>
              </a:rPr>
              <a:t>Bài 2: Ba loại thùng rác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Quan sát hình 3 loại thùng rác:</a:t>
            </a:r>
          </a:p>
          <a:p>
            <a:pPr algn="l">
              <a:lnSpc>
                <a:spcPct val="130000"/>
              </a:lnSpc>
            </a:pPr>
            <a:r>
              <a:rPr sz="6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1" a:latin="Arial">
                <a:solidFill>
                  <a:srgbClr val="212121"/>
                </a:solidFill>
                <a:latin typeface="Arial"/>
              </a:rPr>
              <a:t>   🟢 RÁC HỮU CƠ    📦 GIẤY LOẠI    🔴 RÁC KHÁC</a:t>
            </a:r>
          </a:p>
          <a:p>
            <a:pPr algn="l">
              <a:lnSpc>
                <a:spcPct val="130000"/>
              </a:lnSpc>
            </a:pPr>
            <a:r>
              <a:rPr sz="10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1" a:latin="Arial">
                <a:solidFill>
                  <a:srgbClr val="FF8C00"/>
                </a:solidFill>
                <a:latin typeface="Arial"/>
              </a:rPr>
              <a:t>❓ Câu hỏi: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   a) Điều gì giúp em bỏ rác vào đúng thùng?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   b) Đó là thông tin thuộc dạng nào?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0" y="6480000"/>
            <a:ext cx="14400000" cy="126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a:latin="Arial">
                <a:solidFill>
                  <a:srgbClr val="1B5E20"/>
                </a:solidFill>
                <a:latin typeface="Arial"/>
              </a:rPr>
              <a:t>✅ Đáp án: Chữ ghi trên thùng (dạng chữ) và hình ảnh
trên thùng rác (dạng hình ảnh) giúp em bỏ rác đúng thùng.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a:latin="Arial">
                <a:solidFill>
                  <a:srgbClr val="FFFFFF"/>
                </a:solidFill>
                <a:latin typeface="Arial"/>
              </a:rPr>
              <a:t>🚀  VẬN DỤNG - TRẢI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620000"/>
            <a:ext cx="1584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a:latin="Arial">
                <a:solidFill>
                  <a:srgbClr val="00468C"/>
                </a:solidFill>
                <a:latin typeface="Arial"/>
              </a:rPr>
              <a:t>Bài 1: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Ngày mai, ngoài giờ đi học, em dự kiến làm việc gì?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Hãy mô tả và cho biết thông tin nào giúp em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đưa ra quyết định đó.</a:t>
            </a:r>
          </a:p>
          <a:p>
            <a:pPr algn="l">
              <a:lnSpc>
                <a:spcPct val="130000"/>
              </a:lnSpc>
            </a:pPr>
            <a:r>
              <a:rPr sz="10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00" b="1" a:latin="Arial">
                <a:solidFill>
                  <a:srgbClr val="00468C"/>
                </a:solidFill>
                <a:latin typeface="Arial"/>
              </a:rPr>
              <a:t>Bài 2: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Em hãy lấy ví dụ về việc thông tin thay đổi</a:t>
            </a:r>
          </a:p>
          <a:p>
            <a:pPr algn="l">
              <a:lnSpc>
                <a:spcPct val="130000"/>
              </a:lnSpc>
            </a:pPr>
            <a:r>
              <a:rPr sz="1800" b="0" a:latin="Arial">
                <a:solidFill>
                  <a:srgbClr val="212121"/>
                </a:solidFill>
                <a:latin typeface="Arial"/>
              </a:rPr>
              <a:t>dẫn đến quyết định thay đổi.</a:t>
            </a:r>
          </a:p>
          <a:p>
            <a:pPr algn="l">
              <a:lnSpc>
                <a:spcPct val="130000"/>
              </a:lnSpc>
            </a:pPr>
            <a:r>
              <a:rPr sz="10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 a:latin="Arial">
                <a:solidFill>
                  <a:srgbClr val="4CAF50"/>
                </a:solidFill>
                <a:latin typeface="Arial"/>
              </a:rPr>
              <a:t>💭 Ví dụ: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646464"/>
                </a:solidFill>
                <a:latin typeface="Arial"/>
              </a:rPr>
              <a:t>"Trời nắng (thông tin) → mang mũ và bình nước (quyết định)"</a:t>
            </a:r>
          </a:p>
          <a:p>
            <a:pPr algn="l">
              <a:lnSpc>
                <a:spcPct val="130000"/>
              </a:lnSpc>
            </a:pPr>
            <a:r>
              <a:rPr sz="1600" b="0" a:latin="Arial">
                <a:solidFill>
                  <a:srgbClr val="646464"/>
                </a:solidFill>
                <a:latin typeface="Arial"/>
              </a:rPr>
              <a:t>"Trời đổi mưa (thông tin thay đổi) → mang áo mưa (quyết định thay đổi)"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17280000" cy="900000"/>
          </a:xfrm>
          <a:prstGeom prst="roundRect">
            <a:avLst/>
          </a:prstGeom>
          <a:solidFill>
            <a:srgbClr val="00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a:latin="Arial">
                <a:solidFill>
                  <a:srgbClr val="FFFFFF"/>
                </a:solidFill>
                <a:latin typeface="Arial"/>
              </a:rPr>
              <a:t>📋  TỔNG KẾT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1620000"/>
            <a:ext cx="144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a:latin="Arial">
                <a:solidFill>
                  <a:srgbClr val="0070C0"/>
                </a:solidFill>
                <a:latin typeface="Arial"/>
              </a:rPr>
              <a:t>Hôm nay em đã học được:</a:t>
            </a:r>
          </a:p>
          <a:p>
            <a:pPr algn="l">
              <a:lnSpc>
                <a:spcPct val="130000"/>
              </a:lnSpc>
            </a:pPr>
            <a:r>
              <a:rPr sz="10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1️⃣  Thông tin là những điều em biết,</a:t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      thu nhận được từ thế giới xung quanh.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2️⃣  Thông tin giúp em ra quyết định.</a:t>
            </a:r>
          </a:p>
          <a:p>
            <a:pPr algn="l">
              <a:lnSpc>
                <a:spcPct val="130000"/>
              </a:lnSpc>
            </a:pPr>
            <a:r>
              <a:rPr sz="800" b="0" a:latin="Arial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a:latin="Arial">
                <a:solidFill>
                  <a:srgbClr val="212121"/>
                </a:solidFill>
                <a:latin typeface="Arial"/>
              </a:rPr>
              <a:t>3️⃣  Ba dạng thông tin thường gặp:</a:t>
            </a:r>
          </a:p>
          <a:p>
            <a:pPr algn="l">
              <a:lnSpc>
                <a:spcPct val="130000"/>
              </a:lnSpc>
            </a:pPr>
            <a:r>
              <a:rPr sz="2000" b="1" a:latin="Arial">
                <a:solidFill>
                  <a:srgbClr val="0070C0"/>
                </a:solidFill>
                <a:latin typeface="Arial"/>
              </a:rPr>
              <a:t>      📝 Dạng chữ</a:t>
            </a:r>
          </a:p>
          <a:p>
            <a:pPr algn="l">
              <a:lnSpc>
                <a:spcPct val="130000"/>
              </a:lnSpc>
            </a:pPr>
            <a:r>
              <a:rPr sz="2000" b="1" a:latin="Arial">
                <a:solidFill>
                  <a:srgbClr val="4CAF50"/>
                </a:solidFill>
                <a:latin typeface="Arial"/>
              </a:rPr>
              <a:t>      🖼️ Dạng hình ảnh</a:t>
            </a:r>
          </a:p>
          <a:p>
            <a:pPr algn="l">
              <a:lnSpc>
                <a:spcPct val="130000"/>
              </a:lnSpc>
            </a:pPr>
            <a:r>
              <a:rPr sz="2000" b="1" a:latin="Arial">
                <a:solidFill>
                  <a:srgbClr val="FF8C00"/>
                </a:solidFill>
                <a:latin typeface="Arial"/>
              </a:rPr>
              <a:t>      🔊 Dạng âm thanh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0" y="7200000"/>
            <a:ext cx="14400000" cy="9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a:latin="Arial">
                <a:solidFill>
                  <a:srgbClr val="C86400"/>
                </a:solidFill>
                <a:latin typeface="Arial"/>
              </a:rPr>
              <a:t>📝 Bài tập về nhà: Tìm 3 ví dụ về thông tin và quyết định trong gia đình 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00000" y="5400000"/>
            <a:ext cx="5400000" cy="5400000"/>
          </a:xfrm>
          <a:prstGeom prst="ellipse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400000" y="-1800000"/>
            <a:ext cx="5400000" cy="5400000"/>
          </a:xfrm>
          <a:prstGeom prst="ellipse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0" y="2880000"/>
            <a:ext cx="14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rPr a:latin="Arial">
                <a:latin typeface="Arial"/>
              </a:rPr>
              <a:t>CẢM ƠN CÁC EM ĐÃ CHÚ Ý LẮNG NGHE!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0" y="5040000"/>
            <a:ext cx="14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DC64"/>
                </a:solidFill>
                <a:latin typeface="Arial"/>
              </a:defRPr>
            </a:pPr>
            <a:r>
              <a:rPr a:latin="Arial">
                <a:latin typeface="Arial"/>
              </a:rPr>
              <a:t>🌟 Chúc các em học tốt! 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55000"/>
            <a:ext cx="18288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9909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a:latin="Arial">
                <a:solidFill>
                  <a:srgbClr val="FFFFFF"/>
                </a:solidFill>
                <a:latin typeface="Arial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