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ssroom_computer_lab_1785861919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486400" cy="4206240"/>
            <a:chOff x="548640" y="1188720"/>
            <a:chExt cx="54864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486400" cy="42062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20624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1005840" y="137160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0C4A6E"/>
          </a:solidFill>
          <a:ln w="9525">
            <a:solidFill>
              <a:srgbClr val="0C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TIN HỌC 1  •  NĂM HỌC 2026 –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C4A6E"/>
                </a:solidFill>
                <a:latin typeface="Times New Roman"/>
              </a:rPr>
              <a:t>Tiết 0 — Định hướng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F97316"/>
                </a:solidFill>
                <a:latin typeface="Times New Roman"/>
              </a:rPr>
              <a:t>Noi quy &amp; An toan phong 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696C7"/>
                </a:solidFill>
                <a:latin typeface="Times New Roman"/>
              </a:rPr>
              <a:t>Trường TH &amp; THCS UNIGO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64748B"/>
                </a:solidFill>
                <a:latin typeface="Times New Roman"/>
              </a:rPr>
              <a:t>Giáo viên: Đậu Đình Nguyên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ent_learning_goals_1785861961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84048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C4A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0C4A6E"/>
                </a:solidFill>
                <a:latin typeface="Times New Roman"/>
              </a:rPr>
              <a:t>🎯  Mục tiêu tiết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Tổng quan chương trình Tin học 1.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Nội quy an toàn phòng máy tính UNIGO.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 trên môi trường số (Digital Citizenship).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gital_devices_around_1785861929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4632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852160" cy="4389120"/>
            <a:chOff x="548640" y="1188720"/>
            <a:chExt cx="58521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8521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96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0696C7"/>
                </a:solidFill>
                <a:latin typeface="Times New Roman"/>
              </a:rPr>
              <a:t>🎮  Thế giới số quanh em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Thiết bị nào quanh em? (máy tính, tablet...)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Em đã dùng máy tính để làm gì?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Tin học 1: "người dùng" → "nhà sáng tạo số"!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n_hoc_mindmap_1785861980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114800" cy="402336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754880" y="1188720"/>
            <a:ext cx="6766560" cy="4389120"/>
            <a:chOff x="4754880" y="1188720"/>
            <a:chExt cx="67665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754880" y="1188720"/>
              <a:ext cx="67665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5488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120640" y="137160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F97316"/>
                </a:solidFill>
                <a:latin typeface="Times New Roman"/>
              </a:rPr>
              <a:t>📚  Chương trình Tin học 1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Máy tính &amp; Em (Computer &amp; Me)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Internet &amp; Mạng (Internet Basics)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Lưu trữ dữ liệu (Data Organization)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Đạo đức số (Digital Ethics)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Ứng dụng Tin học (IT Apps)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Giải quyết vấn đề &amp; Lập trình (Coding)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C4A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C4A6E"/>
                </a:solidFill>
                <a:latin typeface="Times New Roman"/>
              </a:rPr>
              <a:t>🚀  Cách học hiệu quả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Trải nghiệm (Hands-on)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Dự án (Project-based)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Tìm lỗi (Debugging)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F97316"/>
                </a:solidFill>
                <a:latin typeface="Times New Roman"/>
              </a:rPr>
              <a:t>🧠  Tư duy máy tính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Phân rã (Decomposition)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Nhận mẫu (Pattern)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Thuật toán (Algorithm)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puter_room_rules_1785861971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EA580C"/>
                </a:solidFill>
                <a:latin typeface="Times New Roman"/>
              </a:rPr>
              <a:t>⚠️  Nội quy phòng máy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Xếp hàng, để giày dép đúng nơi.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mang đồ ăn, nước uống vào.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Bật/tắt máy đúng quy trình.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Gặp sự cố → BÁO NGAY giáo viên.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rnet_safety_kids_17858619417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411480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96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696C7"/>
                </a:solidFill>
                <a:latin typeface="Times New Roman"/>
              </a:rPr>
              <a:t>🛡️  An toàn số (Digital Safety)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Giữ bí mật mật khẩu (password).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chia sẻ thông tin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Cảnh giác link lạ, file lạ.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minh, không bắt nạt mạng.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C4A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C4A6E"/>
                </a:solidFill>
                <a:latin typeface="Times New Roman"/>
              </a:rPr>
              <a:t>📊  Cách đánh giá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thường xuyên (ĐGTX).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định kỳ (4 lần/năm).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Sản phẩm dự án nhóm.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96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696C7"/>
                </a:solidFill>
                <a:latin typeface="Times New Roman"/>
              </a:rPr>
              <a:t>📚  Đồ dùng cần có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SGK Tin học 1.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Vở ghi &amp; sổ tay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USB / thẻ nhớ (THCS).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F97316"/>
                </a:solidFill>
                <a:latin typeface="Times New Roman"/>
              </a:rPr>
              <a:t>📝  Nhiệm vụ mở rộng (Homework)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Viết 2 mục tiêu em muốn đạt trong năm học.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Đề xuất 1 sản phẩm số muốn tự tạo.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Cam kết thực hiện nội quy phòng máy.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Về nhà: Xem trước Bài 1 trong SGK.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Card Group 5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97280" y="1371600"/>
              <a:ext cx="164592" cy="41148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0C4A6E"/>
                </a:solidFill>
                <a:latin typeface="Times New Roman"/>
              </a:rPr>
              <a:t>📌  Ghi nhớ — Tin học 1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Tin học mang đến kỹ năng số thiết thực.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Tuân thủ nội quy &amp; ứng xử văn minh.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Tự tin khám phá, sáng tạo!</a:t>
            </a:r>
          </a:p>
          <a:p>
            <a:pPr algn="ctr">
              <a:spcBef>
                <a:spcPts val="2000"/>
              </a:spcBef>
            </a:pPr>
            <a:r>
              <a:rPr sz="2200" b="1" i="0">
                <a:solidFill>
                  <a:srgbClr val="0696C7"/>
                </a:solidFill>
                <a:latin typeface="Times New Roman"/>
              </a:rPr>
              <a:t>Chúc các em năm học tuyệt vời!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