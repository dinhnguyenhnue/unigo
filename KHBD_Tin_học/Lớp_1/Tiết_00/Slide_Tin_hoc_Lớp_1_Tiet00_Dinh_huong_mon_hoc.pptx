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9" r:id="rId4"/>
    <p:sldId id="257" r:id="rId5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4" d="100"/>
          <a:sy n="64" d="100"/>
        </p:scale>
        <p:origin x="96" y="11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B2D0BA-FBE9-6E44-691F-000C693EA2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CE97D33-3B98-BBDE-4334-263FB7EE47C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0CF0E5-ADF7-8470-3B9F-91C48728E4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E504DA-4D4F-4EDC-F344-F03CE86DB4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549F38-FA9E-B600-327E-9BDCCF1020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04104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DBFD97-87FB-631E-EEF8-6E51DCB457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4DE0B9-02FF-4F72-ED16-1FB31B569E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7B87DC-AA2C-EDEA-982F-36A5FDC6D2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6E27A9-4B0A-C4FB-C65C-DD407FABC5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47FF0C-E183-66BE-709C-448A4AC577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660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6744FD-7E48-FCDF-CF0B-2B23DE1327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94DECC-CB72-B397-C02A-C5108354BF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31C495-26F5-512C-E243-F8AA335A8E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8E351D-6FC7-D545-DF8A-EB162F5B4D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B95763-201D-C4E1-EB65-4B88B137B0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70148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05217B-8EC9-4EA4-9045-0C817687E4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88FE9A-0D5F-7AE0-E7C8-A53EE8AF7E3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14AE5D0-63E8-DCD8-D6B8-306243F3FC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859FF46-C6D8-B70D-34CC-F0BBD25146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A5A21F2-0257-6653-C1B4-BE4271B70E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888B2D-A696-926B-CB00-30CB39A210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5907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2D1804-FC72-EA87-B283-0ED24BD9CD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D6F214-B860-807F-5D59-775C2C3CD3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3872204-513C-7EE5-A63F-ACD7E6F1F0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8089B82-4A6B-0A50-33A8-F57C641AA40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57602B8-966B-D55B-DF46-EF8FE962A89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935D0A2-DDAB-2DEB-1654-64E2CF1352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F526C51-F9C1-C9F7-E325-9857444134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9CD2BB8-A738-B00D-CD4F-1E516729DC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95510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5058C7-EC99-CA69-69A1-B71A2EE1FB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A82FDDE-258E-65C9-5E9B-059B5310B2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688222D-5913-69EE-C0A1-2115B6A3BE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4364462-4379-23E8-5042-4188F2424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80956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E2B39AE-76E9-53E8-5AC2-AD6E83AE5A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8A39721-3A37-FE8B-936D-3225F2B6F9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6383E3-5325-C6DD-4FD0-655FEA72A2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87331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99B1C8-88D4-EB75-0A5A-DBF764E94A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FB7FCE-F57B-B919-56DD-5EDF6227BA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1BC4E80-42F9-68B4-89A4-09F4B2E311F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2E4884-0004-05C1-9162-12837C41B9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110837C-4E57-5E0F-EC87-6499BA034A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A4D633-7171-8A0D-E4C6-6D53E0859A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11064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F0E132-6996-68E8-4F29-37C27BB8EB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0434507-83A3-0D3E-B631-5AA2974E08B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F62259C-71C9-5E4F-343E-C0E87D750FE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081087-DD77-D63D-A0AB-E7DF40F551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755EC71-8A66-0F0A-B040-0930D31AAA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332627-5E94-EEB1-7186-47F0D5C6F5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95566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121772-A9B5-C630-07CA-DECD42CD77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2DBB18D-FEE1-0190-5A10-2B09E039770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CD711D-A70F-EF10-8E36-12C26924E8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F3B26D-7C72-7CF5-91E5-6B9F530321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AE76EA-4D7B-99B2-4676-A289DD637D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96339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1B24F8F-8C52-E27E-05DE-AD92E136AB9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9CCC27E-F320-1CAF-FC80-1F7384CA5E7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5A3655-F6DA-384A-BCB5-A32BD9B555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496872-344F-98B4-6458-BAACD263E5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A6A315-6909-97E2-34A8-B9CB86B9CF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549293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png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78B8C0F-9B11-4065-AE8C-7637290FB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5032" y="829142"/>
            <a:ext cx="10198768" cy="86154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5FE732-1FF5-3147-A7B1-F7E2E0778B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D77A1F-9F08-BD8F-DAF3-65DDCDFC4FE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665A47-83AD-EE80-1199-0CCBE3548BC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F62C6C-6174-7774-F45D-8725FE4A302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D2C332A-3D9A-458F-2703-2BC4602A665E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940" y="136525"/>
            <a:ext cx="867744" cy="86154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0712185-E163-EB6D-9E42-C99AF00858F6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81" t="23826" r="6770" b="30087"/>
          <a:stretch>
            <a:fillRect/>
          </a:stretch>
        </p:blipFill>
        <p:spPr>
          <a:xfrm>
            <a:off x="0" y="5883441"/>
            <a:ext cx="12252960" cy="11269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03477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5">
            <a:extLst>
              <a:ext uri="{FF2B5EF4-FFF2-40B4-BE49-F238E27FC236}">
                <a16:creationId xmlns:a16="http://schemas.microsoft.com/office/drawing/2014/main" id="{261CADFC-E468-A9CF-CA9D-3603C11068A9}"/>
              </a:ext>
            </a:extLst>
          </p:cNvPr>
          <p:cNvSpPr txBox="1"/>
          <p:nvPr/>
        </p:nvSpPr>
        <p:spPr>
          <a:xfrm>
            <a:off x="844216" y="471493"/>
            <a:ext cx="10503568" cy="112870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0360"/>
              </a:lnSpc>
            </a:pPr>
            <a:r>
              <a:rPr lang="en-US" sz="4400" b="1" dirty="0">
                <a:solidFill>
                  <a:srgbClr val="244498"/>
                </a:solidFill>
                <a:latin typeface="Arial" panose="020B0604020202020204" pitchFamily="34" charset="0"/>
                <a:ea typeface="Crimson Pro Bold"/>
                <a:cs typeface="Arial" panose="020B0604020202020204" pitchFamily="34" charset="0"/>
                <a:sym typeface="Crimson Pro Bold"/>
              </a:rPr>
              <a:t>TRƯỜNG TIỂU HỌC VÀ THCS UNIGO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ACCC6F9-9D0B-8FA1-C7A3-6C656AB9CDE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" y="1780673"/>
            <a:ext cx="11887200" cy="37646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62458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A0AB71-A960-5C29-67C4-E061282DF7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0315" y="215531"/>
            <a:ext cx="3826042" cy="861546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tx2">
                    <a:lumMod val="75000"/>
                    <a:lumOff val="25000"/>
                  </a:schemeClr>
                </a:solidFill>
              </a:rPr>
              <a:t>Môn Tin </a:t>
            </a:r>
            <a:r>
              <a:rPr lang="en-US" dirty="0" err="1">
                <a:solidFill>
                  <a:schemeClr val="tx2">
                    <a:lumMod val="75000"/>
                    <a:lumOff val="25000"/>
                  </a:schemeClr>
                </a:solidFill>
              </a:rPr>
              <a:t>học</a:t>
            </a:r>
            <a:r>
              <a:rPr lang="en-US" dirty="0">
                <a:solidFill>
                  <a:schemeClr val="tx2">
                    <a:lumMod val="75000"/>
                    <a:lumOff val="25000"/>
                  </a:schemeClr>
                </a:solidFill>
              </a:rPr>
              <a:t> </a:t>
            </a:r>
            <a:r>
              <a:rPr lang="en-US" dirty="0" err="1">
                <a:solidFill>
                  <a:schemeClr val="tx2">
                    <a:lumMod val="75000"/>
                    <a:lumOff val="25000"/>
                  </a:schemeClr>
                </a:solidFill>
              </a:rPr>
              <a:t>lớp</a:t>
            </a:r>
            <a:r>
              <a:rPr lang="en-US" dirty="0">
                <a:solidFill>
                  <a:schemeClr val="tx2">
                    <a:lumMod val="75000"/>
                    <a:lumOff val="25000"/>
                  </a:schemeClr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9146585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F3F47A-2A03-62D2-8A5D-F03932A437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DE052A-67C4-3C30-0BE8-A144FDC576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5463" y="335847"/>
            <a:ext cx="3826042" cy="861546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tx2">
                    <a:lumMod val="75000"/>
                    <a:lumOff val="25000"/>
                  </a:schemeClr>
                </a:solidFill>
              </a:rPr>
              <a:t>Môn Tin </a:t>
            </a:r>
            <a:r>
              <a:rPr lang="en-US" dirty="0" err="1">
                <a:solidFill>
                  <a:schemeClr val="tx2">
                    <a:lumMod val="75000"/>
                    <a:lumOff val="25000"/>
                  </a:schemeClr>
                </a:solidFill>
              </a:rPr>
              <a:t>học</a:t>
            </a:r>
            <a:r>
              <a:rPr lang="en-US" dirty="0">
                <a:solidFill>
                  <a:schemeClr val="tx2">
                    <a:lumMod val="75000"/>
                    <a:lumOff val="25000"/>
                  </a:schemeClr>
                </a:solidFill>
              </a:rPr>
              <a:t> </a:t>
            </a:r>
            <a:r>
              <a:rPr lang="en-US" dirty="0" err="1">
                <a:solidFill>
                  <a:schemeClr val="tx2">
                    <a:lumMod val="75000"/>
                    <a:lumOff val="25000"/>
                  </a:schemeClr>
                </a:solidFill>
              </a:rPr>
              <a:t>lớp</a:t>
            </a:r>
            <a:r>
              <a:rPr lang="en-US" dirty="0">
                <a:solidFill>
                  <a:schemeClr val="tx2">
                    <a:lumMod val="75000"/>
                    <a:lumOff val="25000"/>
                  </a:schemeClr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5043046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39">
            <a:extLst>
              <a:ext uri="{FF2B5EF4-FFF2-40B4-BE49-F238E27FC236}">
                <a16:creationId xmlns:a16="http://schemas.microsoft.com/office/drawing/2014/main" id="{9F8C78EA-1C6B-6C35-6191-129F37672DA8}"/>
              </a:ext>
            </a:extLst>
          </p:cNvPr>
          <p:cNvSpPr txBox="1"/>
          <p:nvPr/>
        </p:nvSpPr>
        <p:spPr>
          <a:xfrm>
            <a:off x="320174" y="2413337"/>
            <a:ext cx="11551651" cy="1015663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n-US" sz="6600" dirty="0">
                <a:solidFill>
                  <a:schemeClr val="tx2">
                    <a:lumMod val="75000"/>
                    <a:lumOff val="25000"/>
                  </a:schemeClr>
                </a:solidFill>
                <a:latin typeface="Monotype Corsiva" panose="03010101010201010101" pitchFamily="66" charset="0"/>
                <a:ea typeface="Monggirella script"/>
                <a:cs typeface="Monggirella script"/>
                <a:sym typeface="Monggirella script"/>
              </a:rPr>
              <a:t>Thanks for listening</a:t>
            </a:r>
          </a:p>
        </p:txBody>
      </p:sp>
    </p:spTree>
    <p:extLst>
      <p:ext uri="{BB962C8B-B14F-4D97-AF65-F5344CB8AC3E}">
        <p14:creationId xmlns:p14="http://schemas.microsoft.com/office/powerpoint/2010/main" val="1292696729"/>
      </p:ext>
    </p:extLst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14400" y="914400"/>
            <a:ext cx="10360152" cy="45720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914400"/>
            <a:ext cx="274320" cy="4572000"/>
          </a:xfrm>
          <a:prstGeom prst="rect">
            <a:avLst/>
          </a:prstGeom>
          <a:solidFill>
            <a:srgbClr val="EA580C"/>
          </a:solidFill>
          <a:ln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463040" y="1280160"/>
            <a:ext cx="3200400" cy="411480"/>
          </a:xfrm>
          <a:prstGeom prst="roundRect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Times New Roman"/>
              </a:rPr>
              <a:t>CHƯƠNG TRÌNH TIN HỌC 1 — GDPT 2018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" y="1920240"/>
            <a:ext cx="93268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E3A8A"/>
                </a:solidFill>
                <a:latin typeface="Times New Roman"/>
              </a:rPr>
              <a:t>ĐỊNH HƯỚNG MÔN HỌC TIN HỌC 1
</a:t>
            </a:r>
          </a:p>
          <a:p>
            <a:r>
              <a:rPr sz="2000" b="1">
                <a:solidFill>
                  <a:srgbClr val="EA580C"/>
                </a:solidFill>
                <a:latin typeface="Times New Roman"/>
              </a:rPr>
              <a:t>NỘI QUY &amp; AN TOÀN PHÒNG MÁY TÍNH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4114800"/>
            <a:ext cx="93268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i="1">
                <a:solidFill>
                  <a:srgbClr val="475569"/>
                </a:solidFill>
                <a:latin typeface="Times New Roman"/>
              </a:rPr>
              <a:t>Trường: TH &amp; THCS UNIGO   |   Giáo viên: Đậu Đình Nguyên   |   Năm học: 2026 - 2027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Times New Roman"/>
              </a:rPr>
              <a:t>TRƯỜNG TIỂU HỌC VÀ THCS UNIGO — NĂM HỌC 2026 - 2027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182880"/>
            <a:ext cx="2560320" cy="320040"/>
          </a:xfrm>
          <a:prstGeom prst="roundRect">
            <a:avLst/>
          </a:prstGeom>
          <a:solidFill>
            <a:srgbClr val="EA580C"/>
          </a:solidFill>
          <a:ln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Times New Roman"/>
              </a:rPr>
              <a:t>TIN HỌC 1 • TIẾT 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108960" y="109728"/>
            <a:ext cx="85953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Times New Roman"/>
              </a:rPr>
              <a:t>I. MỤC TIÊU TIẾT HỌC (YÊU CẦU CẦN ĐẠT)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Times New Roman"/>
              </a:rPr>
              <a:t>TRƯỜNG TIỂU HỌC VÀ THCS UNIGO — NĂM HỌC 2026 - 2027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5120640" cy="4663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463040"/>
            <a:ext cx="137160" cy="4480560"/>
          </a:xfrm>
          <a:prstGeom prst="rect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508760"/>
            <a:ext cx="47091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1E3A8A"/>
                </a:solidFill>
                <a:latin typeface="Times New Roman"/>
              </a:rPr>
              <a:t>1. Năng lực môn học &amp; Kỹ năng số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1E3A8A"/>
                </a:solidFill>
                <a:latin typeface="Times New Roman"/>
              </a:rPr>
              <a:t>• </a:t>
            </a:r>
            <a:r>
              <a:rPr sz="1300">
                <a:solidFill>
                  <a:srgbClr val="0F172A"/>
                </a:solidFill>
                <a:latin typeface="Times New Roman"/>
              </a:rPr>
              <a:t>Nắm vững cấu trúc môn Tin học 1 theo chuẩn GDPT 2018.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1E3A8A"/>
                </a:solidFill>
                <a:latin typeface="Times New Roman"/>
              </a:rPr>
              <a:t>• </a:t>
            </a:r>
            <a:r>
              <a:rPr sz="1300">
                <a:solidFill>
                  <a:srgbClr val="0F172A"/>
                </a:solidFill>
                <a:latin typeface="Times New Roman"/>
              </a:rPr>
              <a:t>Hiểu rõ quy trình sử dụng thiết bị máy tính an toàn và đúng cách.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1E3A8A"/>
                </a:solidFill>
                <a:latin typeface="Times New Roman"/>
              </a:rPr>
              <a:t>• </a:t>
            </a:r>
            <a:r>
              <a:rPr sz="1300">
                <a:solidFill>
                  <a:srgbClr val="0F172A"/>
                </a:solidFill>
                <a:latin typeface="Times New Roman"/>
              </a:rPr>
              <a:t>Hình thành thói quen thao tác đúng quy chuẩn phòng thực hành Tin học.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1E3A8A"/>
                </a:solidFill>
                <a:latin typeface="Times New Roman"/>
              </a:rPr>
              <a:t>• </a:t>
            </a:r>
            <a:r>
              <a:rPr sz="1300">
                <a:solidFill>
                  <a:srgbClr val="0F172A"/>
                </a:solidFill>
                <a:latin typeface="Times New Roman"/>
              </a:rPr>
              <a:t>Ứng dụng Khung năng lực số (CV 3456) vào quá trình học tập.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371600"/>
            <a:ext cx="5120640" cy="4663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17920" y="1463040"/>
            <a:ext cx="137160" cy="4480560"/>
          </a:xfrm>
          <a:prstGeom prst="rect">
            <a:avLst/>
          </a:prstGeom>
          <a:solidFill>
            <a:srgbClr val="EA580C"/>
          </a:solidFill>
          <a:ln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508760"/>
            <a:ext cx="47091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EA580C"/>
                </a:solidFill>
                <a:latin typeface="Times New Roman"/>
              </a:rPr>
              <a:t>2. Phẩm chất &amp; Năng lực chung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EA580C"/>
                </a:solidFill>
                <a:latin typeface="Times New Roman"/>
              </a:rPr>
              <a:t>• </a:t>
            </a:r>
            <a:r>
              <a:rPr sz="1300">
                <a:solidFill>
                  <a:srgbClr val="0F172A"/>
                </a:solidFill>
                <a:latin typeface="Times New Roman"/>
              </a:rPr>
              <a:t>Chăm chỉ: Tích cực khám phá kiến thức và chủ động chuẩn bị bài.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EA580C"/>
                </a:solidFill>
                <a:latin typeface="Times New Roman"/>
              </a:rPr>
              <a:t>• </a:t>
            </a:r>
            <a:r>
              <a:rPr sz="1300">
                <a:solidFill>
                  <a:srgbClr val="0F172A"/>
                </a:solidFill>
                <a:latin typeface="Times New Roman"/>
              </a:rPr>
              <a:t>Trách nhiệm: Bảo vệ tài sản công cộng, giữ gìn phòng máy sạch sẽ.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EA580C"/>
                </a:solidFill>
                <a:latin typeface="Times New Roman"/>
              </a:rPr>
              <a:t>• </a:t>
            </a:r>
            <a:r>
              <a:rPr sz="1300">
                <a:solidFill>
                  <a:srgbClr val="0F172A"/>
                </a:solidFill>
                <a:latin typeface="Times New Roman"/>
              </a:rPr>
              <a:t>Trung thực: Tự giác làm việc nhóm, tôn trọng sản phẩm số của bạn.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EA580C"/>
                </a:solidFill>
                <a:latin typeface="Times New Roman"/>
              </a:rPr>
              <a:t>• </a:t>
            </a:r>
            <a:r>
              <a:rPr sz="1300">
                <a:solidFill>
                  <a:srgbClr val="0F172A"/>
                </a:solidFill>
                <a:latin typeface="Times New Roman"/>
              </a:rPr>
              <a:t>Hợp tác: Phối hợp hiệu quả với bạn cùng bàn trong giờ thực hành.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182880"/>
            <a:ext cx="2560320" cy="320040"/>
          </a:xfrm>
          <a:prstGeom prst="roundRect">
            <a:avLst/>
          </a:prstGeom>
          <a:solidFill>
            <a:srgbClr val="EA580C"/>
          </a:solidFill>
          <a:ln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Times New Roman"/>
              </a:rPr>
              <a:t>TIN HỌC 1 • TIẾT 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108960" y="109728"/>
            <a:ext cx="85953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Times New Roman"/>
              </a:rPr>
              <a:t>II. HOẠT ĐỘNG 1: KHỞI ĐỘNG — CHÀO MỪNG &amp; KẾT NỐI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Times New Roman"/>
              </a:rPr>
              <a:t>TRƯỜNG TIỂU HỌC VÀ THCS UNIGO — NĂM HỌC 2026 - 2027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10607040" cy="2103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463040"/>
            <a:ext cx="137160" cy="1920240"/>
          </a:xfrm>
          <a:prstGeom prst="rect">
            <a:avLst/>
          </a:prstGeom>
          <a:solidFill>
            <a:srgbClr val="0284C7"/>
          </a:solidFill>
          <a:ln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508760"/>
            <a:ext cx="101955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0284C7"/>
                </a:solidFill>
                <a:latin typeface="Times New Roman"/>
              </a:rPr>
              <a:t>🎮 Trò chơi khởi động: 'Thế giới số xung quanh em'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0284C7"/>
                </a:solidFill>
                <a:latin typeface="Times New Roman"/>
              </a:rPr>
              <a:t>• </a:t>
            </a:r>
            <a:r>
              <a:rPr sz="1300">
                <a:solidFill>
                  <a:srgbClr val="0F172A"/>
                </a:solidFill>
                <a:latin typeface="Times New Roman"/>
              </a:rPr>
              <a:t>Quan sát hình ảnh các thiết bị công nghệ quen thuộc trong cuộc sống (Máy tính, Máy tính bảng, Robot...).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0284C7"/>
                </a:solidFill>
                <a:latin typeface="Times New Roman"/>
              </a:rPr>
              <a:t>• </a:t>
            </a:r>
            <a:r>
              <a:rPr sz="1300">
                <a:solidFill>
                  <a:srgbClr val="0F172A"/>
                </a:solidFill>
                <a:latin typeface="Times New Roman"/>
              </a:rPr>
              <a:t>Thảo luận nhanh: Em đã từng dùng máy tính để làm những công việc gì?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0284C7"/>
                </a:solidFill>
                <a:latin typeface="Times New Roman"/>
              </a:rPr>
              <a:t>• </a:t>
            </a:r>
            <a:r>
              <a:rPr sz="1300">
                <a:solidFill>
                  <a:srgbClr val="0F172A"/>
                </a:solidFill>
                <a:latin typeface="Times New Roman"/>
              </a:rPr>
              <a:t>Báo cáo: 3-4 bạn học sinh đại diện giơ tay chia sẻ trải nghiệm cá nhân.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749039"/>
            <a:ext cx="1060704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3840479"/>
            <a:ext cx="137160" cy="210312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3886199"/>
            <a:ext cx="101955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10B981"/>
                </a:solidFill>
                <a:latin typeface="Times New Roman"/>
              </a:rPr>
              <a:t>💡 Gợi mở thông điệp kết nối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Times New Roman"/>
              </a:rPr>
              <a:t>• </a:t>
            </a:r>
            <a:r>
              <a:rPr sz="1300">
                <a:solidFill>
                  <a:srgbClr val="0F172A"/>
                </a:solidFill>
                <a:latin typeface="Times New Roman"/>
              </a:rPr>
              <a:t>Môn Tin học 1 sẽ giúp các em chuyển từ người 'sử dụng máy tính' thành 'nhà sáng tạo số' thông minh!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Times New Roman"/>
              </a:rPr>
              <a:t>• </a:t>
            </a:r>
            <a:r>
              <a:rPr sz="1300">
                <a:solidFill>
                  <a:srgbClr val="0F172A"/>
                </a:solidFill>
                <a:latin typeface="Times New Roman"/>
              </a:rPr>
              <a:t>Chúng ta sẽ cùng nhau khám phá tri thức mới, rèn luyện kỹ năng thực hành và tạo ra các sản phẩm công nghệ ấn tượng.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182880"/>
            <a:ext cx="2560320" cy="320040"/>
          </a:xfrm>
          <a:prstGeom prst="roundRect">
            <a:avLst/>
          </a:prstGeom>
          <a:solidFill>
            <a:srgbClr val="EA580C"/>
          </a:solidFill>
          <a:ln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Times New Roman"/>
              </a:rPr>
              <a:t>TIN HỌC 1 • TIẾT 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108960" y="109728"/>
            <a:ext cx="85953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Times New Roman"/>
              </a:rPr>
              <a:t>III. HOẠT ĐỘNG 2: TỔNG QUAN CHƯƠNG TRÌNH TIN HỌC 1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Times New Roman"/>
              </a:rPr>
              <a:t>TRƯỜNG TIỂU HỌC VÀ THCS UNIGO — NĂM HỌC 2026 - 2027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3291840" cy="2194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463040"/>
            <a:ext cx="137160" cy="2011680"/>
          </a:xfrm>
          <a:prstGeom prst="rect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508760"/>
            <a:ext cx="28803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1E3A8A"/>
                </a:solidFill>
                <a:latin typeface="Times New Roman"/>
              </a:rPr>
              <a:t>Chủ đề A: Máy tính &amp; Em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1E3A8A"/>
                </a:solidFill>
                <a:latin typeface="Times New Roman"/>
              </a:rPr>
              <a:t>• </a:t>
            </a:r>
            <a:r>
              <a:rPr sz="1300">
                <a:solidFill>
                  <a:srgbClr val="0F172A"/>
                </a:solidFill>
                <a:latin typeface="Times New Roman"/>
              </a:rPr>
              <a:t>Khám phá phần cứng, phần mềm, chuột và bàn phím máy tính.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80" y="1371600"/>
            <a:ext cx="3291840" cy="2194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97680" y="1463040"/>
            <a:ext cx="137160" cy="2011680"/>
          </a:xfrm>
          <a:prstGeom prst="rect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0" y="1508760"/>
            <a:ext cx="28803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1E3A8A"/>
                </a:solidFill>
                <a:latin typeface="Times New Roman"/>
              </a:rPr>
              <a:t>Chủ đề B: Mạng máy tính &amp; Internet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1E3A8A"/>
                </a:solidFill>
                <a:latin typeface="Times New Roman"/>
              </a:rPr>
              <a:t>• </a:t>
            </a:r>
            <a:r>
              <a:rPr sz="1300">
                <a:solidFill>
                  <a:srgbClr val="0F172A"/>
                </a:solidFill>
                <a:latin typeface="Times New Roman"/>
              </a:rPr>
              <a:t>Tìm hiểu thế giới Internet, an toàn thông tin và giao tiếp số.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863840" y="1371600"/>
            <a:ext cx="3291840" cy="2194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863840" y="1463040"/>
            <a:ext cx="137160" cy="2011680"/>
          </a:xfrm>
          <a:prstGeom prst="rect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38160" y="1508760"/>
            <a:ext cx="28803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1E3A8A"/>
                </a:solidFill>
                <a:latin typeface="Times New Roman"/>
              </a:rPr>
              <a:t>Chủ đề C: Tổ chức lưu trữ dữ liệu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1E3A8A"/>
                </a:solidFill>
                <a:latin typeface="Times New Roman"/>
              </a:rPr>
              <a:t>• </a:t>
            </a:r>
            <a:r>
              <a:rPr sz="1300">
                <a:solidFill>
                  <a:srgbClr val="0F172A"/>
                </a:solidFill>
                <a:latin typeface="Times New Roman"/>
              </a:rPr>
              <a:t>Sắp xếp thư mục, quản lý tệp tin và tìm kiếm thông tin hiệu quả.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749040"/>
            <a:ext cx="3291840" cy="2194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31520" y="3840480"/>
            <a:ext cx="137160" cy="2011680"/>
          </a:xfrm>
          <a:prstGeom prst="rect">
            <a:avLst/>
          </a:prstGeom>
          <a:solidFill>
            <a:srgbClr val="EA580C"/>
          </a:solidFill>
          <a:ln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" y="3886200"/>
            <a:ext cx="28803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EA580C"/>
                </a:solidFill>
                <a:latin typeface="Times New Roman"/>
              </a:rPr>
              <a:t>Chủ đề D: Đạo đức &amp; Pháp luật số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EA580C"/>
                </a:solidFill>
                <a:latin typeface="Times New Roman"/>
              </a:rPr>
              <a:t>• </a:t>
            </a:r>
            <a:r>
              <a:rPr sz="1300">
                <a:solidFill>
                  <a:srgbClr val="0F172A"/>
                </a:solidFill>
                <a:latin typeface="Times New Roman"/>
              </a:rPr>
              <a:t>Văn hóa ứng xử trên mạng, tôn trọng bản quyền và thông tin cá nhân.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97680" y="3749040"/>
            <a:ext cx="3291840" cy="2194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297680" y="3840480"/>
            <a:ext cx="137160" cy="2011680"/>
          </a:xfrm>
          <a:prstGeom prst="rect">
            <a:avLst/>
          </a:prstGeom>
          <a:solidFill>
            <a:srgbClr val="EA580C"/>
          </a:solidFill>
          <a:ln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0" y="3886200"/>
            <a:ext cx="28803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EA580C"/>
                </a:solidFill>
                <a:latin typeface="Times New Roman"/>
              </a:rPr>
              <a:t>Chủ đề E: Ứng dụng tin học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EA580C"/>
                </a:solidFill>
                <a:latin typeface="Times New Roman"/>
              </a:rPr>
              <a:t>• </a:t>
            </a:r>
            <a:r>
              <a:rPr sz="1300">
                <a:solidFill>
                  <a:srgbClr val="0F172A"/>
                </a:solidFill>
                <a:latin typeface="Times New Roman"/>
              </a:rPr>
              <a:t>Soạn thảo văn bản, vẽ tranh, trình chiếu slide và giải trí số.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863840" y="3749040"/>
            <a:ext cx="3291840" cy="2194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863840" y="3840480"/>
            <a:ext cx="137160" cy="2011680"/>
          </a:xfrm>
          <a:prstGeom prst="rect">
            <a:avLst/>
          </a:prstGeom>
          <a:solidFill>
            <a:srgbClr val="EA580C"/>
          </a:solidFill>
          <a:ln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138160" y="3886200"/>
            <a:ext cx="28803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EA580C"/>
                </a:solidFill>
                <a:latin typeface="Times New Roman"/>
              </a:rPr>
              <a:t>Chủ đề F: Giải quyết vấn đề &amp; Lập trình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EA580C"/>
                </a:solidFill>
                <a:latin typeface="Times New Roman"/>
              </a:rPr>
              <a:t>• </a:t>
            </a:r>
            <a:r>
              <a:rPr sz="1300">
                <a:solidFill>
                  <a:srgbClr val="0F172A"/>
                </a:solidFill>
                <a:latin typeface="Times New Roman"/>
              </a:rPr>
              <a:t>Tư duy thuật toán, làm quen lập trình Scratch sinh động.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182880"/>
            <a:ext cx="2560320" cy="320040"/>
          </a:xfrm>
          <a:prstGeom prst="roundRect">
            <a:avLst/>
          </a:prstGeom>
          <a:solidFill>
            <a:srgbClr val="EA580C"/>
          </a:solidFill>
          <a:ln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Times New Roman"/>
              </a:rPr>
              <a:t>TIN HỌC 1 • TIẾT 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108960" y="109728"/>
            <a:ext cx="85953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Times New Roman"/>
              </a:rPr>
              <a:t>IV. PHƯƠNG PHÁP HỌC TẬP &amp; TƯ DUY CÔNG NGHỆ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Times New Roman"/>
              </a:rPr>
              <a:t>TRƯỜNG TIỂU HỌC VÀ THCS UNIGO — NĂM HỌC 2026 - 2027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5120640" cy="4663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463040"/>
            <a:ext cx="137160" cy="4480560"/>
          </a:xfrm>
          <a:prstGeom prst="rect">
            <a:avLst/>
          </a:prstGeom>
          <a:solidFill>
            <a:srgbClr val="0284C7"/>
          </a:solidFill>
          <a:ln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508760"/>
            <a:ext cx="47091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0284C7"/>
                </a:solidFill>
                <a:latin typeface="Times New Roman"/>
              </a:rPr>
              <a:t>🚀 4 Phương pháp học tập chủ đạo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0284C7"/>
                </a:solidFill>
                <a:latin typeface="Times New Roman"/>
              </a:rPr>
              <a:t>• </a:t>
            </a:r>
            <a:r>
              <a:rPr sz="1300">
                <a:solidFill>
                  <a:srgbClr val="0F172A"/>
                </a:solidFill>
                <a:latin typeface="Times New Roman"/>
              </a:rPr>
              <a:t>1. Học qua trải nghiệm (Hands-on Practice): Tăng thời lượng thực hành trực tiếp trên máy tính.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0284C7"/>
                </a:solidFill>
                <a:latin typeface="Times New Roman"/>
              </a:rPr>
              <a:t>• </a:t>
            </a:r>
            <a:r>
              <a:rPr sz="1300">
                <a:solidFill>
                  <a:srgbClr val="0F172A"/>
                </a:solidFill>
                <a:latin typeface="Times New Roman"/>
              </a:rPr>
              <a:t>2. Học qua dự án (Project-based Learning): Thực hiện bài tập nhóm và tạo ra sản phẩm thực tế.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0284C7"/>
                </a:solidFill>
                <a:latin typeface="Times New Roman"/>
              </a:rPr>
              <a:t>• </a:t>
            </a:r>
            <a:r>
              <a:rPr sz="1300">
                <a:solidFill>
                  <a:srgbClr val="0F172A"/>
                </a:solidFill>
                <a:latin typeface="Times New Roman"/>
              </a:rPr>
              <a:t>3. Học qua giải quyết vấn đề: Tìm lỗi sai (Debug) và tối ưu quy trình xử lý công việc.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0284C7"/>
                </a:solidFill>
                <a:latin typeface="Times New Roman"/>
              </a:rPr>
              <a:t>• </a:t>
            </a:r>
            <a:r>
              <a:rPr sz="1300">
                <a:solidFill>
                  <a:srgbClr val="0F172A"/>
                </a:solidFill>
                <a:latin typeface="Times New Roman"/>
              </a:rPr>
              <a:t>4. Tự học &amp; Đọc tài liệu: Khai thác học liệu số và sách giáo khoa hiệu quả.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371600"/>
            <a:ext cx="5120640" cy="4663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17920" y="1463040"/>
            <a:ext cx="137160" cy="448056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508760"/>
            <a:ext cx="47091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10B981"/>
                </a:solidFill>
                <a:latin typeface="Times New Roman"/>
              </a:rPr>
              <a:t>🧠 Tư duy máy tính (Computational Thinking)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Times New Roman"/>
              </a:rPr>
              <a:t>• </a:t>
            </a:r>
            <a:r>
              <a:rPr sz="1300">
                <a:solidFill>
                  <a:srgbClr val="0F172A"/>
                </a:solidFill>
                <a:latin typeface="Times New Roman"/>
              </a:rPr>
              <a:t>• Phân rã bài toán (Decomposition): Chia nhỏ vấn đề lớn thành các phần dễ xử lý.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Times New Roman"/>
              </a:rPr>
              <a:t>• </a:t>
            </a:r>
            <a:r>
              <a:rPr sz="1300">
                <a:solidFill>
                  <a:srgbClr val="0F172A"/>
                </a:solidFill>
                <a:latin typeface="Times New Roman"/>
              </a:rPr>
              <a:t>• Nhận diện mẫu (Pattern Recognition): Tìm điểm chung giữa các nhiệm vụ.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Times New Roman"/>
              </a:rPr>
              <a:t>• </a:t>
            </a:r>
            <a:r>
              <a:rPr sz="1300">
                <a:solidFill>
                  <a:srgbClr val="0F172A"/>
                </a:solidFill>
                <a:latin typeface="Times New Roman"/>
              </a:rPr>
              <a:t>• Trừu tượng hóa (Abstraction): Tập trung vào chi tiết quan trọng nhất.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Times New Roman"/>
              </a:rPr>
              <a:t>• </a:t>
            </a:r>
            <a:r>
              <a:rPr sz="1300">
                <a:solidFill>
                  <a:srgbClr val="0F172A"/>
                </a:solidFill>
                <a:latin typeface="Times New Roman"/>
              </a:rPr>
              <a:t>• Thuật toán (Algorithm): Thiết kế các bước thực hiện tuần tự chính xác.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182880"/>
            <a:ext cx="2560320" cy="320040"/>
          </a:xfrm>
          <a:prstGeom prst="roundRect">
            <a:avLst/>
          </a:prstGeom>
          <a:solidFill>
            <a:srgbClr val="EA580C"/>
          </a:solidFill>
          <a:ln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Times New Roman"/>
              </a:rPr>
              <a:t>TIN HỌC 1 • TIẾT 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108960" y="109728"/>
            <a:ext cx="85953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Times New Roman"/>
              </a:rPr>
              <a:t>V. HOẠT ĐỘNG 3: NỘI QUY &amp; AN TOÀN PHÒNG MÁY TÍNH UNIGO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Times New Roman"/>
              </a:rPr>
              <a:t>TRƯỜNG TIỂU HỌC VÀ THCS UNIGO — NĂM HỌC 2026 - 2027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10607040" cy="4663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463040"/>
            <a:ext cx="137160" cy="4480560"/>
          </a:xfrm>
          <a:prstGeom prst="rect">
            <a:avLst/>
          </a:prstGeom>
          <a:solidFill>
            <a:srgbClr val="EA580C"/>
          </a:solidFill>
          <a:ln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508760"/>
            <a:ext cx="101955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EA580C"/>
                </a:solidFill>
                <a:latin typeface="Times New Roman"/>
              </a:rPr>
              <a:t>⚠️ 5 NGUYÊN TẮC VÀNG PHÒNG THỰC HÀNH TIN HỌC UNIGO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EA580C"/>
                </a:solidFill>
                <a:latin typeface="Times New Roman"/>
              </a:rPr>
              <a:t>• </a:t>
            </a:r>
            <a:r>
              <a:rPr sz="1300">
                <a:solidFill>
                  <a:srgbClr val="0F172A"/>
                </a:solidFill>
                <a:latin typeface="Times New Roman"/>
              </a:rPr>
              <a:t>1. Xếp hàng trật tự trước khi vào phòng máy. Để giày dép đúng nơi quy định.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EA580C"/>
                </a:solidFill>
                <a:latin typeface="Times New Roman"/>
              </a:rPr>
              <a:t>• </a:t>
            </a:r>
            <a:r>
              <a:rPr sz="1300">
                <a:solidFill>
                  <a:srgbClr val="0F172A"/>
                </a:solidFill>
                <a:latin typeface="Times New Roman"/>
              </a:rPr>
              <a:t>2. TUYỆT ĐỐI KHÔNG mang đồ ăn, nước uống vào phòng thực hành máy tính.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EA580C"/>
                </a:solidFill>
                <a:latin typeface="Times New Roman"/>
              </a:rPr>
              <a:t>• </a:t>
            </a:r>
            <a:r>
              <a:rPr sz="1300">
                <a:solidFill>
                  <a:srgbClr val="0F172A"/>
                </a:solidFill>
                <a:latin typeface="Times New Roman"/>
              </a:rPr>
              <a:t>3. Thao tác bật/tắt máy đúng quy trình. Không tự ý tháo dỡ, cắm rút dây điện.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EA580C"/>
                </a:solidFill>
                <a:latin typeface="Times New Roman"/>
              </a:rPr>
              <a:t>• </a:t>
            </a:r>
            <a:r>
              <a:rPr sz="1300">
                <a:solidFill>
                  <a:srgbClr val="0F172A"/>
                </a:solidFill>
                <a:latin typeface="Times New Roman"/>
              </a:rPr>
              <a:t>4. Ngồi đúng vị trí máy được phân công. Giữ vệ sinh chung ngăn nắp.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EA580C"/>
                </a:solidFill>
                <a:latin typeface="Times New Roman"/>
              </a:rPr>
              <a:t>• </a:t>
            </a:r>
            <a:r>
              <a:rPr sz="1300">
                <a:solidFill>
                  <a:srgbClr val="0F172A"/>
                </a:solidFill>
                <a:latin typeface="Times New Roman"/>
              </a:rPr>
              <a:t>5. Khi gặp sự cố máy tính hoặc nguồn điện: BÁO NGAY CHO GIÁO VIÊN HỖ TRỢ.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182880"/>
            <a:ext cx="2560320" cy="320040"/>
          </a:xfrm>
          <a:prstGeom prst="roundRect">
            <a:avLst/>
          </a:prstGeom>
          <a:solidFill>
            <a:srgbClr val="EA580C"/>
          </a:solidFill>
          <a:ln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Times New Roman"/>
              </a:rPr>
              <a:t>TIN HỌC 1 • TIẾT 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108960" y="109728"/>
            <a:ext cx="85953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Times New Roman"/>
              </a:rPr>
              <a:t>VI. AN TOÀN SỐ &amp; ĐẠO ĐỨC SỐ (DIGITAL SAFETY &amp; ETHICS)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Times New Roman"/>
              </a:rPr>
              <a:t>TRƯỜNG TIỂU HỌC VÀ THCS UNIGO — NĂM HỌC 2026 - 2027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5120640" cy="4663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463040"/>
            <a:ext cx="137160" cy="4480560"/>
          </a:xfrm>
          <a:prstGeom prst="rect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508760"/>
            <a:ext cx="47091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1E3A8A"/>
                </a:solidFill>
                <a:latin typeface="Times New Roman"/>
              </a:rPr>
              <a:t>🛡️ An toàn thông tin cá nhân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1E3A8A"/>
                </a:solidFill>
                <a:latin typeface="Times New Roman"/>
              </a:rPr>
              <a:t>• </a:t>
            </a:r>
            <a:r>
              <a:rPr sz="1300">
                <a:solidFill>
                  <a:srgbClr val="0F172A"/>
                </a:solidFill>
                <a:latin typeface="Times New Roman"/>
              </a:rPr>
              <a:t>Giữ bí mật mật khẩu tài khoản cá nhân và tài khoản trường cấp.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1E3A8A"/>
                </a:solidFill>
                <a:latin typeface="Times New Roman"/>
              </a:rPr>
              <a:t>• </a:t>
            </a:r>
            <a:r>
              <a:rPr sz="1300">
                <a:solidFill>
                  <a:srgbClr val="0F172A"/>
                </a:solidFill>
                <a:latin typeface="Times New Roman"/>
              </a:rPr>
              <a:t>Không tự ý cung cấp họ tên, số điện thoại, địa chỉ cho người lạ trên mạng.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1E3A8A"/>
                </a:solidFill>
                <a:latin typeface="Times New Roman"/>
              </a:rPr>
              <a:t>• </a:t>
            </a:r>
            <a:r>
              <a:rPr sz="1300">
                <a:solidFill>
                  <a:srgbClr val="0F172A"/>
                </a:solidFill>
                <a:latin typeface="Times New Roman"/>
              </a:rPr>
              <a:t>Cảnh giác với các đường link lạ, file tải về không rõ nguồn gốc.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1E3A8A"/>
                </a:solidFill>
                <a:latin typeface="Times New Roman"/>
              </a:rPr>
              <a:t>• </a:t>
            </a:r>
            <a:r>
              <a:rPr sz="1300">
                <a:solidFill>
                  <a:srgbClr val="0F172A"/>
                </a:solidFill>
                <a:latin typeface="Times New Roman"/>
              </a:rPr>
              <a:t>Đăng xuất tài khoản sau khi hoàn thành giờ học trên máy tính dùng chung.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371600"/>
            <a:ext cx="5120640" cy="4663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17920" y="1463040"/>
            <a:ext cx="137160" cy="4480560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508760"/>
            <a:ext cx="47091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F59E0B"/>
                </a:solidFill>
                <a:latin typeface="Times New Roman"/>
              </a:rPr>
              <a:t>🌐 Văn hóa &amp; Đạo đức số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F59E0B"/>
                </a:solidFill>
                <a:latin typeface="Times New Roman"/>
              </a:rPr>
              <a:t>• </a:t>
            </a:r>
            <a:r>
              <a:rPr sz="1300">
                <a:solidFill>
                  <a:srgbClr val="0F172A"/>
                </a:solidFill>
                <a:latin typeface="Times New Roman"/>
              </a:rPr>
              <a:t>Tôn trọng bạn bè: Không sử dụng ngôn từ thiếu văn hóa trên môi trường số.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F59E0B"/>
                </a:solidFill>
                <a:latin typeface="Times New Roman"/>
              </a:rPr>
              <a:t>• </a:t>
            </a:r>
            <a:r>
              <a:rPr sz="1300">
                <a:solidFill>
                  <a:srgbClr val="0F172A"/>
                </a:solidFill>
                <a:latin typeface="Times New Roman"/>
              </a:rPr>
              <a:t>Tôn trọng bản quyền: Tải tài liệu, hình ảnh phải ghi rõ nguồn trích dẫn.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F59E0B"/>
                </a:solidFill>
                <a:latin typeface="Times New Roman"/>
              </a:rPr>
              <a:t>• </a:t>
            </a:r>
            <a:r>
              <a:rPr sz="1300">
                <a:solidFill>
                  <a:srgbClr val="0F172A"/>
                </a:solidFill>
                <a:latin typeface="Times New Roman"/>
              </a:rPr>
              <a:t>Sử dụng thời gian hợp lý: Cân bằng thời gian dùng máy tính và vận động.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F59E0B"/>
                </a:solidFill>
                <a:latin typeface="Times New Roman"/>
              </a:rPr>
              <a:t>• </a:t>
            </a:r>
            <a:r>
              <a:rPr sz="1300">
                <a:solidFill>
                  <a:srgbClr val="0F172A"/>
                </a:solidFill>
                <a:latin typeface="Times New Roman"/>
              </a:rPr>
              <a:t>Chia sẻ năng lượng tích cực: Lan tỏa các nội dung học tập hữu ích.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182880"/>
            <a:ext cx="2560320" cy="320040"/>
          </a:xfrm>
          <a:prstGeom prst="roundRect">
            <a:avLst/>
          </a:prstGeom>
          <a:solidFill>
            <a:srgbClr val="EA580C"/>
          </a:solidFill>
          <a:ln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Times New Roman"/>
              </a:rPr>
              <a:t>TIN HỌC 1 • TIẾT 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108960" y="109728"/>
            <a:ext cx="85953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Times New Roman"/>
              </a:rPr>
              <a:t>VII. CÁCH THỨC ĐÁNH GIÁ &amp; ĐỒ DÙNG HỌC TẬP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Times New Roman"/>
              </a:rPr>
              <a:t>TRƯỜNG TIỂU HỌC VÀ THCS UNIGO — NĂM HỌC 2026 - 2027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5120640" cy="4663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463040"/>
            <a:ext cx="137160" cy="4480560"/>
          </a:xfrm>
          <a:prstGeom prst="rect">
            <a:avLst/>
          </a:prstGeom>
          <a:solidFill>
            <a:srgbClr val="0284C7"/>
          </a:solidFill>
          <a:ln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508760"/>
            <a:ext cx="47091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0284C7"/>
                </a:solidFill>
                <a:latin typeface="Times New Roman"/>
              </a:rPr>
              <a:t>📊 Hình thức đánh giá môn học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0284C7"/>
                </a:solidFill>
                <a:latin typeface="Times New Roman"/>
              </a:rPr>
              <a:t>• </a:t>
            </a:r>
            <a:r>
              <a:rPr sz="1300">
                <a:solidFill>
                  <a:srgbClr val="0F172A"/>
                </a:solidFill>
                <a:latin typeface="Times New Roman"/>
              </a:rPr>
              <a:t>• Đánh giá thường xuyên: Nhận xét thái độ học tập, bài thực hành cá nhân.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0284C7"/>
                </a:solidFill>
                <a:latin typeface="Times New Roman"/>
              </a:rPr>
              <a:t>• </a:t>
            </a:r>
            <a:r>
              <a:rPr sz="1300">
                <a:solidFill>
                  <a:srgbClr val="0F172A"/>
                </a:solidFill>
                <a:latin typeface="Times New Roman"/>
              </a:rPr>
              <a:t>• Đánh giá sản phẩm nhóm: Tiêu chí sáng tạo, kỹ năng làm việc nhóm.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0284C7"/>
                </a:solidFill>
                <a:latin typeface="Times New Roman"/>
              </a:rPr>
              <a:t>• </a:t>
            </a:r>
            <a:r>
              <a:rPr sz="1300">
                <a:solidFill>
                  <a:srgbClr val="0F172A"/>
                </a:solidFill>
                <a:latin typeface="Times New Roman"/>
              </a:rPr>
              <a:t>• Đánh giá định kỳ 1 &amp; 2 (Học kỳ 1): Bài kiểm tra lý thuyết &amp; thực hành.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0284C7"/>
                </a:solidFill>
                <a:latin typeface="Times New Roman"/>
              </a:rPr>
              <a:t>• </a:t>
            </a:r>
            <a:r>
              <a:rPr sz="1300">
                <a:solidFill>
                  <a:srgbClr val="0F172A"/>
                </a:solidFill>
                <a:latin typeface="Times New Roman"/>
              </a:rPr>
              <a:t>• Đánh giá định kỳ 3 &amp; 4 (Học kỳ 2): Bài kiểm tra &amp; Sản phẩm dự án cuối năm.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371600"/>
            <a:ext cx="5120640" cy="4663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17920" y="1463040"/>
            <a:ext cx="137160" cy="448056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508760"/>
            <a:ext cx="47091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10B981"/>
                </a:solidFill>
                <a:latin typeface="Times New Roman"/>
              </a:rPr>
              <a:t>📚 Đồ dùng &amp; Học liệu cần chuẩn bị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Times New Roman"/>
              </a:rPr>
              <a:t>• </a:t>
            </a:r>
            <a:r>
              <a:rPr sz="1300">
                <a:solidFill>
                  <a:srgbClr val="0F172A"/>
                </a:solidFill>
                <a:latin typeface="Times New Roman"/>
              </a:rPr>
              <a:t>1. Sách giáo khoa Tin học 1 (Bộ sách GDPT 2018).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Times New Roman"/>
              </a:rPr>
              <a:t>• </a:t>
            </a:r>
            <a:r>
              <a:rPr sz="1300">
                <a:solidFill>
                  <a:srgbClr val="0F172A"/>
                </a:solidFill>
                <a:latin typeface="Times New Roman"/>
              </a:rPr>
              <a:t>2. Vở ghi bài &amp; Sổ tay ghi chép cá nhân.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Times New Roman"/>
              </a:rPr>
              <a:t>• </a:t>
            </a:r>
            <a:r>
              <a:rPr sz="1300">
                <a:solidFill>
                  <a:srgbClr val="0F172A"/>
                </a:solidFill>
                <a:latin typeface="Times New Roman"/>
              </a:rPr>
              <a:t>3. Tài khoản học tập trực tuyến UNIGO (Office 365 / LMS).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Times New Roman"/>
              </a:rPr>
              <a:t>• </a:t>
            </a:r>
            <a:r>
              <a:rPr sz="1300">
                <a:solidFill>
                  <a:srgbClr val="0F172A"/>
                </a:solidFill>
                <a:latin typeface="Times New Roman"/>
              </a:rPr>
              <a:t>4. Thẻ nhớ / USB cá nhân (dùng cho các khối lớp THCS).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182880"/>
            <a:ext cx="2560320" cy="320040"/>
          </a:xfrm>
          <a:prstGeom prst="roundRect">
            <a:avLst/>
          </a:prstGeom>
          <a:solidFill>
            <a:srgbClr val="EA580C"/>
          </a:solidFill>
          <a:ln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Times New Roman"/>
              </a:rPr>
              <a:t>TIN HỌC 1 • TIẾT 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108960" y="109728"/>
            <a:ext cx="85953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Times New Roman"/>
              </a:rPr>
              <a:t>VIII. HOẠT ĐỘNG 4: NHIỆM VỤ MỞ RỘNG &amp; KẾ HOẠCH CÁ NHÂN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Times New Roman"/>
              </a:rPr>
              <a:t>TRƯỜNG TIỂU HỌC VÀ THCS UNIGO — NĂM HỌC 2026 - 2027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10607040" cy="4663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463040"/>
            <a:ext cx="137160" cy="4480560"/>
          </a:xfrm>
          <a:prstGeom prst="rect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508760"/>
            <a:ext cx="101955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1E3A8A"/>
                </a:solidFill>
                <a:latin typeface="Times New Roman"/>
              </a:rPr>
              <a:t>📝 Nhiệm vụ thiết lập mục tiêu cá nhân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1E3A8A"/>
                </a:solidFill>
                <a:latin typeface="Times New Roman"/>
              </a:rPr>
              <a:t>• </a:t>
            </a:r>
            <a:r>
              <a:rPr sz="1300">
                <a:solidFill>
                  <a:srgbClr val="0F172A"/>
                </a:solidFill>
                <a:latin typeface="Times New Roman"/>
              </a:rPr>
              <a:t>Thảo luận nhóm 2 bạn cùng bàn: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1E3A8A"/>
                </a:solidFill>
                <a:latin typeface="Times New Roman"/>
              </a:rPr>
              <a:t>• </a:t>
            </a:r>
            <a:r>
              <a:rPr sz="1300">
                <a:solidFill>
                  <a:srgbClr val="0F172A"/>
                </a:solidFill>
                <a:latin typeface="Times New Roman"/>
              </a:rPr>
              <a:t>1. Viết ra 2 mục tiêu em mong muốn đạt được nhất trong môn Tin học năm học này.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1E3A8A"/>
                </a:solidFill>
                <a:latin typeface="Times New Roman"/>
              </a:rPr>
              <a:t>• </a:t>
            </a:r>
            <a:r>
              <a:rPr sz="1300">
                <a:solidFill>
                  <a:srgbClr val="0F172A"/>
                </a:solidFill>
                <a:latin typeface="Times New Roman"/>
              </a:rPr>
              <a:t>2. Đề xuất 1 ý tưởng sản phẩm số em muốn tự tay tạo ra (Ví dụ: Tranh vẽ, Bài trình chiếu, Trò chơi Scratch...).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1E3A8A"/>
                </a:solidFill>
                <a:latin typeface="Times New Roman"/>
              </a:rPr>
              <a:t>• </a:t>
            </a:r>
            <a:r>
              <a:rPr sz="1300">
                <a:solidFill>
                  <a:srgbClr val="0F172A"/>
                </a:solidFill>
                <a:latin typeface="Times New Roman"/>
              </a:rPr>
              <a:t>3. Cam kết thực hiện đúng 5 nguyên tắc vàng phòng máy tính UNIGO.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182880"/>
            <a:ext cx="2560320" cy="320040"/>
          </a:xfrm>
          <a:prstGeom prst="roundRect">
            <a:avLst/>
          </a:prstGeom>
          <a:solidFill>
            <a:srgbClr val="EA580C"/>
          </a:solidFill>
          <a:ln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Times New Roman"/>
              </a:rPr>
              <a:t>TIN HỌC 1 • TIẾT 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108960" y="109728"/>
            <a:ext cx="85953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Times New Roman"/>
              </a:rPr>
              <a:t>IX. TỔNG KẾT &amp; DẶN DÒ NHIỆM VỤ VỀ NHÀ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Times New Roman"/>
              </a:rPr>
              <a:t>TRƯỜNG TIỂU HỌC VÀ THCS UNIGO — NĂM HỌC 2026 - 2027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10607040" cy="4663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463040"/>
            <a:ext cx="137160" cy="4480560"/>
          </a:xfrm>
          <a:prstGeom prst="rect">
            <a:avLst/>
          </a:prstGeom>
          <a:solidFill>
            <a:srgbClr val="EA580C"/>
          </a:solidFill>
          <a:ln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508760"/>
            <a:ext cx="101955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EA580C"/>
                </a:solidFill>
                <a:latin typeface="Times New Roman"/>
              </a:rPr>
              <a:t>📌 3 Điểm ghi nhớ quan trọng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EA580C"/>
                </a:solidFill>
                <a:latin typeface="Times New Roman"/>
              </a:rPr>
              <a:t>• </a:t>
            </a:r>
            <a:r>
              <a:rPr sz="1300">
                <a:solidFill>
                  <a:srgbClr val="0F172A"/>
                </a:solidFill>
                <a:latin typeface="Times New Roman"/>
              </a:rPr>
              <a:t>1. Môn Tin học 1 mang lại kiến thức công nghệ hiện đại và kỹ năng thực hành thiết thực.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EA580C"/>
                </a:solidFill>
                <a:latin typeface="Times New Roman"/>
              </a:rPr>
              <a:t>• </a:t>
            </a:r>
            <a:r>
              <a:rPr sz="1300">
                <a:solidFill>
                  <a:srgbClr val="0F172A"/>
                </a:solidFill>
                <a:latin typeface="Times New Roman"/>
              </a:rPr>
              <a:t>2. Luôn tuân thủ tuyệt đối quy định an toàn phòng máy và nguyên tắc ứng xử văn minh số.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EA580C"/>
                </a:solidFill>
                <a:latin typeface="Times New Roman"/>
              </a:rPr>
              <a:t>• </a:t>
            </a:r>
            <a:r>
              <a:rPr sz="1300">
                <a:solidFill>
                  <a:srgbClr val="0F172A"/>
                </a:solidFill>
                <a:latin typeface="Times New Roman"/>
              </a:rPr>
              <a:t>3. Dặn dò nhiệm vụ về nhà: Xem trước Bài 1 trong SGK, chuẩn bị đầy đủ vở ghi và đồ dùng học tập cho tiết sau.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8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360152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F59E0B"/>
                </a:solidFill>
                <a:latin typeface="Times New Roman"/>
              </a:rPr>
              <a:t>CHÚC CÁC EM CÓ MỘT NĂM HỌC THÀNH CÔNG VÀ NHIỀU NIỀM VUI SÁNG TẠO SỐ!
</a:t>
            </a:r>
          </a:p>
          <a:p>
            <a:pPr algn="ctr"/>
            <a:r>
              <a:rPr sz="2200" b="1">
                <a:solidFill>
                  <a:srgbClr val="FFFFFF"/>
                </a:solidFill>
                <a:latin typeface="Times New Roman"/>
              </a:rPr>
              <a:t>TRƯỜNG TIỂU HỌC VÀ THCS UNIGO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Times New Roman"/>
              </a:rPr>
              <a:t>TRƯỜNG TIỂU HỌC VÀ THCS UNIGO — NĂM HỌC 2026 - 2027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</TotalTime>
  <Words>17</Words>
  <Application>Microsoft Office PowerPoint</Application>
  <PresentationFormat>Widescreen</PresentationFormat>
  <Paragraphs>4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Aptos</vt:lpstr>
      <vt:lpstr>Aptos Display</vt:lpstr>
      <vt:lpstr>Arial</vt:lpstr>
      <vt:lpstr>Monotype Corsiva</vt:lpstr>
      <vt:lpstr>Office Theme</vt:lpstr>
      <vt:lpstr>PowerPoint Presentation</vt:lpstr>
      <vt:lpstr>Môn Tin học lớp </vt:lpstr>
      <vt:lpstr>Môn Tin học lớp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Nguyên Đậu</dc:creator>
  <cp:lastModifiedBy>Nguyên Đậu</cp:lastModifiedBy>
  <cp:revision>4</cp:revision>
  <dcterms:created xsi:type="dcterms:W3CDTF">2026-08-04T15:56:52Z</dcterms:created>
  <dcterms:modified xsi:type="dcterms:W3CDTF">2026-08-04T16:29:42Z</dcterms:modified>
</cp:coreProperties>
</file>