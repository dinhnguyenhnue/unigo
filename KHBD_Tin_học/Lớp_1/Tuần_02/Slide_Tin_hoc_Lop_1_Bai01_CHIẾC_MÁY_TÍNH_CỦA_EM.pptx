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ECA5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080" y="1188720"/>
            <a:ext cx="4572000" cy="4572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797040" y="1097280"/>
            <a:ext cx="5212080" cy="4754880"/>
          </a:xfrm>
          <a:prstGeom prst="roundRect">
            <a:avLst>
              <a:gd name="adj" fmla="val 3000"/>
            </a:avLst>
          </a:prstGeom>
          <a:noFill/>
          <a:ln w="38100"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68580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4EC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TIN HỌC LỚP 1  •  NĂM HỌC 2026 –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4ECA54"/>
                </a:solidFill>
                <a:latin typeface="Times New Roman"/>
              </a:rPr>
              <a:t>Bài 1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1B2D1B"/>
                </a:solidFill>
                <a:latin typeface="Times New Roman"/>
              </a:rPr>
              <a:t>CHIẾC MÁY TÍNH CỦA EM</a:t>
            </a:r>
          </a:p>
          <a:p>
            <a:pPr>
              <a:spcBef>
                <a:spcPts val="800"/>
              </a:spcBef>
            </a:pPr>
            <a:r>
              <a:rPr sz="1600" i="1">
                <a:solidFill>
                  <a:srgbClr val="666666"/>
                </a:solidFill>
                <a:latin typeface="Times New Roman"/>
              </a:rPr>
              <a:t>Chủ đề: Em và máy tính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B2D1B"/>
                </a:solidFill>
                <a:latin typeface="Times New Roman"/>
              </a:rPr>
              <a:t>Trường TH &amp; THCS UNIGO</a:t>
            </a:r>
          </a:p>
          <a:p>
            <a:r>
              <a:rPr sz="1600">
                <a:solidFill>
                  <a:srgbClr val="666666"/>
                </a:solidFill>
                <a:latin typeface="Times New Roman"/>
              </a:rPr>
              <a:t>Giáo viên: Đậu Đình Nguyên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713232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4EC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ECA54"/>
                </a:solidFill>
                <a:latin typeface="Times New Roman"/>
              </a:defRPr>
            </a:pPr>
            <a:r>
              <a:t>🎯  Mục tiêu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Sau tiết học, học sinh sẽ: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Chăm chỉ: Tích cực học tập, hoàn thành bài tập đúng thời gian.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Trách nhiệm: Giữ gìn và sử dụng thiết bị đúng cách.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Nhân ái: Biết nhường bạn, hợp tác trong học nhóm.</a:t>
            </a:r>
          </a:p>
        </p:txBody>
      </p:sp>
      <p:pic>
        <p:nvPicPr>
          <p:cNvPr id="6" name="Picture 5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287780"/>
            <a:ext cx="4191000" cy="419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4EC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A54"/>
                </a:solidFill>
                <a:latin typeface="Times New Roman"/>
              </a:defRPr>
            </a:pPr>
            <a:r>
              <a:t>🎮  Khởi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Chiếu hình ảnh câu đố: "Đây là vật gì? Dùng để làm gì?"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Mời HS trả lời, dẫn vào bài học.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92252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4EC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0" y="1325880"/>
            <a:ext cx="41148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832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4EC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778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1188720"/>
            <a:ext cx="109728" cy="4389120"/>
          </a:xfrm>
          <a:prstGeom prst="rect">
            <a:avLst/>
          </a:prstGeom>
          <a:solidFill>
            <a:srgbClr val="4EC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A54"/>
                </a:solidFill>
                <a:latin typeface="Times New Roman"/>
              </a:defRPr>
            </a:pPr>
            <a:r>
              <a:t>📖  Khám phá các bộ phận của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Chỉ từng bộ phận trên máy tính thật và màn chiếu.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Gọi HS lên chỉ và đọc tên.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Kết luận: Máy tính gồm màn hình, bàn phím, chuột và thân máy.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502920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4EC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41148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6052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4EC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4EC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A54"/>
                </a:solidFill>
                <a:latin typeface="Times New Roman"/>
              </a:defRPr>
            </a:pPr>
            <a:r>
              <a:t>📝  Quy trình bật và tắt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Thao tác mẫu bật máy, giải thích từng bước.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Thao tác mẫu tắt máy đúng quy trình.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92252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4EC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0" y="1325880"/>
            <a:ext cx="41148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832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4EC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778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1188720"/>
            <a:ext cx="109728" cy="4389120"/>
          </a:xfrm>
          <a:prstGeom prst="rect">
            <a:avLst/>
          </a:prstGeom>
          <a:solidFill>
            <a:srgbClr val="4EC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A54"/>
                </a:solidFill>
                <a:latin typeface="Times New Roman"/>
              </a:defRPr>
            </a:pPr>
            <a:r>
              <a:t>✏️  Nối hình với tên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Phát phiếu bài tập: HS nối hình bộ phận với tên gọi đúng.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Chữa bài, nhận xét.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502920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4EC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41148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6052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4EC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4EC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A54"/>
                </a:solidFill>
                <a:latin typeface="Times New Roman"/>
              </a:defRPr>
            </a:pPr>
            <a:r>
              <a:t>🎯  Thực hành bật/tắt máy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Hướng dẫn HS thực hành theo từng bước.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Quan sát, hỗ trợ HS gặp khó khăn.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92252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4EC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0" y="1325880"/>
            <a:ext cx="41148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832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4EC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4EC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A54"/>
                </a:solidFill>
                <a:latin typeface="Times New Roman"/>
              </a:defRPr>
            </a:pPr>
            <a:r>
              <a:t>🚀  Vận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4. HOẠT ĐỘNG VẬN DỤNG, TRẢI NGHIỆM (5 phút)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Hỏi: "Em có thể kể tên 3 bộ phận của máy tính cho bố mẹ nghe không?"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Dặn: Về nhà quan sát máy tính ở gia đình.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92252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4EC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0" y="1325880"/>
            <a:ext cx="41148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832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4EC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73152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4EC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ECA54"/>
                </a:solidFill>
                <a:latin typeface="Times New Roman"/>
              </a:defRPr>
            </a:pPr>
            <a:r>
              <a:t>📌  Ghi nhớ — CHIẾC MÁY TÍNH CỦA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Sau tiết học, học sinh sẽ: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Chăm chỉ: Tích cực học tập, hoàn thành bài tập đúng thời gian.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Trách nhiệm: Giữ gìn và sử dụng thiết bị đúng cách.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4ECA54"/>
                </a:solidFill>
                <a:latin typeface="Times New Roman"/>
              </a:rPr>
              <a:t>●  </a:t>
            </a:r>
            <a:r>
              <a:rPr sz="1800">
                <a:solidFill>
                  <a:srgbClr val="1B2D1B"/>
                </a:solidFill>
                <a:latin typeface="Times New Roman"/>
              </a:rPr>
              <a:t>📚 Bài tập về nhà: Xem lại nội dung bài học và chuẩn bị bài tiếp theo.</a:t>
            </a:r>
          </a:p>
        </p:txBody>
      </p:sp>
      <p:pic>
        <p:nvPicPr>
          <p:cNvPr id="6" name="Picture 5" descr="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379220"/>
            <a:ext cx="4008120" cy="4008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ECA5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1371600"/>
            <a:ext cx="4114800" cy="4114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62800" y="1371600"/>
            <a:ext cx="4572000" cy="4114800"/>
          </a:xfrm>
          <a:prstGeom prst="rect">
            <a:avLst/>
          </a:prstGeom>
          <a:solidFill>
            <a:srgbClr val="4ECA54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38400" y="1828800"/>
            <a:ext cx="7315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5600" y="22860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ECA54"/>
                </a:solidFill>
                <a:latin typeface="Times New Roman"/>
              </a:rPr>
              <a:t>CẢM ƠN CÁC EM! 🎉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
                  <a:srgbClr val="1B2D1B"/>
                </a:solidFill>
                <a:latin typeface="Times New Roman"/>
              </a:rPr>
              <a:t>Hẹn gặp lại ở tiết học sau!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5600" y="38404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99999"/>
                </a:solidFill>
                <a:latin typeface="Times New Roman"/>
              </a:rPr>
              <a:t>Trường TH &amp; THCS UNIGO  •  GV: Đậu Đình Nguyên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