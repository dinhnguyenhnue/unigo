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3" name="Rectangle 2"/>
          <p:cNvSpPr/>
          <p:nvPr/>
        </p:nvSpPr>
        <p:spPr>
          <a:xfrm>
            <a:off x="0" y="1051560"/>
            <a:ext cx="12188952" cy="1645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371600" y="201168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Chiếc máy tính của 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Arial"/>
              </a:rPr>
              <a:t>Tin học • Lớp 1 • Bài 1</a:t>
            </a:r>
          </a:p>
        </p:txBody>
      </p:sp>
      <p:pic>
        <p:nvPicPr>
          <p:cNvPr id="6" name="Picture 5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325880"/>
            <a:ext cx="3474720" cy="34747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1 • BÀI 1. CHIẾC MÁY TÍNH CỦA 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E1065"/>
                </a:solidFill>
                <a:latin typeface="Arial"/>
              </a:rPr>
              <a:t>Em đã gặp máy tính ở đâu?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6309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1065"/>
                </a:solidFill>
                <a:latin typeface="Arial"/>
              </a:rPr>
              <a:t>Hãy kể cho cô nghe: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E1065"/>
                </a:solidFill>
                <a:latin typeface="Arial"/>
              </a:rPr>
              <a:t>● Em thấy máy tính ở đâu?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E1065"/>
                </a:solidFill>
                <a:latin typeface="Arial"/>
              </a:rPr>
              <a:t>● Bố mẹ dùng máy tính để làm gì?</a:t>
            </a:r>
          </a:p>
        </p:txBody>
      </p:sp>
      <p:pic>
        <p:nvPicPr>
          <p:cNvPr id="9" name="Picture 8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1 • BÀI 1. CHIẾC MÁY TÍNH CỦA 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E1065"/>
                </a:solidFill>
                <a:latin typeface="Arial"/>
              </a:rPr>
              <a:t>Cùng khám phá máy tính nào!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6309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1065"/>
                </a:solidFill>
                <a:latin typeface="Arial"/>
              </a:rPr>
              <a:t>Máy tính có nhiều loại: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E1065"/>
                </a:solidFill>
                <a:latin typeface="Arial"/>
              </a:rPr>
              <a:t>● Máy tính để bàn (Desktop)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E1065"/>
                </a:solidFill>
                <a:latin typeface="Arial"/>
              </a:rPr>
              <a:t>● Máy tính xách tay (Laptop)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E1065"/>
                </a:solidFill>
                <a:latin typeface="Arial"/>
              </a:rPr>
              <a:t>● Máy tính bảng (Tablet)</a:t>
            </a:r>
          </a:p>
        </p:txBody>
      </p:sp>
      <p:pic>
        <p:nvPicPr>
          <p:cNvPr id="9" name="Picture 8" descr="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1 • BÀI 1. CHIẾC MÁY TÍNH CỦA 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E1065"/>
                </a:solidFill>
                <a:latin typeface="Arial"/>
              </a:rPr>
              <a:t>Các bộ phận của máy tính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6309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1065"/>
                </a:solidFill>
                <a:latin typeface="Arial"/>
              </a:rPr>
              <a:t>● Màn hình — hiển thị hình ảnh, chữ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E1065"/>
                </a:solidFill>
                <a:latin typeface="Arial"/>
              </a:rPr>
              <a:t>● Bàn phím — em gõ chữ, số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E1065"/>
                </a:solidFill>
                <a:latin typeface="Arial"/>
              </a:rPr>
              <a:t>● Chuột — em nhấp để chọn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E1065"/>
                </a:solidFill>
                <a:latin typeface="Arial"/>
              </a:rPr>
              <a:t>● Thân máy — nơi xử lý thông tin</a:t>
            </a:r>
          </a:p>
        </p:txBody>
      </p:sp>
      <p:pic>
        <p:nvPicPr>
          <p:cNvPr id="9" name="Picture 8" descr="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1 • BÀI 1. CHIẾC MÁY TÍNH CỦA 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E1065"/>
                </a:solidFill>
                <a:latin typeface="Arial"/>
              </a:rPr>
              <a:t>Bật và tắt máy tính đúng cách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6309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1065"/>
                </a:solidFill>
                <a:latin typeface="Arial"/>
              </a:rPr>
              <a:t>Bước 1: Nhấn nút nguồn để bật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E1065"/>
                </a:solidFill>
                <a:latin typeface="Arial"/>
              </a:rPr>
              <a:t>Bước 2: Chờ máy khởi động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E1065"/>
                </a:solidFill>
                <a:latin typeface="Arial"/>
              </a:rPr>
              <a:t>Bước 3: Khi muốn tắt → chọn Shut Down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E1065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E1065"/>
                </a:solidFill>
                <a:latin typeface="Arial"/>
              </a:rPr>
              <a:t>Không rút dây điện đột ngột!</a:t>
            </a:r>
          </a:p>
        </p:txBody>
      </p:sp>
      <p:pic>
        <p:nvPicPr>
          <p:cNvPr id="9" name="Picture 8" descr="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1 • LUYỆN TẬP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E1065"/>
                </a:solidFill>
                <a:latin typeface="Arial"/>
              </a:rPr>
              <a:t>Em hãy thực hành!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E1065"/>
                </a:solidFill>
                <a:latin typeface="Arial"/>
              </a:rPr>
              <a:t>● Chỉ vào từng bộ phận và gọi tên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E1065"/>
                </a:solidFill>
                <a:latin typeface="Arial"/>
              </a:rPr>
              <a:t>● Thử nhấp chuột trái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E1065"/>
                </a:solidFill>
                <a:latin typeface="Arial"/>
              </a:rPr>
              <a:t>● Thử gõ tên mình bằng bàn phím</a:t>
            </a:r>
          </a:p>
        </p:txBody>
      </p:sp>
    </p:spTree>
  </p:cSld>
  <p:clrMapOvr>
    <a:masterClrMapping/>
  </p:clrMapOvr>
  <p:transition spd="med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1 • LUYỆN TẬP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E1065"/>
                </a:solidFill>
                <a:latin typeface="Arial"/>
              </a:rPr>
              <a:t>Trò chơi: Nối đúng!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E1065"/>
                </a:solidFill>
                <a:latin typeface="Arial"/>
              </a:rPr>
              <a:t>Nối tên với hình ảnh đúng: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5545836" cy="548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291840"/>
            <a:ext cx="51800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E1065"/>
                </a:solidFill>
                <a:latin typeface="Arial"/>
              </a:rPr>
              <a:t>Màn hình ↔ 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5916" y="3200400"/>
            <a:ext cx="5545836" cy="548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4516" y="3291840"/>
            <a:ext cx="51800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E1065"/>
                </a:solidFill>
                <a:latin typeface="Arial"/>
              </a:rPr>
              <a:t>Bàn phím ↔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86200"/>
            <a:ext cx="5545836" cy="548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977639"/>
            <a:ext cx="51800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E1065"/>
                </a:solidFill>
                <a:latin typeface="Arial"/>
              </a:rPr>
              <a:t>Chuột ↔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3886200"/>
            <a:ext cx="5545836" cy="548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4516" y="3977639"/>
            <a:ext cx="51800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E1065"/>
                </a:solidFill>
                <a:latin typeface="Arial"/>
              </a:rPr>
              <a:t>Thân máy ↔ ?</a:t>
            </a:r>
          </a:p>
        </p:txBody>
      </p:sp>
    </p:spTree>
  </p:cSld>
  <p:clrMapOvr>
    <a:masterClrMapping/>
  </p:clrMapOvr>
  <p:transition spd="med">
    <p:wip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ounded Rectangle 2"/>
          <p:cNvSpPr/>
          <p:nvPr/>
        </p:nvSpPr>
        <p:spPr>
          <a:xfrm>
            <a:off x="548640" y="1188719"/>
            <a:ext cx="11091672" cy="448055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19"/>
            <a:ext cx="11091672" cy="9144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371599"/>
            <a:ext cx="105430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B21B6"/>
                </a:solidFill>
                <a:latin typeface="Arial"/>
              </a:rPr>
              <a:t>Em nhớ được gì nào?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2057400"/>
            <a:ext cx="7434072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286000"/>
            <a:ext cx="9994392" cy="640080"/>
          </a:xfrm>
          <a:prstGeom prst="round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37744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E1065"/>
                </a:solidFill>
                <a:latin typeface="Arial"/>
              </a:rPr>
              <a:t>Máy tính có nhiều loại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200400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3200400"/>
            <a:ext cx="9994392" cy="640080"/>
          </a:xfrm>
          <a:prstGeom prst="round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29184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E1065"/>
                </a:solidFill>
                <a:latin typeface="Arial"/>
              </a:rPr>
              <a:t>4 bộ phận chính: Màn hình, Bàn phím, Chuột, Thân máy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114800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4114800"/>
            <a:ext cx="9994392" cy="640080"/>
          </a:xfrm>
          <a:prstGeom prst="round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20624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E1065"/>
                </a:solidFill>
                <a:latin typeface="Arial"/>
              </a:rPr>
              <a:t>Bật/tắt máy đúng cách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914400" y="150876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Em giỏi lắm!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36876" y="3063240"/>
            <a:ext cx="7315200" cy="228599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94076" y="3337560"/>
            <a:ext cx="6400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E1065"/>
                </a:solidFill>
                <a:latin typeface="Arial"/>
              </a:rPr>
              <a:t>Về nhà: Hãy kể cho bố mẹ nghe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E1065"/>
                </a:solidFill>
                <a:latin typeface="Arial"/>
              </a:rPr>
              <a:t>về chiếc máy tính ở lớp nhé!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