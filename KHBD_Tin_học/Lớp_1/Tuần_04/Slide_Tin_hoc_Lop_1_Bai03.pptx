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Tư thế &amp; An toàn khi dùng máy 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Tin học • Lớp 1 • Bài 3</a:t>
            </a:r>
          </a:p>
        </p:txBody>
      </p:sp>
      <p:pic>
        <p:nvPicPr>
          <p:cNvPr id="6" name="Picture 5" descr="cover_lo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1 • BÀI 3. TƯ THẾ VÀ AN TOÀN KHI DÙNG MÁY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1065"/>
                </a:solidFill>
                <a:latin typeface="Arial"/>
              </a:rPr>
              <a:t>Bảo vệ đôi mắt và cột sống!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E1065"/>
                </a:solidFill>
                <a:latin typeface="Arial"/>
              </a:rPr>
              <a:t>Ngồi học máy tính sai tư thế sẽ bị mỏi mắt và gù lưng đấy!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E1065"/>
                </a:solidFill>
                <a:latin typeface="Arial"/>
              </a:rPr>
              <a:t>Em đã biết tư thế ngồi chuẩn chưa?</a:t>
            </a:r>
          </a:p>
        </p:txBody>
      </p:sp>
      <p:pic>
        <p:nvPicPr>
          <p:cNvPr id="9" name="Picture 8" descr="cover_lo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1 • KHÁM PHÁ VIDEO BÀI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1065"/>
                </a:solidFill>
                <a:latin typeface="Arial"/>
              </a:rPr>
              <a:t>Xem Video: Tư thế ngồi học an toàn 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E1065"/>
                </a:solidFill>
                <a:latin typeface="Arial"/>
              </a:rPr>
              <a:t>Video giáo dục hướng dẫn học sinh tư thế ngồi học máy tính khoa học và an toàn điện!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E1065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E1065"/>
                </a:solidFill>
                <a:latin typeface="Arial"/>
              </a:rPr>
              <a:t>🔗 Đường link video tham khảo: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E1065"/>
                </a:solidFill>
                <a:latin typeface="Arial"/>
              </a:rPr>
              <a:t>https://www.youtube.com/watch?v=o0h8XG1TjPQ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E1065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E1065"/>
                </a:solidFill>
                <a:latin typeface="Arial"/>
              </a:rPr>
              <a:t>💡 Thầy/Cô sẽ chiếu video cho các em quan sát nhé!</a:t>
            </a:r>
          </a:p>
        </p:txBody>
      </p:sp>
      <p:pic>
        <p:nvPicPr>
          <p:cNvPr id="9" name="Picture 8" descr="cover_lo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1 • BÀI 3. TƯ THẾ VÀ AN TOÀN KHI DÙNG MÁY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1065"/>
                </a:solidFill>
                <a:latin typeface="Arial"/>
              </a:rPr>
              <a:t>4 bước ngồi máy tính đúng chuẩn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317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5522976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earn1_lo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2468879"/>
            <a:ext cx="164592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34747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E1065"/>
                </a:solidFill>
                <a:latin typeface="Arial"/>
              </a:rPr>
              <a:t>1. Lưng thẳng, vai thả lỏng tự nhiên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23317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8776" y="2331720"/>
            <a:ext cx="5522976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earn1_lo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7304" y="2468879"/>
            <a:ext cx="1645920" cy="1005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45936" y="34747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E1065"/>
                </a:solidFill>
                <a:latin typeface="Arial"/>
              </a:rPr>
              <a:t>2. Mắt ngang tầm và cách màn hình 50-70cm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605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60520"/>
            <a:ext cx="5522976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earn1_lo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4297680"/>
            <a:ext cx="1645920" cy="10058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94360" y="53035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E1065"/>
                </a:solidFill>
                <a:latin typeface="Arial"/>
              </a:rPr>
              <a:t>3. Tay đặt ngang bàn, cổ tay thẳng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41605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4160520"/>
            <a:ext cx="5522976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earn1_lo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7304" y="4297680"/>
            <a:ext cx="1645920" cy="10058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45936" y="53035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E1065"/>
                </a:solidFill>
                <a:latin typeface="Arial"/>
              </a:rPr>
              <a:t>4. Chân vuông góc và chạm mặt sàn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1 • BÀI 3. TƯ THẾ VÀ AN TOÀN KHI DÙNG MÁY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1065"/>
                </a:solidFill>
                <a:latin typeface="Arial"/>
              </a:rPr>
              <a:t>An toàn điện trong phòng thực hành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317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5522976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earn1_lo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2468879"/>
            <a:ext cx="164592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34747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E1065"/>
                </a:solidFill>
                <a:latin typeface="Arial"/>
              </a:rPr>
              <a:t>Không dùng vật nhọn chọc vào ổ cắm điện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23317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8776" y="2331720"/>
            <a:ext cx="5522976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earn1_lo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7304" y="2468879"/>
            <a:ext cx="1645920" cy="1005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45936" y="34747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E1065"/>
                </a:solidFill>
                <a:latin typeface="Arial"/>
              </a:rPr>
              <a:t>Không mang đồ ăn, nước uống gần máy tính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605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60520"/>
            <a:ext cx="5522976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earn1_lo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4297680"/>
            <a:ext cx="1645920" cy="10058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94360" y="53035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E1065"/>
                </a:solidFill>
                <a:latin typeface="Arial"/>
              </a:rPr>
              <a:t>Không tự ý cắm hoặc rút dây nguồn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41605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4160520"/>
            <a:ext cx="5522976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earn1_lo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7304" y="4297680"/>
            <a:ext cx="1645920" cy="10058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45936" y="53035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E1065"/>
                </a:solidFill>
                <a:latin typeface="Arial"/>
              </a:rPr>
              <a:t>Báo ngay cho giáo viên khi có mùi khét lạ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1 • LUYỆN TẬP TƯƠNG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1065"/>
                </a:solidFill>
                <a:latin typeface="Arial"/>
              </a:rPr>
              <a:t>Luyện tập tư thế tại chỗ!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Cả lớp cùng thực hiện theo hiệu lệnh của giáo viên: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earn1_lo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79"/>
            <a:ext cx="128016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1065"/>
                </a:solidFill>
                <a:latin typeface="Arial"/>
              </a:rPr>
              <a:t>Kiểm tra độ cao của ghế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earn1_lo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1656" y="3154679"/>
            <a:ext cx="128016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54696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1065"/>
                </a:solidFill>
                <a:latin typeface="Arial"/>
              </a:rPr>
              <a:t>Đo khoảng cách mắt với màn hình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earn1_lo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663440"/>
            <a:ext cx="1280160" cy="10058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3120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1065"/>
                </a:solidFill>
                <a:latin typeface="Arial"/>
              </a:rPr>
              <a:t>Đặt hai bàn tay lên bàn phím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earn1_lo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1656" y="4663440"/>
            <a:ext cx="1280160" cy="10058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54696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1065"/>
                </a:solidFill>
                <a:latin typeface="Arial"/>
              </a:rPr>
              <a:t>Thả lỏng hai vai và chớp mắt thư giãn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3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9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1 • THỬ THÁCH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1065"/>
                </a:solidFill>
                <a:latin typeface="Arial"/>
              </a:rPr>
              <a:t>Thử thách: Đố vui an toàn!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4008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852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Chọn phương án đúng nhất: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Khoảng cách mắt chuẩn ↔ 50 - 70 cm (1 cánh tay)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Khi máy tính bốc khói ↔ Báo ngay cho giáo viên!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Được mang nước ngọt vào phòng máy? ↔ KHÔNG ĐƯỢC!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Sau 30 phút học máy tính ↔ Nghỉ ngơi mắt 5 phút</a:t>
            </a:r>
          </a:p>
        </p:txBody>
      </p:sp>
      <p:pic>
        <p:nvPicPr>
          <p:cNvPr id="9" name="Picture 8" descr="cover_lo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77440"/>
            <a:ext cx="4572000" cy="320039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19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1065"/>
                </a:solidFill>
                <a:latin typeface="Arial"/>
              </a:rPr>
              <a:t>Tóm tắt bài học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03120"/>
            <a:ext cx="3331464" cy="3291839"/>
          </a:xfrm>
          <a:prstGeom prst="roundRect">
            <a:avLst/>
          </a:prstGeom>
          <a:solidFill>
            <a:srgbClr val="F3EE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240279"/>
            <a:ext cx="411480" cy="411480"/>
          </a:xfrm>
          <a:prstGeom prst="ellipse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E1065"/>
                </a:solidFill>
                <a:latin typeface="Arial"/>
              </a:rPr>
              <a:t>Ngồi thẳng lưng bảo vệ cột sống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8744" y="2103120"/>
            <a:ext cx="3331464" cy="3291839"/>
          </a:xfrm>
          <a:prstGeom prst="roundRect">
            <a:avLst/>
          </a:prstGeom>
          <a:solidFill>
            <a:srgbClr val="F3EE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65904" y="2240279"/>
            <a:ext cx="411480" cy="411480"/>
          </a:xfrm>
          <a:prstGeom prst="ellipse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5904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5904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E1065"/>
                </a:solidFill>
                <a:latin typeface="Arial"/>
              </a:rPr>
              <a:t>Giữ khoảng cách an toàn bảo vệ mắt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43088" y="2103120"/>
            <a:ext cx="3331464" cy="3291839"/>
          </a:xfrm>
          <a:prstGeom prst="roundRect">
            <a:avLst/>
          </a:prstGeom>
          <a:solidFill>
            <a:srgbClr val="F3EE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80248" y="2240279"/>
            <a:ext cx="411480" cy="411480"/>
          </a:xfrm>
          <a:prstGeom prst="ellipse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248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248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E1065"/>
                </a:solidFill>
                <a:latin typeface="Arial"/>
              </a:rPr>
              <a:t>Tuân thủ nội quy an toàn điện phòng máy</a:t>
            </a:r>
          </a:p>
        </p:txBody>
      </p:sp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Em học rất chăm chỉ!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BTVN: Nhắc nhở anh chị hoặc em của mình ngồi học đúng tư thế!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