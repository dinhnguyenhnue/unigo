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assroom_computer_lab_17858619194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12064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486400" cy="4206240"/>
            <a:chOff x="548640" y="1188720"/>
            <a:chExt cx="5486400" cy="420624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486400" cy="420624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206240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1005840" y="1371600"/>
            <a:ext cx="4114800" cy="457200"/>
          </a:xfrm>
          <a:prstGeom prst="roundRect">
            <a:avLst>
              <a:gd name="adj" fmla="val 2000"/>
            </a:avLst>
          </a:prstGeom>
          <a:solidFill>
            <a:srgbClr val="115E59"/>
          </a:solidFill>
          <a:ln w="9525">
            <a:solidFill>
              <a:srgbClr val="11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TIN HỌC 5  •  NĂM HỌC 2026 –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15E59"/>
                </a:solidFill>
                <a:latin typeface="Times New Roman"/>
              </a:rPr>
              <a:t>Tiết 0 — Định hướng</a:t>
            </a:r>
          </a:p>
          <a:p>
            <a:pPr>
              <a:spcBef>
                <a:spcPts val="600"/>
              </a:spcBef>
            </a:pPr>
            <a:r>
              <a:rPr sz="2000" b="1" i="0">
                <a:solidFill>
                  <a:srgbClr val="E11D48"/>
                </a:solidFill>
                <a:latin typeface="Times New Roman"/>
              </a:rPr>
              <a:t>Ky nang so the ky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23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4B8A6"/>
                </a:solidFill>
                <a:latin typeface="Times New Roman"/>
              </a:rPr>
              <a:t>Trường TH &amp; THCS UNIGO</a:t>
            </a:r>
          </a:p>
          <a:p>
            <a:pPr>
              <a:spcBef>
                <a:spcPts val="400"/>
              </a:spcBef>
            </a:pPr>
            <a:r>
              <a:rPr sz="1500" b="0" i="1">
                <a:solidFill>
                  <a:srgbClr val="64748B"/>
                </a:solidFill>
                <a:latin typeface="Times New Roman"/>
              </a:rPr>
              <a:t>Giáo viên: Đậu Đình Nguyên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udent_learning_goals_17858619614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84048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15E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115E59"/>
                </a:solidFill>
                <a:latin typeface="Times New Roman"/>
              </a:rPr>
              <a:t>🎯  Mục tiêu tiết học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Tổng quan chương trình Tin học 5.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Nội quy an toàn phòng máy tính UNIGO.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 trên môi trường số (Digital Citizenship).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igital_devices_around_1785861929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88720"/>
            <a:ext cx="484632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852160" cy="4389120"/>
            <a:chOff x="548640" y="1188720"/>
            <a:chExt cx="58521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8521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4B8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14B8A6"/>
                </a:solidFill>
                <a:latin typeface="Times New Roman"/>
              </a:rPr>
              <a:t>🎮  Thế giới số quanh em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4B8A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Thiết bị nào quanh em? (máy tính, tablet...)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4B8A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Em đã dùng máy tính để làm gì?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4B8A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Tin học 5: "người dùng" → "nhà sáng tạo số"!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n_hoc_mindmap_17858619804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4114800" cy="402336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754880" y="1188720"/>
            <a:ext cx="6766560" cy="4389120"/>
            <a:chOff x="4754880" y="1188720"/>
            <a:chExt cx="67665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754880" y="1188720"/>
              <a:ext cx="67665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75488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5120640" y="1371600"/>
            <a:ext cx="6126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11D48"/>
                </a:solidFill>
                <a:latin typeface="Times New Roman"/>
              </a:rPr>
              <a:t>📚  Chương trình Tin học 5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Máy tính &amp; Em (Computer &amp; Me)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Internet &amp; Mạng (Internet Basics)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Lưu trữ dữ liệu (Data Organization)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Đạo đức số (Digital Ethics)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Ứng dụng Tin học (IT Apps)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Giải quyết vấn đề &amp; Lập trình (Coding)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15E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115E59"/>
                </a:solidFill>
                <a:latin typeface="Times New Roman"/>
              </a:rPr>
              <a:t>🚀  Cách học hiệu quả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Trải nghiệm (Hands-on)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Dự án (Project-based)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Tìm lỗi (Debugging)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11D48"/>
                </a:solidFill>
                <a:latin typeface="Times New Roman"/>
              </a:rPr>
              <a:t>🧠  Tư duy máy tính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Phân rã (Decomposition)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Nhận mẫu (Pattern)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Thuật toán (Algorithm)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mputer_room_rules_1785861971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EA580C"/>
                </a:solidFill>
                <a:latin typeface="Times New Roman"/>
              </a:rPr>
              <a:t>⚠️  Nội quy phòng máy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Xếp hàng, để giày dép đúng nơi.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KHÔNG mang đồ ăn, nước uống vào.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Bật/tắt máy đúng quy trình.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Gặp sự cố → BÁO NGAY giáo viên.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rnet_safety_kids_17858619417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931920" cy="411480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4B8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14B8A6"/>
                </a:solidFill>
                <a:latin typeface="Times New Roman"/>
              </a:rPr>
              <a:t>🛡️  An toàn số (Digital Safety)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4B8A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Giữ bí mật mật khẩu (password).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4B8A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Không chia sẻ thông tin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4B8A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Cảnh giác link lạ, file lạ.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4B8A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minh, không bắt nạt mạng.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15E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115E59"/>
                </a:solidFill>
                <a:latin typeface="Times New Roman"/>
              </a:rPr>
              <a:t>📊  Cách đánh giá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thường xuyên (ĐGTX).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định kỳ (4 lần/năm).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Sản phẩm dự án nhóm.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4B8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14B8A6"/>
                </a:solidFill>
                <a:latin typeface="Times New Roman"/>
              </a:rPr>
              <a:t>📚  Đồ dùng cần có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4B8A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SGK Tin học 5.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4B8A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Vở ghi &amp; sổ tay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4B8A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USB / thẻ nhớ (THCS).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E11D48"/>
                </a:solidFill>
                <a:latin typeface="Times New Roman"/>
              </a:rPr>
              <a:t>📝  Nhiệm vụ mở rộng (Homework)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Viết 2 mục tiêu em muốn đạt trong năm học.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Đề xuất 1 sản phẩm số muốn tự tạo.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Cam kết thực hiện nội quy phòng máy.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Về nhà: Xem trước Bài 1 trong SGK.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Card Group 5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097280" y="1371600"/>
              <a:ext cx="164592" cy="4114800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115E59"/>
                </a:solidFill>
                <a:latin typeface="Times New Roman"/>
              </a:rPr>
              <a:t>📌  Ghi nhớ — Tin học 5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Tin học mang đến kỹ năng số thiết thực.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Tuân thủ nội quy &amp; ứng xử văn minh.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Tự tin khám phá, sáng tạo!</a:t>
            </a:r>
          </a:p>
          <a:p>
            <a:pPr algn="ctr">
              <a:spcBef>
                <a:spcPts val="2000"/>
              </a:spcBef>
            </a:pPr>
            <a:r>
              <a:rPr sz="2200" b="1" i="0">
                <a:solidFill>
                  <a:srgbClr val="14B8A6"/>
                </a:solidFill>
                <a:latin typeface="Times New Roman"/>
              </a:rPr>
              <a:t>Chúc các em năm học tuyệt vời!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