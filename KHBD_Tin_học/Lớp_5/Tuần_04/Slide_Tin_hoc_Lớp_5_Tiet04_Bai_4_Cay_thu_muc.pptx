
<file path=[Content_Types].xml><?xml version="1.0" encoding="utf-8"?>
<Types xmlns="http://schemas.openxmlformats.org/package/2006/content-types"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5"/>
    <p:sldId id="257" r:id="rId4"/>
    <p:sldId id="258" r:id="rId3"/>
    <p:sldId id="259" r:id="rId2"/>
    <p:sldId id="260" r:id="rId10"/>
    <p:sldId id="261" r:id="rId11"/>
    <p:sldId id="262" r:id="rId12"/>
    <p:sldId id="263" r:id="rId13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>
      <p:cViewPr varScale="1">
        <p:scale>
          <a:sx n="64" d="100"/>
          <a:sy n="64" d="100"/>
        </p:scale>
        <p:origin x="96" y="118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4.xml"/><Relationship Id="rId3" Type="http://schemas.openxmlformats.org/officeDocument/2006/relationships/slide" Target="slides/slide3.xml"/><Relationship Id="rId4" Type="http://schemas.openxmlformats.org/officeDocument/2006/relationships/slide" Target="slides/slide2.xml"/><Relationship Id="rId5" Type="http://schemas.openxmlformats.org/officeDocument/2006/relationships/slide" Target="slides/slide1.xml"/><Relationship Id="rId6" Type="http://schemas.openxmlformats.org/officeDocument/2006/relationships/presProps" Target="presProps.xml"/><Relationship Id="rId7" Type="http://schemas.openxmlformats.org/officeDocument/2006/relationships/viewProps" Target="viewProps.xml"/><Relationship Id="rId8" Type="http://schemas.openxmlformats.org/officeDocument/2006/relationships/theme" Target="theme/theme1.xml"/><Relationship Id="rId9" Type="http://schemas.openxmlformats.org/officeDocument/2006/relationships/tableStyles" Target="tableStyles.xml"/><Relationship Id="rId10" Type="http://schemas.openxmlformats.org/officeDocument/2006/relationships/slide" Target="slides/slide5.xml"/><Relationship Id="rId11" Type="http://schemas.openxmlformats.org/officeDocument/2006/relationships/slide" Target="slides/slide6.xml"/><Relationship Id="rId12" Type="http://schemas.openxmlformats.org/officeDocument/2006/relationships/slide" Target="slides/slide7.xml"/><Relationship Id="rId13" Type="http://schemas.openxmlformats.org/officeDocument/2006/relationships/slide" Target="slides/slide8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2B2D0BA-FBE9-6E44-691F-000C693EA273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0CE97D33-3B98-BBDE-4334-263FB7EE47C2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80CF0E5-ADF7-8470-3B9F-91C48728E4F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EA7EFA5-8E37-463D-AE92-97FC5095B482}" type="datetimeFigureOut">
              <a:rPr lang="en-US" smtClean="0"/>
              <a:t>8/4/2026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25E504DA-4D4F-4EDC-F344-F03CE86DB4A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33549F38-FA9E-B600-327E-9BDCCF10205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8CEFBC2-8C04-4402-ABC4-7D77DEA1AF4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70410458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2DBFD97-87FB-631E-EEF8-6E51DCB4578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24DE0B9-02FF-4F72-ED16-1FB31B569EB0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3C7B87DC-AA2C-EDEA-982F-36A5FDC6D23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EA7EFA5-8E37-463D-AE92-97FC5095B482}" type="datetimeFigureOut">
              <a:rPr lang="en-US" smtClean="0"/>
              <a:t>8/4/2026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06E27A9-4B0A-C4FB-C65C-DD407FABC58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247FF0C-E183-66BE-709C-448A4AC5779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8CEFBC2-8C04-4402-ABC4-7D77DEA1AF4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466081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F6744FD-7E48-FCDF-CF0B-2B23DE13270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3594DECC-CB72-B397-C02A-C5108354BFCA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FD31C495-26F5-512C-E243-F8AA335A8E7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EA7EFA5-8E37-463D-AE92-97FC5095B482}" type="datetimeFigureOut">
              <a:rPr lang="en-US" smtClean="0"/>
              <a:t>8/4/2026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0D8E351D-6FC7-D545-DF8A-EB162F5B4D4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C4B95763-201D-C4E1-EB65-4B88B137B0F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8CEFBC2-8C04-4402-ABC4-7D77DEA1AF4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97014828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F05217B-8EC9-4EA4-9045-0C817687E48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A88FE9A-0D5F-7AE0-E7C8-A53EE8AF7E37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414AE5D0-63E8-DCD8-D6B8-306243F3FCDB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B859FF46-C6D8-B70D-34CC-F0BBD251463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EA7EFA5-8E37-463D-AE92-97FC5095B482}" type="datetimeFigureOut">
              <a:rPr lang="en-US" smtClean="0"/>
              <a:t>8/4/2026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AA5A21F2-0257-6653-C1B4-BE4271B70EB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41888B2D-A696-926B-CB00-30CB39A210C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8CEFBC2-8C04-4402-ABC4-7D77DEA1AF4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590756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A2D1804-FC72-EA87-B283-0ED24BD9CDB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3BD6F214-B860-807F-5D59-775C2C3CD308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A3872204-513C-7EE5-A63F-ACD7E6F1F00F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78089B82-4A6B-0A50-33A8-F57C641AA408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D57602B8-966B-D55B-DF46-EF8FE962A89F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F935D0A2-DDAB-2DEB-1654-64E2CF1352D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EA7EFA5-8E37-463D-AE92-97FC5095B482}" type="datetimeFigureOut">
              <a:rPr lang="en-US" smtClean="0"/>
              <a:t>8/4/2026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5F526C51-F9C1-C9F7-E325-98574441343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29CD2BB8-A738-B00D-CD4F-1E516729DC8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8CEFBC2-8C04-4402-ABC4-7D77DEA1AF4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2955109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F5058C7-EC99-CA69-69A1-B71A2EE1FB0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0A82FDDE-258E-65C9-5E9B-059B5310B20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EA7EFA5-8E37-463D-AE92-97FC5095B482}" type="datetimeFigureOut">
              <a:rPr lang="en-US" smtClean="0"/>
              <a:t>8/4/2026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6688222D-5913-69EE-C0A1-2115B6A3BEF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04364462-4379-23E8-5042-4188F2424E4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8CEFBC2-8C04-4402-ABC4-7D77DEA1AF4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88095666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AE2B39AE-76E9-53E8-5AC2-AD6E83AE5A3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EA7EFA5-8E37-463D-AE92-97FC5095B482}" type="datetimeFigureOut">
              <a:rPr lang="en-US" smtClean="0"/>
              <a:t>8/4/2026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38A39721-3A37-FE8B-936D-3225F2B6F92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2A6383E3-5325-C6DD-4FD0-655FEA72A2D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8CEFBC2-8C04-4402-ABC4-7D77DEA1AF4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08733142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C99B1C8-88D4-EB75-0A5A-DBF764E94A7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DFB7FCE-F57B-B919-56DD-5EDF6227BA9D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C1BC4E80-42F9-68B4-89A4-09F4B2E311FE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AB2E4884-0004-05C1-9162-12837C41B9A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EA7EFA5-8E37-463D-AE92-97FC5095B482}" type="datetimeFigureOut">
              <a:rPr lang="en-US" smtClean="0"/>
              <a:t>8/4/2026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A110837C-4E57-5E0F-EC87-6499BA034AF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D7A4D633-7171-8A0D-E4C6-6D53E0859A7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8CEFBC2-8C04-4402-ABC4-7D77DEA1AF4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1106473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3F0E132-6996-68E8-4F29-37C27BB8EBA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60434507-83A3-0D3E-B631-5AA2974E08B4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7F62259C-71C9-5E4F-343E-C0E87D750FED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AB081087-DD77-D63D-A0AB-E7DF40F5516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EA7EFA5-8E37-463D-AE92-97FC5095B482}" type="datetimeFigureOut">
              <a:rPr lang="en-US" smtClean="0"/>
              <a:t>8/4/2026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2755EC71-8A66-0F0A-B040-0930D31AAAA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AE332627-5E94-EEB1-7186-47F0D5C6F5B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8CEFBC2-8C04-4402-ABC4-7D77DEA1AF4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29556627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8121772-A9B5-C630-07CA-DECD42CD77D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92DBB18D-FEE1-0190-5A10-2B09E0397705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87CD711D-A70F-EF10-8E36-12C26924E88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EA7EFA5-8E37-463D-AE92-97FC5095B482}" type="datetimeFigureOut">
              <a:rPr lang="en-US" smtClean="0"/>
              <a:t>8/4/2026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00F3B26D-7C72-7CF5-91E5-6B9F5303217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E7AE76EA-4D7B-99B2-4676-A289DD637D5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8CEFBC2-8C04-4402-ABC4-7D77DEA1AF4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89633957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31B24F8F-8C52-E27E-05DE-AD92E136AB90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B9CCC27E-F320-1CAF-FC80-1F7384CA5E77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6E5A3655-F6DA-384A-BCB5-A32BD9B555D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EA7EFA5-8E37-463D-AE92-97FC5095B482}" type="datetimeFigureOut">
              <a:rPr lang="en-US" smtClean="0"/>
              <a:t>8/4/2026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91496872-344F-98B4-6458-BAACD263E55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E1A6A315-6909-97E2-34A8-B9CB86B9CF1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8CEFBC2-8C04-4402-ABC4-7D77DEA1AF4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4549293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Relationship Id="rId13" Type="http://schemas.openxmlformats.org/officeDocument/2006/relationships/image" Target="../media/image1.png"/><Relationship Id="rId14" Type="http://schemas.openxmlformats.org/officeDocument/2006/relationships/image" Target="../media/image2.png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278B8C0F-9B11-4065-AE8C-7637290FB1F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155032" y="829142"/>
            <a:ext cx="10198768" cy="861546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dirty="0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2C5FE732-1FF5-3147-A7B1-F7E2E0778B15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CD77A1F-9F08-BD8F-DAF3-65DDCDFC4FE4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4EA7EFA5-8E37-463D-AE92-97FC5095B482}" type="datetimeFigureOut">
              <a:rPr lang="en-US" smtClean="0"/>
              <a:t>8/4/2026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6665A47-83AD-EE80-1199-0CCBE3548BC7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4F62C6C-6174-7774-F45D-8725FE4A3022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18CEFBC2-8C04-4402-ABC4-7D77DEA1AF45}" type="slidenum">
              <a:rPr lang="en-US" smtClean="0"/>
              <a:t>‹#›</a:t>
            </a:fld>
            <a:endParaRPr lang="en-US"/>
          </a:p>
        </p:txBody>
      </p:sp>
      <p:pic>
        <p:nvPicPr>
          <p:cNvPr id="8" name="Picture 7">
            <a:extLst>
              <a:ext uri="{FF2B5EF4-FFF2-40B4-BE49-F238E27FC236}">
                <a16:creationId xmlns:a16="http://schemas.microsoft.com/office/drawing/2014/main" id="{1D2C332A-3D9A-458F-2703-2BC4602A665E}"/>
              </a:ext>
            </a:extLst>
          </p:cNvPr>
          <p:cNvPicPr>
            <a:picLocks noChangeAspect="1"/>
          </p:cNvPicPr>
          <p:nvPr userDrawn="1"/>
        </p:nvPicPr>
        <p:blipFill>
          <a:blip r:embed="rId1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54940" y="136525"/>
            <a:ext cx="867744" cy="861546"/>
          </a:xfrm>
          <a:prstGeom prst="rect">
            <a:avLst/>
          </a:prstGeom>
        </p:spPr>
      </p:pic>
      <p:pic>
        <p:nvPicPr>
          <p:cNvPr id="10" name="Picture 9">
            <a:extLst>
              <a:ext uri="{FF2B5EF4-FFF2-40B4-BE49-F238E27FC236}">
                <a16:creationId xmlns:a16="http://schemas.microsoft.com/office/drawing/2014/main" id="{10712185-E163-EB6D-9E42-C99AF00858F6}"/>
              </a:ext>
            </a:extLst>
          </p:cNvPr>
          <p:cNvPicPr>
            <a:picLocks noChangeAspect="1"/>
          </p:cNvPicPr>
          <p:nvPr userDrawn="1"/>
        </p:nvPicPr>
        <p:blipFill>
          <a:blip r:embed="rId1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6381" t="23826" r="6770" b="30087"/>
          <a:stretch>
            <a:fillRect/>
          </a:stretch>
        </p:blipFill>
        <p:spPr>
          <a:xfrm>
            <a:off x="0" y="5883441"/>
            <a:ext cx="12252960" cy="112698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680347720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jpg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.jpg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5.jpg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5.jpg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1051560"/>
            <a:ext cx="12188952" cy="4754879"/>
          </a:xfrm>
          <a:prstGeom prst="rect">
            <a:avLst/>
          </a:prstGeom>
          <a:solidFill>
            <a:srgbClr val="9F123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1097280" y="1463040"/>
            <a:ext cx="9994392" cy="3657599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F43F5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1097280" y="1463040"/>
            <a:ext cx="9994392" cy="228600"/>
          </a:xfrm>
          <a:prstGeom prst="roundRect">
            <a:avLst/>
          </a:prstGeom>
          <a:solidFill>
            <a:srgbClr val="F43F5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371600" y="1828800"/>
            <a:ext cx="9445752" cy="457200"/>
          </a:xfrm>
          <a:prstGeom prst="rect">
            <a:avLst/>
          </a:prstGeom>
          <a:noFill/>
        </p:spPr>
        <p:txBody>
          <a:bodyPr wrap="square" lIns="73152" rIns="73152" tIns="54864" bIns="54864">
            <a:spAutoFit/>
          </a:bodyPr>
          <a:lstStyle/>
          <a:p>
            <a:pPr algn="ctr">
              <a:defRPr sz="1500" b="1">
                <a:solidFill>
                  <a:srgbClr val="9F1239"/>
                </a:solidFill>
                <a:latin typeface="Arial"/>
              </a:defRPr>
            </a:pPr>
            <a:r>
              <a:t>TRƯỜNG TIỂU HỌC &amp; THCS UNIGO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371600" y="2377440"/>
            <a:ext cx="9445752" cy="1280160"/>
          </a:xfrm>
          <a:prstGeom prst="rect">
            <a:avLst/>
          </a:prstGeom>
          <a:noFill/>
        </p:spPr>
        <p:txBody>
          <a:bodyPr wrap="square" lIns="73152" rIns="73152" tIns="54864" bIns="54864">
            <a:spAutoFit/>
          </a:bodyPr>
          <a:lstStyle/>
          <a:p>
            <a:pPr algn="ctr">
              <a:defRPr sz="2800" b="1">
                <a:solidFill>
                  <a:srgbClr val="0F172A"/>
                </a:solidFill>
                <a:latin typeface="Arial"/>
              </a:defRPr>
            </a:pPr>
            <a:r>
              <a:t>BÀI 4. CÂY THƯ MỤC</a:t>
            </a:r>
            <a:br/>
            <a:r>
              <a:t>(FOLDER TREE)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371600" y="3749039"/>
            <a:ext cx="9445752" cy="548639"/>
          </a:xfrm>
          <a:prstGeom prst="rect">
            <a:avLst/>
          </a:prstGeom>
          <a:noFill/>
        </p:spPr>
        <p:txBody>
          <a:bodyPr wrap="square" lIns="73152" rIns="73152" tIns="54864" bIns="54864">
            <a:spAutoFit/>
          </a:bodyPr>
          <a:lstStyle/>
          <a:p>
            <a:pPr algn="ctr">
              <a:defRPr sz="1800" b="0">
                <a:solidFill>
                  <a:srgbClr val="9F1239"/>
                </a:solidFill>
                <a:latin typeface="Arial"/>
              </a:defRPr>
            </a:pPr>
            <a:r>
              <a:t>Tin học • Lớp 5 • Tiết 4 (Chủ đề 3)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371600" y="4389120"/>
            <a:ext cx="9445752" cy="365760"/>
          </a:xfrm>
          <a:prstGeom prst="rect">
            <a:avLst/>
          </a:prstGeom>
          <a:noFill/>
        </p:spPr>
        <p:txBody>
          <a:bodyPr wrap="square" lIns="73152" rIns="73152" tIns="54864" bIns="54864">
            <a:spAutoFit/>
          </a:bodyPr>
          <a:lstStyle/>
          <a:p>
            <a:pPr algn="ctr">
              <a:defRPr sz="1400" b="0">
                <a:solidFill>
                  <a:srgbClr val="64748B"/>
                </a:solidFill>
                <a:latin typeface="Arial"/>
              </a:defRPr>
            </a:pPr>
            <a:r>
              <a:t>GV: Đậu Đình Nguyên • Bộ môn Tin học</a:t>
            </a:r>
          </a:p>
        </p:txBody>
      </p:sp>
    </p:spTree>
  </p:cSld>
  <p:clrMapOvr>
    <a:masterClrMapping/>
  </p:clrMapOvr>
  <p:transition spd="med">
    <p:wipe/>
  </p:transition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1051560"/>
            <a:ext cx="12188952" cy="4754879"/>
          </a:xfrm>
          <a:prstGeom prst="rect">
            <a:avLst/>
          </a:prstGeom>
          <a:solidFill>
            <a:srgbClr val="FFF1F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365760" y="1143000"/>
            <a:ext cx="2926080" cy="347471"/>
          </a:xfrm>
          <a:prstGeom prst="roundRect">
            <a:avLst/>
          </a:prstGeom>
          <a:solidFill>
            <a:srgbClr val="9F123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365760" y="1143000"/>
            <a:ext cx="2926080" cy="347471"/>
          </a:xfrm>
          <a:prstGeom prst="rect">
            <a:avLst/>
          </a:prstGeom>
          <a:noFill/>
        </p:spPr>
        <p:txBody>
          <a:bodyPr wrap="square" lIns="73152" rIns="73152" tIns="54864" bIns="54864">
            <a:spAutoFit/>
          </a:bodyPr>
          <a:lstStyle/>
          <a:p>
            <a:pPr algn="ctr">
              <a:defRPr sz="1300" b="1">
                <a:solidFill>
                  <a:srgbClr val="FFFFFF"/>
                </a:solidFill>
                <a:latin typeface="Arial"/>
              </a:defRPr>
            </a:pPr>
            <a:r>
              <a:t>KHỞI ĐỘNG &amp; TÌNH HUỐNG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474720" y="1115568"/>
            <a:ext cx="8046720" cy="411479"/>
          </a:xfrm>
          <a:prstGeom prst="rect">
            <a:avLst/>
          </a:prstGeom>
          <a:noFill/>
        </p:spPr>
        <p:txBody>
          <a:bodyPr wrap="square" lIns="73152" rIns="73152" tIns="54864" bIns="54864">
            <a:spAutoFit/>
          </a:bodyPr>
          <a:lstStyle/>
          <a:p>
            <a:pPr algn="l">
              <a:defRPr sz="2100" b="1">
                <a:solidFill>
                  <a:srgbClr val="881337"/>
                </a:solidFill>
                <a:latin typeface="Arial"/>
              </a:defRPr>
            </a:pPr>
            <a:r>
              <a:t>Cây tri thức — Sơ đồ Cây thư mục kỳ diệu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365760" y="1645920"/>
            <a:ext cx="11247120" cy="297180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F43F5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7" name="Picture 6" descr="ai_lop5_bai4_tree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7200" y="1691640"/>
            <a:ext cx="11064240" cy="2880360"/>
          </a:xfrm>
          <a:prstGeom prst="rect">
            <a:avLst/>
          </a:prstGeom>
        </p:spPr>
      </p:pic>
      <p:sp>
        <p:nvSpPr>
          <p:cNvPr id="8" name="Rounded Rectangle 7"/>
          <p:cNvSpPr/>
          <p:nvPr/>
        </p:nvSpPr>
        <p:spPr>
          <a:xfrm>
            <a:off x="365760" y="4709160"/>
            <a:ext cx="11247120" cy="960119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9F123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ounded Rectangle 8"/>
          <p:cNvSpPr/>
          <p:nvPr/>
        </p:nvSpPr>
        <p:spPr>
          <a:xfrm>
            <a:off x="365760" y="4709160"/>
            <a:ext cx="182880" cy="960119"/>
          </a:xfrm>
          <a:prstGeom prst="roundRect">
            <a:avLst/>
          </a:prstGeom>
          <a:solidFill>
            <a:srgbClr val="9F123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685800" y="4800600"/>
            <a:ext cx="10607040" cy="777239"/>
          </a:xfrm>
          <a:prstGeom prst="rect">
            <a:avLst/>
          </a:prstGeom>
          <a:noFill/>
        </p:spPr>
        <p:txBody>
          <a:bodyPr wrap="square" lIns="73152" rIns="73152" tIns="54864" bIns="54864">
            <a:spAutoFit/>
          </a:bodyPr>
          <a:lstStyle/>
          <a:p>
            <a:pPr algn="l">
              <a:defRPr sz="1500" b="1">
                <a:solidFill>
                  <a:srgbClr val="0F172A"/>
                </a:solidFill>
                <a:latin typeface="Arial"/>
              </a:defRPr>
            </a:pPr>
            <a:r>
              <a:t>👉 Gốc cây là ổ đĩa C:, D:. Cành lớn là Thư mục mẹ, cành nhỏ là Thư mục con, quả là các Tệp tin!</a:t>
            </a:r>
            <a:br/>
            <a:r>
              <a:t>Em thấy cây thư mục giúp máy tính gọn gàng như thế nào?</a:t>
            </a:r>
          </a:p>
        </p:txBody>
      </p:sp>
    </p:spTree>
  </p:cSld>
  <p:clrMapOvr>
    <a:masterClrMapping/>
  </p:clrMapOvr>
  <p:transition spd="med">
    <p:fade/>
  </p:transition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1051560"/>
            <a:ext cx="12188952" cy="4754879"/>
          </a:xfrm>
          <a:prstGeom prst="rect">
            <a:avLst/>
          </a:prstGeom>
          <a:solidFill>
            <a:srgbClr val="FFF1F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365760" y="1143000"/>
            <a:ext cx="2926080" cy="347471"/>
          </a:xfrm>
          <a:prstGeom prst="roundRect">
            <a:avLst/>
          </a:prstGeom>
          <a:solidFill>
            <a:srgbClr val="9F123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365760" y="1143000"/>
            <a:ext cx="2926080" cy="347471"/>
          </a:xfrm>
          <a:prstGeom prst="rect">
            <a:avLst/>
          </a:prstGeom>
          <a:noFill/>
        </p:spPr>
        <p:txBody>
          <a:bodyPr wrap="square" lIns="73152" rIns="73152" tIns="54864" bIns="54864">
            <a:spAutoFit/>
          </a:bodyPr>
          <a:lstStyle/>
          <a:p>
            <a:pPr algn="ctr">
              <a:defRPr sz="1300" b="1">
                <a:solidFill>
                  <a:srgbClr val="FFFFFF"/>
                </a:solidFill>
                <a:latin typeface="Arial"/>
              </a:defRPr>
            </a:pPr>
            <a:r>
              <a:t>KIẾN THỨC CỐT LÕI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474720" y="1115568"/>
            <a:ext cx="8046720" cy="411479"/>
          </a:xfrm>
          <a:prstGeom prst="rect">
            <a:avLst/>
          </a:prstGeom>
          <a:noFill/>
        </p:spPr>
        <p:txBody>
          <a:bodyPr wrap="square" lIns="73152" rIns="73152" tIns="54864" bIns="54864">
            <a:spAutoFit/>
          </a:bodyPr>
          <a:lstStyle/>
          <a:p>
            <a:pPr algn="l">
              <a:defRPr sz="2100" b="1">
                <a:solidFill>
                  <a:srgbClr val="881337"/>
                </a:solidFill>
                <a:latin typeface="Arial"/>
              </a:defRPr>
            </a:pPr>
            <a:r>
              <a:t>Các thành phần trong Cây thư mục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365760" y="1645920"/>
            <a:ext cx="3566160" cy="3977639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9F123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ounded Rectangle 6"/>
          <p:cNvSpPr/>
          <p:nvPr/>
        </p:nvSpPr>
        <p:spPr>
          <a:xfrm>
            <a:off x="365760" y="1645920"/>
            <a:ext cx="3566160" cy="457199"/>
          </a:xfrm>
          <a:prstGeom prst="roundRect">
            <a:avLst/>
          </a:prstGeom>
          <a:solidFill>
            <a:srgbClr val="9F123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365760" y="1691640"/>
            <a:ext cx="3566160" cy="411480"/>
          </a:xfrm>
          <a:prstGeom prst="rect">
            <a:avLst/>
          </a:prstGeom>
          <a:noFill/>
        </p:spPr>
        <p:txBody>
          <a:bodyPr wrap="square" lIns="73152" rIns="73152" tIns="54864" bIns="54864">
            <a:spAutoFit/>
          </a:bodyPr>
          <a:lstStyle/>
          <a:p>
            <a:pPr algn="ctr">
              <a:defRPr sz="1500" b="1">
                <a:solidFill>
                  <a:srgbClr val="FFFFFF"/>
                </a:solidFill>
                <a:latin typeface="Arial"/>
              </a:defRPr>
            </a:pPr>
            <a:r>
              <a:t>1. Ổ đĩa gốc (Root)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02920" y="2240280"/>
            <a:ext cx="3291840" cy="594359"/>
          </a:xfrm>
          <a:prstGeom prst="rect">
            <a:avLst/>
          </a:prstGeom>
          <a:noFill/>
        </p:spPr>
        <p:txBody>
          <a:bodyPr wrap="square" lIns="73152" rIns="73152" tIns="54864" bIns="54864">
            <a:spAutoFit/>
          </a:bodyPr>
          <a:lstStyle/>
          <a:p>
            <a:pPr algn="l">
              <a:defRPr sz="1400" b="0">
                <a:solidFill>
                  <a:srgbClr val="0F172A"/>
                </a:solidFill>
                <a:latin typeface="Arial"/>
              </a:defRPr>
            </a:pPr>
            <a:r>
              <a:t>• Ổ đĩa C:, D:, E: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02920" y="2880360"/>
            <a:ext cx="3291840" cy="594359"/>
          </a:xfrm>
          <a:prstGeom prst="rect">
            <a:avLst/>
          </a:prstGeom>
          <a:noFill/>
        </p:spPr>
        <p:txBody>
          <a:bodyPr wrap="square" lIns="73152" rIns="73152" tIns="54864" bIns="54864">
            <a:spAutoFit/>
          </a:bodyPr>
          <a:lstStyle/>
          <a:p>
            <a:pPr algn="l">
              <a:defRPr sz="1400" b="0">
                <a:solidFill>
                  <a:srgbClr val="0F172A"/>
                </a:solidFill>
                <a:latin typeface="Arial"/>
              </a:defRPr>
            </a:pPr>
            <a:r>
              <a:t>• Nơi chứa toàn bộ cây dữ liệu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02920" y="3520440"/>
            <a:ext cx="3291840" cy="594360"/>
          </a:xfrm>
          <a:prstGeom prst="rect">
            <a:avLst/>
          </a:prstGeom>
          <a:noFill/>
        </p:spPr>
        <p:txBody>
          <a:bodyPr wrap="square" lIns="73152" rIns="73152" tIns="54864" bIns="54864">
            <a:spAutoFit/>
          </a:bodyPr>
          <a:lstStyle/>
          <a:p>
            <a:pPr algn="l">
              <a:defRPr sz="1400" b="0">
                <a:solidFill>
                  <a:srgbClr val="0F172A"/>
                </a:solidFill>
                <a:latin typeface="Arial"/>
              </a:defRPr>
            </a:pPr>
            <a:r>
              <a:t>• Điểm xuất phát của mọi đường dẫn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4206240" y="1645920"/>
            <a:ext cx="3566160" cy="3977639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0D948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ounded Rectangle 12"/>
          <p:cNvSpPr/>
          <p:nvPr/>
        </p:nvSpPr>
        <p:spPr>
          <a:xfrm>
            <a:off x="4206240" y="1645920"/>
            <a:ext cx="3566160" cy="457199"/>
          </a:xfrm>
          <a:prstGeom prst="roundRect">
            <a:avLst/>
          </a:prstGeom>
          <a:solidFill>
            <a:srgbClr val="0D948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4206240" y="1691640"/>
            <a:ext cx="3566160" cy="411480"/>
          </a:xfrm>
          <a:prstGeom prst="rect">
            <a:avLst/>
          </a:prstGeom>
          <a:noFill/>
        </p:spPr>
        <p:txBody>
          <a:bodyPr wrap="square" lIns="73152" rIns="73152" tIns="54864" bIns="54864">
            <a:spAutoFit/>
          </a:bodyPr>
          <a:lstStyle/>
          <a:p>
            <a:pPr algn="ctr">
              <a:defRPr sz="1500" b="1">
                <a:solidFill>
                  <a:srgbClr val="FFFFFF"/>
                </a:solidFill>
                <a:latin typeface="Arial"/>
              </a:defRPr>
            </a:pPr>
            <a:r>
              <a:t>2. Thư mục (Folder)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343400" y="2240280"/>
            <a:ext cx="3291840" cy="594359"/>
          </a:xfrm>
          <a:prstGeom prst="rect">
            <a:avLst/>
          </a:prstGeom>
          <a:noFill/>
        </p:spPr>
        <p:txBody>
          <a:bodyPr wrap="square" lIns="73152" rIns="73152" tIns="54864" bIns="54864">
            <a:spAutoFit/>
          </a:bodyPr>
          <a:lstStyle/>
          <a:p>
            <a:pPr algn="l">
              <a:defRPr sz="1400" b="0">
                <a:solidFill>
                  <a:srgbClr val="0F172A"/>
                </a:solidFill>
                <a:latin typeface="Arial"/>
              </a:defRPr>
            </a:pPr>
            <a:r>
              <a:t>• Thư mục mẹ chứa thư mục con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4343400" y="2880360"/>
            <a:ext cx="3291840" cy="594359"/>
          </a:xfrm>
          <a:prstGeom prst="rect">
            <a:avLst/>
          </a:prstGeom>
          <a:noFill/>
        </p:spPr>
        <p:txBody>
          <a:bodyPr wrap="square" lIns="73152" rIns="73152" tIns="54864" bIns="54864">
            <a:spAutoFit/>
          </a:bodyPr>
          <a:lstStyle/>
          <a:p>
            <a:pPr algn="l">
              <a:defRPr sz="1400" b="0">
                <a:solidFill>
                  <a:srgbClr val="0F172A"/>
                </a:solidFill>
                <a:latin typeface="Arial"/>
              </a:defRPr>
            </a:pPr>
            <a:r>
              <a:t>• Dùng để phân loại theo chủ đề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4343400" y="3520440"/>
            <a:ext cx="3291840" cy="594360"/>
          </a:xfrm>
          <a:prstGeom prst="rect">
            <a:avLst/>
          </a:prstGeom>
          <a:noFill/>
        </p:spPr>
        <p:txBody>
          <a:bodyPr wrap="square" lIns="73152" rIns="73152" tIns="54864" bIns="54864">
            <a:spAutoFit/>
          </a:bodyPr>
          <a:lstStyle/>
          <a:p>
            <a:pPr algn="l">
              <a:defRPr sz="1400" b="0">
                <a:solidFill>
                  <a:srgbClr val="0F172A"/>
                </a:solidFill>
                <a:latin typeface="Arial"/>
              </a:defRPr>
            </a:pPr>
            <a:r>
              <a:t>• Ví dụ: TOAN, VAN, TIN_HOC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8046720" y="1645920"/>
            <a:ext cx="3566160" cy="3977639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D9770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ounded Rectangle 18"/>
          <p:cNvSpPr/>
          <p:nvPr/>
        </p:nvSpPr>
        <p:spPr>
          <a:xfrm>
            <a:off x="8046720" y="1645920"/>
            <a:ext cx="3566160" cy="457199"/>
          </a:xfrm>
          <a:prstGeom prst="roundRect">
            <a:avLst/>
          </a:prstGeom>
          <a:solidFill>
            <a:srgbClr val="D9770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8046720" y="1691640"/>
            <a:ext cx="3566160" cy="411480"/>
          </a:xfrm>
          <a:prstGeom prst="rect">
            <a:avLst/>
          </a:prstGeom>
          <a:noFill/>
        </p:spPr>
        <p:txBody>
          <a:bodyPr wrap="square" lIns="73152" rIns="73152" tIns="54864" bIns="54864">
            <a:spAutoFit/>
          </a:bodyPr>
          <a:lstStyle/>
          <a:p>
            <a:pPr algn="ctr">
              <a:defRPr sz="1500" b="1">
                <a:solidFill>
                  <a:srgbClr val="FFFFFF"/>
                </a:solidFill>
                <a:latin typeface="Arial"/>
              </a:defRPr>
            </a:pPr>
            <a:r>
              <a:t>3. Tệp tin (File)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8183880" y="2240280"/>
            <a:ext cx="3291840" cy="594359"/>
          </a:xfrm>
          <a:prstGeom prst="rect">
            <a:avLst/>
          </a:prstGeom>
          <a:noFill/>
        </p:spPr>
        <p:txBody>
          <a:bodyPr wrap="square" lIns="73152" rIns="73152" tIns="54864" bIns="54864">
            <a:spAutoFit/>
          </a:bodyPr>
          <a:lstStyle/>
          <a:p>
            <a:pPr algn="l">
              <a:defRPr sz="1400" b="0">
                <a:solidFill>
                  <a:srgbClr val="0F172A"/>
                </a:solidFill>
                <a:latin typeface="Arial"/>
              </a:defRPr>
            </a:pPr>
            <a:r>
              <a:t>• Bài văn .docx, Trình chiếu .pptx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8183880" y="2880360"/>
            <a:ext cx="3291840" cy="594359"/>
          </a:xfrm>
          <a:prstGeom prst="rect">
            <a:avLst/>
          </a:prstGeom>
          <a:noFill/>
        </p:spPr>
        <p:txBody>
          <a:bodyPr wrap="square" lIns="73152" rIns="73152" tIns="54864" bIns="54864">
            <a:spAutoFit/>
          </a:bodyPr>
          <a:lstStyle/>
          <a:p>
            <a:pPr algn="l">
              <a:defRPr sz="1400" b="0">
                <a:solidFill>
                  <a:srgbClr val="0F172A"/>
                </a:solidFill>
                <a:latin typeface="Arial"/>
              </a:defRPr>
            </a:pPr>
            <a:r>
              <a:t>• Tranh vẽ .png, Bài hát .mp3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8183880" y="3520440"/>
            <a:ext cx="3291840" cy="594360"/>
          </a:xfrm>
          <a:prstGeom prst="rect">
            <a:avLst/>
          </a:prstGeom>
          <a:noFill/>
        </p:spPr>
        <p:txBody>
          <a:bodyPr wrap="square" lIns="73152" rIns="73152" tIns="54864" bIns="54864">
            <a:spAutoFit/>
          </a:bodyPr>
          <a:lstStyle/>
          <a:p>
            <a:pPr algn="l">
              <a:defRPr sz="1400" b="0">
                <a:solidFill>
                  <a:srgbClr val="0F172A"/>
                </a:solidFill>
                <a:latin typeface="Arial"/>
              </a:defRPr>
            </a:pPr>
            <a:r>
              <a:t>• Được lưu gọn trong thư mục</a:t>
            </a:r>
          </a:p>
        </p:txBody>
      </p:sp>
    </p:spTree>
  </p:cSld>
  <p:clrMapOvr>
    <a:masterClrMapping/>
  </p:clrMapOvr>
  <p:transition spd="med">
    <p:fade/>
  </p:transition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1051560"/>
            <a:ext cx="12188952" cy="4754879"/>
          </a:xfrm>
          <a:prstGeom prst="rect">
            <a:avLst/>
          </a:prstGeom>
          <a:solidFill>
            <a:srgbClr val="FFF1F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365760" y="1143000"/>
            <a:ext cx="2926080" cy="347471"/>
          </a:xfrm>
          <a:prstGeom prst="roundRect">
            <a:avLst/>
          </a:prstGeom>
          <a:solidFill>
            <a:srgbClr val="9F123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365760" y="1143000"/>
            <a:ext cx="2926080" cy="347471"/>
          </a:xfrm>
          <a:prstGeom prst="rect">
            <a:avLst/>
          </a:prstGeom>
          <a:noFill/>
        </p:spPr>
        <p:txBody>
          <a:bodyPr wrap="square" lIns="73152" rIns="73152" tIns="54864" bIns="54864">
            <a:spAutoFit/>
          </a:bodyPr>
          <a:lstStyle/>
          <a:p>
            <a:pPr algn="ctr">
              <a:defRPr sz="1300" b="1">
                <a:solidFill>
                  <a:srgbClr val="FFFFFF"/>
                </a:solidFill>
                <a:latin typeface="Arial"/>
              </a:defRPr>
            </a:pPr>
            <a:r>
              <a:t>QUY TRÌNH &amp; THAO TÁC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474720" y="1115568"/>
            <a:ext cx="8046720" cy="411479"/>
          </a:xfrm>
          <a:prstGeom prst="rect">
            <a:avLst/>
          </a:prstGeom>
          <a:noFill/>
        </p:spPr>
        <p:txBody>
          <a:bodyPr wrap="square" lIns="73152" rIns="73152" tIns="54864" bIns="54864">
            <a:spAutoFit/>
          </a:bodyPr>
          <a:lstStyle/>
          <a:p>
            <a:pPr algn="l">
              <a:defRPr sz="2100" b="1">
                <a:solidFill>
                  <a:srgbClr val="881337"/>
                </a:solidFill>
                <a:latin typeface="Arial"/>
              </a:defRPr>
            </a:pPr>
            <a:r>
              <a:t>4 Thao tác quản lý thư mục cơ bản</a:t>
            </a:r>
          </a:p>
        </p:txBody>
      </p:sp>
      <p:sp>
        <p:nvSpPr>
          <p:cNvPr id="6" name="Chevron 5"/>
          <p:cNvSpPr/>
          <p:nvPr/>
        </p:nvSpPr>
        <p:spPr>
          <a:xfrm>
            <a:off x="365760" y="1645920"/>
            <a:ext cx="4389120" cy="868680"/>
          </a:xfrm>
          <a:prstGeom prst="chevron">
            <a:avLst/>
          </a:prstGeom>
          <a:solidFill>
            <a:srgbClr val="9F123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594360" y="1719072"/>
            <a:ext cx="3840480" cy="731520"/>
          </a:xfrm>
          <a:prstGeom prst="rect">
            <a:avLst/>
          </a:prstGeom>
          <a:noFill/>
        </p:spPr>
        <p:txBody>
          <a:bodyPr wrap="square" lIns="73152" rIns="73152" tIns="54864" bIns="54864">
            <a:spAutoFit/>
          </a:bodyPr>
          <a:lstStyle/>
          <a:p>
            <a:pPr algn="l">
              <a:defRPr sz="1400" b="1">
                <a:solidFill>
                  <a:srgbClr val="FFFFFF"/>
                </a:solidFill>
                <a:latin typeface="Arial"/>
              </a:defRPr>
            </a:pPr>
            <a:r>
              <a:t>1. Tạo thư mục mới (New)</a:t>
            </a:r>
          </a:p>
        </p:txBody>
      </p:sp>
      <p:sp>
        <p:nvSpPr>
          <p:cNvPr id="8" name="Chevron 7"/>
          <p:cNvSpPr/>
          <p:nvPr/>
        </p:nvSpPr>
        <p:spPr>
          <a:xfrm>
            <a:off x="365760" y="2624328"/>
            <a:ext cx="4389120" cy="868680"/>
          </a:xfrm>
          <a:prstGeom prst="chevron">
            <a:avLst/>
          </a:prstGeom>
          <a:solidFill>
            <a:srgbClr val="F43F5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594360" y="2697480"/>
            <a:ext cx="3840480" cy="731519"/>
          </a:xfrm>
          <a:prstGeom prst="rect">
            <a:avLst/>
          </a:prstGeom>
          <a:noFill/>
        </p:spPr>
        <p:txBody>
          <a:bodyPr wrap="square" lIns="73152" rIns="73152" tIns="54864" bIns="54864">
            <a:spAutoFit/>
          </a:bodyPr>
          <a:lstStyle/>
          <a:p>
            <a:pPr algn="l">
              <a:defRPr sz="1400" b="1">
                <a:solidFill>
                  <a:srgbClr val="FFFFFF"/>
                </a:solidFill>
                <a:latin typeface="Arial"/>
              </a:defRPr>
            </a:pPr>
            <a:r>
              <a:t>2. Đổi tên thư mục (Rename)</a:t>
            </a:r>
          </a:p>
        </p:txBody>
      </p:sp>
      <p:sp>
        <p:nvSpPr>
          <p:cNvPr id="10" name="Chevron 9"/>
          <p:cNvSpPr/>
          <p:nvPr/>
        </p:nvSpPr>
        <p:spPr>
          <a:xfrm>
            <a:off x="365760" y="3602736"/>
            <a:ext cx="4389120" cy="868679"/>
          </a:xfrm>
          <a:prstGeom prst="chevron">
            <a:avLst/>
          </a:prstGeom>
          <a:solidFill>
            <a:srgbClr val="0D948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594360" y="3675887"/>
            <a:ext cx="3840480" cy="731519"/>
          </a:xfrm>
          <a:prstGeom prst="rect">
            <a:avLst/>
          </a:prstGeom>
          <a:noFill/>
        </p:spPr>
        <p:txBody>
          <a:bodyPr wrap="square" lIns="73152" rIns="73152" tIns="54864" bIns="54864">
            <a:spAutoFit/>
          </a:bodyPr>
          <a:lstStyle/>
          <a:p>
            <a:pPr algn="l">
              <a:defRPr sz="1400" b="1">
                <a:solidFill>
                  <a:srgbClr val="FFFFFF"/>
                </a:solidFill>
                <a:latin typeface="Arial"/>
              </a:defRPr>
            </a:pPr>
            <a:r>
              <a:t>3. Sao chép / Cắt &amp; Dán</a:t>
            </a:r>
          </a:p>
        </p:txBody>
      </p:sp>
      <p:sp>
        <p:nvSpPr>
          <p:cNvPr id="12" name="Chevron 11"/>
          <p:cNvSpPr/>
          <p:nvPr/>
        </p:nvSpPr>
        <p:spPr>
          <a:xfrm>
            <a:off x="365760" y="4581144"/>
            <a:ext cx="4389120" cy="868680"/>
          </a:xfrm>
          <a:prstGeom prst="chevron">
            <a:avLst/>
          </a:prstGeom>
          <a:solidFill>
            <a:srgbClr val="D9770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594360" y="4654296"/>
            <a:ext cx="3840480" cy="731519"/>
          </a:xfrm>
          <a:prstGeom prst="rect">
            <a:avLst/>
          </a:prstGeom>
          <a:noFill/>
        </p:spPr>
        <p:txBody>
          <a:bodyPr wrap="square" lIns="73152" rIns="73152" tIns="54864" bIns="54864">
            <a:spAutoFit/>
          </a:bodyPr>
          <a:lstStyle/>
          <a:p>
            <a:pPr algn="l">
              <a:defRPr sz="1400" b="1">
                <a:solidFill>
                  <a:srgbClr val="FFFFFF"/>
                </a:solidFill>
                <a:latin typeface="Arial"/>
              </a:defRPr>
            </a:pPr>
            <a:r>
              <a:t>4. Xóa thư mục rác (Delete)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5029200" y="1645920"/>
            <a:ext cx="6675120" cy="3977639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5" name="Picture 14" descr="ai_lop5_bai4_4steps_flow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120640" y="1737360"/>
            <a:ext cx="6492240" cy="3794760"/>
          </a:xfrm>
          <a:prstGeom prst="rect">
            <a:avLst/>
          </a:prstGeom>
        </p:spPr>
      </p:pic>
    </p:spTree>
  </p:cSld>
  <p:clrMapOvr>
    <a:masterClrMapping/>
  </p:clrMapOvr>
  <p:transition spd="med">
    <p:fade/>
  </p:transition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1051560"/>
            <a:ext cx="12188952" cy="4754879"/>
          </a:xfrm>
          <a:prstGeom prst="rect">
            <a:avLst/>
          </a:prstGeom>
          <a:solidFill>
            <a:srgbClr val="FFF1F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365760" y="1143000"/>
            <a:ext cx="2926080" cy="347471"/>
          </a:xfrm>
          <a:prstGeom prst="roundRect">
            <a:avLst/>
          </a:prstGeom>
          <a:solidFill>
            <a:srgbClr val="9F123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365760" y="1143000"/>
            <a:ext cx="2926080" cy="347471"/>
          </a:xfrm>
          <a:prstGeom prst="rect">
            <a:avLst/>
          </a:prstGeom>
          <a:noFill/>
        </p:spPr>
        <p:txBody>
          <a:bodyPr wrap="square" lIns="73152" rIns="73152" tIns="54864" bIns="54864">
            <a:spAutoFit/>
          </a:bodyPr>
          <a:lstStyle/>
          <a:p>
            <a:pPr algn="ctr">
              <a:defRPr sz="1300" b="1">
                <a:solidFill>
                  <a:srgbClr val="FFFFFF"/>
                </a:solidFill>
                <a:latin typeface="Arial"/>
              </a:defRPr>
            </a:pPr>
            <a:r>
              <a:t>HOẠT ĐỘNG KHÁM PHÁ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474720" y="1115568"/>
            <a:ext cx="8046720" cy="411479"/>
          </a:xfrm>
          <a:prstGeom prst="rect">
            <a:avLst/>
          </a:prstGeom>
          <a:noFill/>
        </p:spPr>
        <p:txBody>
          <a:bodyPr wrap="square" lIns="73152" rIns="73152" tIns="54864" bIns="54864">
            <a:spAutoFit/>
          </a:bodyPr>
          <a:lstStyle/>
          <a:p>
            <a:pPr algn="l">
              <a:defRPr sz="2100" b="1">
                <a:solidFill>
                  <a:srgbClr val="881337"/>
                </a:solidFill>
                <a:latin typeface="Arial"/>
              </a:defRPr>
            </a:pPr>
            <a:r>
              <a:t>Thực hành xây dựng Cây thư mục học tập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365760" y="1645920"/>
            <a:ext cx="4023360" cy="3977639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F43F5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ounded Rectangle 6"/>
          <p:cNvSpPr/>
          <p:nvPr/>
        </p:nvSpPr>
        <p:spPr>
          <a:xfrm>
            <a:off x="365760" y="1645920"/>
            <a:ext cx="164592" cy="3977639"/>
          </a:xfrm>
          <a:prstGeom prst="roundRect">
            <a:avLst/>
          </a:prstGeom>
          <a:solidFill>
            <a:srgbClr val="F43F5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640080" y="1783080"/>
            <a:ext cx="3611880" cy="640080"/>
          </a:xfrm>
          <a:prstGeom prst="rect">
            <a:avLst/>
          </a:prstGeom>
          <a:noFill/>
        </p:spPr>
        <p:txBody>
          <a:bodyPr wrap="square" lIns="73152" rIns="73152" tIns="54864" bIns="54864">
            <a:spAutoFit/>
          </a:bodyPr>
          <a:lstStyle/>
          <a:p>
            <a:pPr algn="l">
              <a:defRPr sz="1500" b="1">
                <a:solidFill>
                  <a:srgbClr val="0F172A"/>
                </a:solidFill>
                <a:latin typeface="Arial"/>
              </a:defRPr>
            </a:pPr>
            <a:r>
              <a:t>• Tạo thư mục mẹ HOC_TAP trên ổ đĩa D: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40080" y="2468880"/>
            <a:ext cx="3611880" cy="640080"/>
          </a:xfrm>
          <a:prstGeom prst="rect">
            <a:avLst/>
          </a:prstGeom>
          <a:noFill/>
        </p:spPr>
        <p:txBody>
          <a:bodyPr wrap="square" lIns="73152" rIns="73152" tIns="54864" bIns="54864">
            <a:spAutoFit/>
          </a:bodyPr>
          <a:lstStyle/>
          <a:p>
            <a:pPr algn="l">
              <a:defRPr sz="1500" b="1">
                <a:solidFill>
                  <a:srgbClr val="0F172A"/>
                </a:solidFill>
                <a:latin typeface="Arial"/>
              </a:defRPr>
            </a:pPr>
            <a:r>
              <a:t>• Tạo 3 thư mục con: TOAN, TIENG_VIET, TIN_HOC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40080" y="3154680"/>
            <a:ext cx="3611880" cy="640080"/>
          </a:xfrm>
          <a:prstGeom prst="rect">
            <a:avLst/>
          </a:prstGeom>
          <a:noFill/>
        </p:spPr>
        <p:txBody>
          <a:bodyPr wrap="square" lIns="73152" rIns="73152" tIns="54864" bIns="54864">
            <a:spAutoFit/>
          </a:bodyPr>
          <a:lstStyle/>
          <a:p>
            <a:pPr algn="l">
              <a:defRPr sz="1500" b="1">
                <a:solidFill>
                  <a:srgbClr val="0F172A"/>
                </a:solidFill>
                <a:latin typeface="Arial"/>
              </a:defRPr>
            </a:pPr>
            <a:r>
              <a:t>• Lưu bài tập vào đúng thư mục tương ứng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40080" y="3840480"/>
            <a:ext cx="3611880" cy="640080"/>
          </a:xfrm>
          <a:prstGeom prst="rect">
            <a:avLst/>
          </a:prstGeom>
          <a:noFill/>
        </p:spPr>
        <p:txBody>
          <a:bodyPr wrap="square" lIns="73152" rIns="73152" tIns="54864" bIns="54864">
            <a:spAutoFit/>
          </a:bodyPr>
          <a:lstStyle/>
          <a:p>
            <a:pPr algn="l">
              <a:defRPr sz="1500" b="1">
                <a:solidFill>
                  <a:srgbClr val="0F172A"/>
                </a:solidFill>
                <a:latin typeface="Arial"/>
              </a:defRPr>
            </a:pPr>
            <a:r>
              <a:t>• Cấu trúc chuẩn Tiếng Việt rõ ràng, ngăn nắp!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4663440" y="1645920"/>
            <a:ext cx="7040880" cy="3977639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3" name="Picture 12" descr="ai_lop5_bai4_hoctap_folders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754880" y="1737360"/>
            <a:ext cx="6858000" cy="3794760"/>
          </a:xfrm>
          <a:prstGeom prst="rect">
            <a:avLst/>
          </a:prstGeom>
        </p:spPr>
      </p:pic>
    </p:spTree>
  </p:cSld>
  <p:clrMapOvr>
    <a:masterClrMapping/>
  </p:clrMapOvr>
  <p:transition spd="med">
    <p:fade/>
  </p:transition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1051560"/>
            <a:ext cx="12188952" cy="4754879"/>
          </a:xfrm>
          <a:prstGeom prst="rect">
            <a:avLst/>
          </a:prstGeom>
          <a:solidFill>
            <a:srgbClr val="FFF1F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365760" y="1188720"/>
            <a:ext cx="11247120" cy="822960"/>
          </a:xfrm>
          <a:prstGeom prst="roundRect">
            <a:avLst/>
          </a:prstGeom>
          <a:solidFill>
            <a:srgbClr val="9F123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40080" y="1234440"/>
            <a:ext cx="10698480" cy="731520"/>
          </a:xfrm>
          <a:prstGeom prst="rect">
            <a:avLst/>
          </a:prstGeom>
          <a:noFill/>
        </p:spPr>
        <p:txBody>
          <a:bodyPr wrap="square" lIns="73152" rIns="73152" tIns="54864" bIns="54864">
            <a:spAutoFit/>
          </a:bodyPr>
          <a:lstStyle/>
          <a:p>
            <a:pPr algn="l">
              <a:defRPr sz="1800" b="1">
                <a:solidFill>
                  <a:srgbClr val="FFFFFF"/>
                </a:solidFill>
                <a:latin typeface="Arial"/>
              </a:defRPr>
            </a:pPr>
            <a:r>
              <a:t>❓ Tổ chức tệp tin theo Cây thư mục mang lại lợi ích gì?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365760" y="2103120"/>
            <a:ext cx="6400800" cy="2194559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F43F5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ounded Rectangle 5"/>
          <p:cNvSpPr/>
          <p:nvPr/>
        </p:nvSpPr>
        <p:spPr>
          <a:xfrm>
            <a:off x="365760" y="2103120"/>
            <a:ext cx="164592" cy="2194559"/>
          </a:xfrm>
          <a:prstGeom prst="roundRect">
            <a:avLst/>
          </a:prstGeom>
          <a:solidFill>
            <a:srgbClr val="F43F5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640080" y="2240280"/>
            <a:ext cx="5943600" cy="822959"/>
          </a:xfrm>
          <a:prstGeom prst="rect">
            <a:avLst/>
          </a:prstGeom>
          <a:noFill/>
        </p:spPr>
        <p:txBody>
          <a:bodyPr wrap="square" lIns="73152" rIns="73152" tIns="54864" bIns="54864">
            <a:spAutoFit/>
          </a:bodyPr>
          <a:lstStyle/>
          <a:p>
            <a:pPr algn="l">
              <a:defRPr sz="1500" b="0">
                <a:solidFill>
                  <a:srgbClr val="0F172A"/>
                </a:solidFill>
                <a:latin typeface="Arial"/>
              </a:defRPr>
            </a:pPr>
            <a:r>
              <a:t>👉 Sắp xếp dữ liệu ngăn nắp, khoa học theo từng phân cấp.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40080" y="3200400"/>
            <a:ext cx="5943600" cy="822960"/>
          </a:xfrm>
          <a:prstGeom prst="rect">
            <a:avLst/>
          </a:prstGeom>
          <a:noFill/>
        </p:spPr>
        <p:txBody>
          <a:bodyPr wrap="square" lIns="73152" rIns="73152" tIns="54864" bIns="54864">
            <a:spAutoFit/>
          </a:bodyPr>
          <a:lstStyle/>
          <a:p>
            <a:pPr algn="l">
              <a:defRPr sz="1500" b="0">
                <a:solidFill>
                  <a:srgbClr val="0F172A"/>
                </a:solidFill>
                <a:latin typeface="Arial"/>
              </a:defRPr>
            </a:pPr>
            <a:r>
              <a:t>👉 Tìm kiếm bài tập nhanh chóng, không bị thất lạc hay xóa nhầm.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949440" y="2103120"/>
            <a:ext cx="4663440" cy="2194559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0" name="Picture 9" descr="ai_lop5_bai4_hoctap_folders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040880" y="2148840"/>
            <a:ext cx="4480560" cy="2103120"/>
          </a:xfrm>
          <a:prstGeom prst="rect">
            <a:avLst/>
          </a:prstGeom>
        </p:spPr>
      </p:pic>
      <p:sp>
        <p:nvSpPr>
          <p:cNvPr id="11" name="Rounded Rectangle 10"/>
          <p:cNvSpPr/>
          <p:nvPr/>
        </p:nvSpPr>
        <p:spPr>
          <a:xfrm>
            <a:off x="365760" y="4434840"/>
            <a:ext cx="11247120" cy="1188719"/>
          </a:xfrm>
          <a:prstGeom prst="roundRect">
            <a:avLst/>
          </a:prstGeom>
          <a:solidFill>
            <a:srgbClr val="EA580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640080" y="4480560"/>
            <a:ext cx="10698480" cy="320039"/>
          </a:xfrm>
          <a:prstGeom prst="rect">
            <a:avLst/>
          </a:prstGeom>
          <a:noFill/>
        </p:spPr>
        <p:txBody>
          <a:bodyPr wrap="square" lIns="73152" rIns="73152" tIns="54864" bIns="54864">
            <a:spAutoFit/>
          </a:bodyPr>
          <a:lstStyle/>
          <a:p>
            <a:pPr algn="l">
              <a:defRPr sz="1400" b="1">
                <a:solidFill>
                  <a:srgbClr val="FEF08A"/>
                </a:solidFill>
                <a:latin typeface="Arial"/>
              </a:defRPr>
            </a:pPr>
            <a:r>
              <a:t>📌 GHI NHỚ TRỌNG TÂM (SGK)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40080" y="4800600"/>
            <a:ext cx="10698480" cy="777239"/>
          </a:xfrm>
          <a:prstGeom prst="rect">
            <a:avLst/>
          </a:prstGeom>
          <a:noFill/>
        </p:spPr>
        <p:txBody>
          <a:bodyPr wrap="square" lIns="73152" rIns="73152" tIns="54864" bIns="54864">
            <a:spAutoFit/>
          </a:bodyPr>
          <a:lstStyle/>
          <a:p>
            <a:pPr algn="l">
              <a:defRPr sz="1600" b="1">
                <a:solidFill>
                  <a:srgbClr val="FFFFFF"/>
                </a:solidFill>
                <a:latin typeface="Arial"/>
              </a:defRPr>
            </a:pPr>
            <a:r>
              <a:t>Cây thư mục là phương pháp quản lý dữ liệu hình cây phân cấp chuẩn mực giúp máy tính của em luôn ngăn nắp và khoa học!</a:t>
            </a:r>
          </a:p>
        </p:txBody>
      </p:sp>
    </p:spTree>
  </p:cSld>
  <p:clrMapOvr>
    <a:masterClrMapping/>
  </p:clrMapOvr>
  <p:transition spd="med">
    <p:fade/>
  </p:transition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1051560"/>
            <a:ext cx="12188952" cy="4754879"/>
          </a:xfrm>
          <a:prstGeom prst="rect">
            <a:avLst/>
          </a:prstGeom>
          <a:solidFill>
            <a:srgbClr val="FFF1F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365760" y="1143000"/>
            <a:ext cx="2926080" cy="347471"/>
          </a:xfrm>
          <a:prstGeom prst="roundRect">
            <a:avLst/>
          </a:prstGeom>
          <a:solidFill>
            <a:srgbClr val="EA580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365760" y="1143000"/>
            <a:ext cx="2926080" cy="347471"/>
          </a:xfrm>
          <a:prstGeom prst="rect">
            <a:avLst/>
          </a:prstGeom>
          <a:noFill/>
        </p:spPr>
        <p:txBody>
          <a:bodyPr wrap="square" lIns="73152" rIns="73152" tIns="54864" bIns="54864">
            <a:spAutoFit/>
          </a:bodyPr>
          <a:lstStyle/>
          <a:p>
            <a:pPr algn="ctr">
              <a:defRPr sz="1300" b="1">
                <a:solidFill>
                  <a:srgbClr val="FFFFFF"/>
                </a:solidFill>
                <a:latin typeface="Arial"/>
              </a:defRPr>
            </a:pPr>
            <a:r>
              <a:t>LUYỆN TẬP NHANH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365760" y="1600200"/>
            <a:ext cx="11247120" cy="91440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9F123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ounded Rectangle 5"/>
          <p:cNvSpPr/>
          <p:nvPr/>
        </p:nvSpPr>
        <p:spPr>
          <a:xfrm>
            <a:off x="365760" y="1600200"/>
            <a:ext cx="182880" cy="914400"/>
          </a:xfrm>
          <a:prstGeom prst="roundRect">
            <a:avLst/>
          </a:prstGeom>
          <a:solidFill>
            <a:srgbClr val="9F123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640080" y="1691640"/>
            <a:ext cx="10698480" cy="731520"/>
          </a:xfrm>
          <a:prstGeom prst="rect">
            <a:avLst/>
          </a:prstGeom>
          <a:noFill/>
        </p:spPr>
        <p:txBody>
          <a:bodyPr wrap="square" lIns="73152" rIns="73152" tIns="54864" bIns="54864">
            <a:spAutoFit/>
          </a:bodyPr>
          <a:lstStyle/>
          <a:p>
            <a:pPr algn="l">
              <a:defRPr sz="1700" b="1">
                <a:solidFill>
                  <a:srgbClr val="0F172A"/>
                </a:solidFill>
                <a:latin typeface="Arial"/>
              </a:defRPr>
            </a:pPr>
            <a:r>
              <a:t>❓ Trong đường dẫn D:\HOC_TAP\TIN_HOC\BaiTap.docx, đâu là thư mục con?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365760" y="2651760"/>
            <a:ext cx="5440680" cy="1325879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Oval 8"/>
          <p:cNvSpPr/>
          <p:nvPr/>
        </p:nvSpPr>
        <p:spPr>
          <a:xfrm>
            <a:off x="548640" y="2880360"/>
            <a:ext cx="822960" cy="822959"/>
          </a:xfrm>
          <a:prstGeom prst="ellipse">
            <a:avLst/>
          </a:prstGeom>
          <a:solidFill>
            <a:srgbClr val="9F123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548640" y="3063240"/>
            <a:ext cx="822960" cy="457200"/>
          </a:xfrm>
          <a:prstGeom prst="rect">
            <a:avLst/>
          </a:prstGeom>
          <a:noFill/>
        </p:spPr>
        <p:txBody>
          <a:bodyPr wrap="square" lIns="73152" rIns="73152" tIns="54864" bIns="54864">
            <a:spAutoFit/>
          </a:bodyPr>
          <a:lstStyle/>
          <a:p>
            <a:pPr algn="ctr">
              <a:defRPr sz="1800" b="1">
                <a:solidFill>
                  <a:srgbClr val="FFFFFF"/>
                </a:solidFill>
                <a:latin typeface="Arial"/>
              </a:defRPr>
            </a:pPr>
            <a:r>
              <a:t>A.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508760" y="2880360"/>
            <a:ext cx="4160520" cy="960119"/>
          </a:xfrm>
          <a:prstGeom prst="rect">
            <a:avLst/>
          </a:prstGeom>
          <a:noFill/>
        </p:spPr>
        <p:txBody>
          <a:bodyPr wrap="square" lIns="73152" rIns="73152" tIns="54864" bIns="54864">
            <a:spAutoFit/>
          </a:bodyPr>
          <a:lstStyle/>
          <a:p>
            <a:pPr algn="l">
              <a:defRPr sz="1500" b="0">
                <a:solidFill>
                  <a:srgbClr val="0F172A"/>
                </a:solidFill>
                <a:latin typeface="Arial"/>
              </a:defRPr>
            </a:pPr>
            <a:r>
              <a:t>Ổ đĩa D: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6172200" y="2651760"/>
            <a:ext cx="5440680" cy="1325879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Oval 12"/>
          <p:cNvSpPr/>
          <p:nvPr/>
        </p:nvSpPr>
        <p:spPr>
          <a:xfrm>
            <a:off x="6355080" y="2880360"/>
            <a:ext cx="822960" cy="822959"/>
          </a:xfrm>
          <a:prstGeom prst="ellipse">
            <a:avLst/>
          </a:prstGeom>
          <a:solidFill>
            <a:srgbClr val="0D948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6355080" y="3063240"/>
            <a:ext cx="822960" cy="457200"/>
          </a:xfrm>
          <a:prstGeom prst="rect">
            <a:avLst/>
          </a:prstGeom>
          <a:noFill/>
        </p:spPr>
        <p:txBody>
          <a:bodyPr wrap="square" lIns="73152" rIns="73152" tIns="54864" bIns="54864">
            <a:spAutoFit/>
          </a:bodyPr>
          <a:lstStyle/>
          <a:p>
            <a:pPr algn="ctr">
              <a:defRPr sz="1800" b="1">
                <a:solidFill>
                  <a:srgbClr val="FFFFFF"/>
                </a:solidFill>
                <a:latin typeface="Arial"/>
              </a:defRPr>
            </a:pPr>
            <a:r>
              <a:t>B.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7315200" y="2880360"/>
            <a:ext cx="4160520" cy="960119"/>
          </a:xfrm>
          <a:prstGeom prst="rect">
            <a:avLst/>
          </a:prstGeom>
          <a:noFill/>
        </p:spPr>
        <p:txBody>
          <a:bodyPr wrap="square" lIns="73152" rIns="73152" tIns="54864" bIns="54864">
            <a:spAutoFit/>
          </a:bodyPr>
          <a:lstStyle/>
          <a:p>
            <a:pPr algn="l">
              <a:defRPr sz="1500" b="0">
                <a:solidFill>
                  <a:srgbClr val="0F172A"/>
                </a:solidFill>
                <a:latin typeface="Arial"/>
              </a:defRPr>
            </a:pPr>
            <a:r>
              <a:t>Thư mục TIN_HOC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365760" y="4114800"/>
            <a:ext cx="5440680" cy="132588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Oval 16"/>
          <p:cNvSpPr/>
          <p:nvPr/>
        </p:nvSpPr>
        <p:spPr>
          <a:xfrm>
            <a:off x="548640" y="4343400"/>
            <a:ext cx="822960" cy="822960"/>
          </a:xfrm>
          <a:prstGeom prst="ellipse">
            <a:avLst/>
          </a:prstGeom>
          <a:solidFill>
            <a:srgbClr val="D9770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548640" y="4526280"/>
            <a:ext cx="822960" cy="457200"/>
          </a:xfrm>
          <a:prstGeom prst="rect">
            <a:avLst/>
          </a:prstGeom>
          <a:noFill/>
        </p:spPr>
        <p:txBody>
          <a:bodyPr wrap="square" lIns="73152" rIns="73152" tIns="54864" bIns="54864">
            <a:spAutoFit/>
          </a:bodyPr>
          <a:lstStyle/>
          <a:p>
            <a:pPr algn="ctr">
              <a:defRPr sz="1800" b="1">
                <a:solidFill>
                  <a:srgbClr val="FFFFFF"/>
                </a:solidFill>
                <a:latin typeface="Arial"/>
              </a:defRPr>
            </a:pPr>
            <a:r>
              <a:t>C.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508760" y="4343400"/>
            <a:ext cx="4160520" cy="960119"/>
          </a:xfrm>
          <a:prstGeom prst="rect">
            <a:avLst/>
          </a:prstGeom>
          <a:noFill/>
        </p:spPr>
        <p:txBody>
          <a:bodyPr wrap="square" lIns="73152" rIns="73152" tIns="54864" bIns="54864">
            <a:spAutoFit/>
          </a:bodyPr>
          <a:lstStyle/>
          <a:p>
            <a:pPr algn="l">
              <a:defRPr sz="1500" b="0">
                <a:solidFill>
                  <a:srgbClr val="0F172A"/>
                </a:solidFill>
                <a:latin typeface="Arial"/>
              </a:defRPr>
            </a:pPr>
            <a:r>
              <a:t>Tệp BaiTap.docx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6172200" y="4114800"/>
            <a:ext cx="5440680" cy="132588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Oval 20"/>
          <p:cNvSpPr/>
          <p:nvPr/>
        </p:nvSpPr>
        <p:spPr>
          <a:xfrm>
            <a:off x="6355080" y="4343400"/>
            <a:ext cx="822960" cy="822960"/>
          </a:xfrm>
          <a:prstGeom prst="ellipse">
            <a:avLst/>
          </a:prstGeom>
          <a:solidFill>
            <a:srgbClr val="7C3AE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6355080" y="4526280"/>
            <a:ext cx="822960" cy="457200"/>
          </a:xfrm>
          <a:prstGeom prst="rect">
            <a:avLst/>
          </a:prstGeom>
          <a:noFill/>
        </p:spPr>
        <p:txBody>
          <a:bodyPr wrap="square" lIns="73152" rIns="73152" tIns="54864" bIns="54864">
            <a:spAutoFit/>
          </a:bodyPr>
          <a:lstStyle/>
          <a:p>
            <a:pPr algn="ctr">
              <a:defRPr sz="1800" b="1">
                <a:solidFill>
                  <a:srgbClr val="FFFFFF"/>
                </a:solidFill>
                <a:latin typeface="Arial"/>
              </a:defRPr>
            </a:pPr>
            <a:r>
              <a:t>D.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7315200" y="4343400"/>
            <a:ext cx="4160520" cy="960119"/>
          </a:xfrm>
          <a:prstGeom prst="rect">
            <a:avLst/>
          </a:prstGeom>
          <a:noFill/>
        </p:spPr>
        <p:txBody>
          <a:bodyPr wrap="square" lIns="73152" rIns="73152" tIns="54864" bIns="54864">
            <a:spAutoFit/>
          </a:bodyPr>
          <a:lstStyle/>
          <a:p>
            <a:pPr algn="l">
              <a:defRPr sz="1500" b="0">
                <a:solidFill>
                  <a:srgbClr val="0F172A"/>
                </a:solidFill>
                <a:latin typeface="Arial"/>
              </a:defRPr>
            </a:pPr>
            <a:r>
              <a:t>Thư mục gốc</a:t>
            </a:r>
          </a:p>
        </p:txBody>
      </p:sp>
    </p:spTree>
  </p:cSld>
  <p:clrMapOvr>
    <a:masterClrMapping/>
  </p:clrMapOvr>
  <p:transition spd="med">
    <p:fade/>
  </p:transition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1051560"/>
            <a:ext cx="12188952" cy="4754879"/>
          </a:xfrm>
          <a:prstGeom prst="rect">
            <a:avLst/>
          </a:prstGeom>
          <a:solidFill>
            <a:srgbClr val="9F123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1828800" y="1645920"/>
            <a:ext cx="8531352" cy="347472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F43F5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1828800" y="1645920"/>
            <a:ext cx="8531352" cy="182879"/>
          </a:xfrm>
          <a:prstGeom prst="roundRect">
            <a:avLst/>
          </a:prstGeom>
          <a:solidFill>
            <a:srgbClr val="F43F5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2011680" y="2011680"/>
            <a:ext cx="8165592" cy="731519"/>
          </a:xfrm>
          <a:prstGeom prst="rect">
            <a:avLst/>
          </a:prstGeom>
          <a:noFill/>
        </p:spPr>
        <p:txBody>
          <a:bodyPr wrap="square" lIns="73152" rIns="73152" tIns="54864" bIns="54864">
            <a:spAutoFit/>
          </a:bodyPr>
          <a:lstStyle/>
          <a:p>
            <a:pPr algn="ctr">
              <a:defRPr sz="2400" b="1">
                <a:solidFill>
                  <a:srgbClr val="9F1239"/>
                </a:solidFill>
                <a:latin typeface="Arial"/>
              </a:defRPr>
            </a:pPr>
            <a:r>
              <a:t>XUẤT SẮC HOÀN THÀNH BÀI HỌC! 🚀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2011680" y="2834640"/>
            <a:ext cx="8165592" cy="1097279"/>
          </a:xfrm>
          <a:prstGeom prst="rect">
            <a:avLst/>
          </a:prstGeom>
          <a:noFill/>
        </p:spPr>
        <p:txBody>
          <a:bodyPr wrap="square" lIns="73152" rIns="73152" tIns="54864" bIns="54864">
            <a:spAutoFit/>
          </a:bodyPr>
          <a:lstStyle/>
          <a:p>
            <a:pPr algn="ctr">
              <a:defRPr sz="1700" b="0">
                <a:solidFill>
                  <a:srgbClr val="0F172A"/>
                </a:solidFill>
                <a:latin typeface="Arial"/>
              </a:defRPr>
            </a:pPr>
            <a:r>
              <a:t>BTVN: Tạo cây thư mục học tập trên máy tính ở nhà của em nhé!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2011680" y="4114800"/>
            <a:ext cx="8165592" cy="548639"/>
          </a:xfrm>
          <a:prstGeom prst="rect">
            <a:avLst/>
          </a:prstGeom>
          <a:noFill/>
        </p:spPr>
        <p:txBody>
          <a:bodyPr wrap="square" lIns="73152" rIns="73152" tIns="54864" bIns="54864">
            <a:spAutoFit/>
          </a:bodyPr>
          <a:lstStyle/>
          <a:p>
            <a:pPr algn="ctr">
              <a:defRPr sz="1600" b="1">
                <a:solidFill>
                  <a:srgbClr val="F43F5E"/>
                </a:solidFill>
                <a:latin typeface="Arial"/>
              </a:defRPr>
            </a:pPr>
            <a:r>
              <a:t>Hẹn gặp lại các em ở bài học tuần sau! 🚀</a:t>
            </a:r>
          </a:p>
        </p:txBody>
      </p:sp>
    </p:spTree>
  </p:cSld>
  <p:clrMapOvr>
    <a:masterClrMapping/>
  </p:clrMapOvr>
  <p:transition spd="med">
    <p:cover/>
  </p:transition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32</TotalTime>
  <Words>17</Words>
  <Application>Microsoft Office PowerPoint</Application>
  <PresentationFormat>Widescreen</PresentationFormat>
  <Paragraphs>4</Paragraphs>
  <Slides>4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4</vt:i4>
      </vt:variant>
    </vt:vector>
  </HeadingPairs>
  <TitlesOfParts>
    <vt:vector size="9" baseType="lpstr">
      <vt:lpstr>Aptos</vt:lpstr>
      <vt:lpstr>Aptos Display</vt:lpstr>
      <vt:lpstr>Arial</vt:lpstr>
      <vt:lpstr>Monotype Corsiva</vt:lpstr>
      <vt:lpstr>Office Theme</vt:lpstr>
      <vt:lpstr>PowerPoint Presentation</vt:lpstr>
      <vt:lpstr>Môn Tin học lớp </vt:lpstr>
      <vt:lpstr>Môn Tin học lớp 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Nguyên Đậu</dc:creator>
  <cp:lastModifiedBy>Nguyên Đậu</cp:lastModifiedBy>
  <cp:revision>4</cp:revision>
  <dcterms:created xsi:type="dcterms:W3CDTF">2026-08-04T15:56:52Z</dcterms:created>
  <dcterms:modified xsi:type="dcterms:W3CDTF">2026-08-04T16:29:42Z</dcterms:modified>
</cp:coreProperties>
</file>