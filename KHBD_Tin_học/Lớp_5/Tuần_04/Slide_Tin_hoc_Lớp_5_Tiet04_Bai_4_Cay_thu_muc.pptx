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>
            <a:extLst>
              <a:ext uri="{FF2B5EF4-FFF2-40B4-BE49-F238E27FC236}">
                <a16:creationId xmlns:a16="http://schemas.microsoft.com/office/drawing/2014/main" id="{261CADFC-E468-A9CF-CA9D-3603C11068A9}"/>
              </a:ext>
            </a:extLst>
          </p:cNvPr>
          <p:cNvSpPr txBox="1"/>
          <p:nvPr/>
        </p:nvSpPr>
        <p:spPr>
          <a:xfrm>
            <a:off x="844216" y="471493"/>
            <a:ext cx="10503568" cy="11287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360"/>
              </a:lnSpc>
            </a:pPr>
            <a:r>
              <a:rPr lang="en-US" sz="4400" b="1" dirty="0">
                <a:solidFill>
                  <a:srgbClr val="244498"/>
                </a:solidFill>
                <a:latin typeface="Arial" panose="020B0604020202020204" pitchFamily="34" charset="0"/>
                <a:ea typeface="Crimson Pro Bold"/>
                <a:cs typeface="Arial" panose="020B0604020202020204" pitchFamily="34" charset="0"/>
                <a:sym typeface="Crimson Pro Bold"/>
              </a:rPr>
              <a:t>TRƯỜNG TIỂU HỌC VÀ THCS UNIGO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CCC6F9-9D0B-8FA1-C7A3-6C656AB9CD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80673"/>
            <a:ext cx="11887200" cy="376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24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0AB71-A960-5C29-67C4-E061282DF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0315" y="215531"/>
            <a:ext cx="3826042" cy="8615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Môn Tin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học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lớp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4658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F47A-2A03-62D2-8A5D-F03932A43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E052A-67C4-3C30-0BE8-A144FDC57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463" y="335847"/>
            <a:ext cx="3826042" cy="8615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Môn Tin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học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lớp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04304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39">
            <a:extLst>
              <a:ext uri="{FF2B5EF4-FFF2-40B4-BE49-F238E27FC236}">
                <a16:creationId xmlns:a16="http://schemas.microsoft.com/office/drawing/2014/main" id="{9F8C78EA-1C6B-6C35-6191-129F37672DA8}"/>
              </a:ext>
            </a:extLst>
          </p:cNvPr>
          <p:cNvSpPr txBox="1"/>
          <p:nvPr/>
        </p:nvSpPr>
        <p:spPr>
          <a:xfrm>
            <a:off x="320174" y="2413337"/>
            <a:ext cx="11551651" cy="1015663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6600" dirty="0">
                <a:solidFill>
                  <a:schemeClr val="tx2">
                    <a:lumMod val="75000"/>
                    <a:lumOff val="25000"/>
                  </a:schemeClr>
                </a:solidFill>
                <a:latin typeface="Monotype Corsiva" panose="03010101010201010101" pitchFamily="66" charset="0"/>
                <a:ea typeface="Monggirella script"/>
                <a:cs typeface="Monggirella script"/>
                <a:sym typeface="Monggirella script"/>
              </a:rPr>
              <a:t>Thanks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292696729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Cấu trúc Cây thư mục (Folder Tree) 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Tin học • Lớp 5 • Tiết 4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5 • VÍ DỤ MINH HỌA TRỰC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600" b="1">
                <a:solidFill>
                  <a:srgbClr val="881337"/>
                </a:solidFill>
                <a:latin typeface="Arial"/>
              </a:defRPr>
            </a:pPr>
            <a:r>
              <a:t>Phân cấp Cây thư mục khoa học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4206240" cy="33832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09728" cy="3383279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749039" cy="283463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Thư mục gốc (Root): Ổ đĩa C:, D:, E: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Thư mục mẹ và Thư mục con (Subfolder)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Tệp tin (File): .docx, .pptx, .png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Đường dẫn (Path) chỉ rõ vị trí lưu trữ</a:t>
            </a:r>
          </a:p>
        </p:txBody>
      </p:sp>
      <p:pic>
        <p:nvPicPr>
          <p:cNvPr id="9" name="Picture 8" descr="ai_folder_tr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286000"/>
            <a:ext cx="6793992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5 • QUY CHUẨN TRỰC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600" b="1">
                <a:solidFill>
                  <a:srgbClr val="881337"/>
                </a:solidFill>
                <a:latin typeface="Arial"/>
              </a:defRPr>
            </a:pPr>
            <a:r>
              <a:t>Các thành phần trong Cây thư mục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82880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Ổ đĩa gốc (C:, D:) chứa toàn bộ dữ liệu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54096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54096"/>
            <a:ext cx="1828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63824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Thư mục mẹ HOC_TAP chứa các môn học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22191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822191"/>
            <a:ext cx="1828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31920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Thư mục con TOAN, VAN, TIN_HOC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590288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590288"/>
            <a:ext cx="18288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700016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Đường dẫn D:\HOC_TAP\TIN_HOC\Bai4.docx</a:t>
            </a:r>
          </a:p>
        </p:txBody>
      </p:sp>
      <p:pic>
        <p:nvPicPr>
          <p:cNvPr id="18" name="Picture 17" descr="ai_folder_tr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30952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5 • BÀI HỌC VÀ KẾT LUẬN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19"/>
            <a:ext cx="7772400" cy="8229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79"/>
            <a:ext cx="731520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1">
                <a:solidFill>
                  <a:srgbClr val="9F1239"/>
                </a:solidFill>
                <a:latin typeface="Arial"/>
              </a:defRPr>
            </a:pPr>
            <a:r>
              <a:t>💬 Lợi ích của việc tổ chức tệp theo Cây thư mục là gì?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7315200" cy="11887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👉 Giúp dữ liệu ngăn nắp, dễ quản lý.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👉 Tìm kiếm tài liệu nhanh chóng, không bị thất lạc.</a:t>
            </a:r>
          </a:p>
        </p:txBody>
      </p:sp>
      <p:pic>
        <p:nvPicPr>
          <p:cNvPr id="8" name="Picture 7" descr="ai_folder_tr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19"/>
            <a:ext cx="2926080" cy="2103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4526279"/>
            <a:ext cx="11091672" cy="114300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526279"/>
            <a:ext cx="182880" cy="1143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709159"/>
            <a:ext cx="10543032" cy="77723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1">
                <a:solidFill>
                  <a:srgbClr val="9A3412"/>
                </a:solidFill>
                <a:latin typeface="Arial"/>
              </a:defRPr>
            </a:pPr>
            <a:r>
              <a:t>💡 KẾT LUẬN: Tổ chức tệp tin theo cấu trúc hình cây giúp máy tính ngăn nắp và nâng cao hiệu suất học tập!</a:t>
            </a:r>
          </a:p>
        </p:txBody>
      </p:sp>
    </p:spTree>
  </p:cSld>
  <p:clrMapOvr>
    <a:masterClrMapping/>
  </p:clrMapOvr>
  <p:transition spd="med">
    <p:cover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5 • THỬ THÁCH TRẮC NGHIỆM VUI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640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❓ Trong đường dẫn D:\ANH\Gia_dinh.png, tệp tin cần mở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A. Ổ đĩa D: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37744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4496" y="237744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260604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B. Thư mục ANH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6908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06908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C. Tệp Gia_dinh.png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406908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4496" y="406908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429768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D. Hệ điều hành</a:t>
            </a:r>
          </a:p>
        </p:txBody>
      </p:sp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Xuất sắc!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0152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Arial"/>
              </a:defRPr>
            </a:pPr>
            <a:r>
              <a:t>BTVN: Tạo cây thư mục HOC_TAP trên máy tính của em!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