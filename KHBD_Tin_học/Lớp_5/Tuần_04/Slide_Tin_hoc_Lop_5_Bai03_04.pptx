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9994392" cy="36575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994392" cy="22860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45752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500" b="1">
                <a:solidFill>
                  <a:srgbClr val="BE185D"/>
                </a:solidFill>
                <a:latin typeface="Arial"/>
              </a:defRPr>
            </a:pPr>
            <a:r>
              <a:t>TRƯỜNG TIỂU HỌC &amp; THCS UNIGO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445752" cy="12801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Arial"/>
              </a:defRPr>
            </a:pPr>
            <a:r>
              <a:t>TÌM KIẾM THÔNG TIN &amp;</a:t>
            </a:r>
            <a:br/>
            <a:r>
              <a:t>CẤU TRÚC CÂY THƯ MỤC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44575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0">
                <a:solidFill>
                  <a:srgbClr val="BE185D"/>
                </a:solidFill>
                <a:latin typeface="Arial"/>
              </a:defRPr>
            </a:pPr>
            <a:r>
              <a:t>Tin học • Lớp 5 • Tuần 04 (Tiết 3 &amp; Tiết 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445752" cy="3657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Arial"/>
              </a:defRPr>
            </a:pPr>
            <a:r>
              <a:t>GV: Đậu Đình Nguyên • Bộ môn Tin học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5752" cy="347472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365760" cy="347472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011680"/>
            <a:ext cx="8046720" cy="5486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EF08A"/>
                </a:solidFill>
                <a:latin typeface="Arial"/>
              </a:defRPr>
            </a:pPr>
            <a:r>
              <a:t>KHÁM PHÁ KIẾN THỨC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651760"/>
            <a:ext cx="8046720" cy="13716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TIẾT 3: TÌM KIẾM THÔNG TIN TRONG GIẢI QUYẾT VẤN ĐỀ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023360"/>
            <a:ext cx="804672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Khám phá kỹ thuật tìm kiếm chính xác và chọn lọc thông tin đáng tin cậy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KHỞI ĐỘNG &amp; TÌNH HUỐNG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831843"/>
                </a:solidFill>
                <a:latin typeface="Arial"/>
              </a:defRPr>
            </a:pPr>
            <a:r>
              <a:t>Tình huống: Chuẩn bị hành lý đi nghỉ hè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11247120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_lop5_bai3_trav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11064240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4709160"/>
            <a:ext cx="11247120" cy="9601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4709160"/>
            <a:ext cx="182880" cy="960119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800600"/>
            <a:ext cx="1060704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👉 An đi biển Nha Trang (nắng nóng), Khoa đi Đà Lạt (se lạnh), Minh đi Úc (mùa đông tuyết).</a:t>
            </a:r>
            <a:br/>
            <a:r>
              <a:t>Vì sao mỗi bạn phải chuẩn bị hành lý hoàn toàn khác nhau?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QUY TRÌNH &amp; THAO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831843"/>
                </a:solidFill>
                <a:latin typeface="Arial"/>
              </a:defRPr>
            </a:pPr>
            <a:r>
              <a:t>Quy trình 4 bước tìm kiếm thông tin chính xác</a:t>
            </a:r>
          </a:p>
        </p:txBody>
      </p:sp>
      <p:sp>
        <p:nvSpPr>
          <p:cNvPr id="6" name="Chevron 5"/>
          <p:cNvSpPr/>
          <p:nvPr/>
        </p:nvSpPr>
        <p:spPr>
          <a:xfrm>
            <a:off x="365760" y="1645920"/>
            <a:ext cx="4389120" cy="868680"/>
          </a:xfrm>
          <a:prstGeom prst="chevron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3840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Bước 1: Xác định thông tin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2624328"/>
            <a:ext cx="4389120" cy="868680"/>
          </a:xfrm>
          <a:prstGeom prst="chevron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384048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Bước 2: Chọn từ khóa " "</a:t>
            </a:r>
          </a:p>
        </p:txBody>
      </p:sp>
      <p:sp>
        <p:nvSpPr>
          <p:cNvPr id="10" name="Chevron 9"/>
          <p:cNvSpPr/>
          <p:nvPr/>
        </p:nvSpPr>
        <p:spPr>
          <a:xfrm>
            <a:off x="365760" y="3602736"/>
            <a:ext cx="4389120" cy="868679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75887"/>
            <a:ext cx="384048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Bước 3: Chọn nguồn uy tín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" y="4581144"/>
            <a:ext cx="4389120" cy="86868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654296"/>
            <a:ext cx="384048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Bước 4: Tổng hợp &amp; áp dụng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6675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i_lop5_bai3_search_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49224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5752" cy="347472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365760" cy="347472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011680"/>
            <a:ext cx="8046720" cy="54864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EF08A"/>
                </a:solidFill>
                <a:latin typeface="Arial"/>
              </a:defRPr>
            </a:pPr>
            <a:r>
              <a:t>KHÁM PHÁ KIẾN THỨC MỚI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651760"/>
            <a:ext cx="8046720" cy="13716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TIẾT 4: BÀI 4. CÂY THƯ MỤC TRONG MÁY TÍNH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023360"/>
            <a:ext cx="804672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Arial"/>
              </a:defRPr>
            </a:pPr>
            <a:r>
              <a:t>Tổ chức lưu trữ dữ liệu khoa học theo cấu trúc hình cây phân cấp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QUY TRÌNH &amp; THAO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831843"/>
                </a:solidFill>
                <a:latin typeface="Arial"/>
              </a:defRPr>
            </a:pPr>
            <a:r>
              <a:t>4 Thao tác quản lý thư mục cơ bản</a:t>
            </a:r>
          </a:p>
        </p:txBody>
      </p:sp>
      <p:sp>
        <p:nvSpPr>
          <p:cNvPr id="6" name="Chevron 5"/>
          <p:cNvSpPr/>
          <p:nvPr/>
        </p:nvSpPr>
        <p:spPr>
          <a:xfrm>
            <a:off x="365760" y="1645920"/>
            <a:ext cx="4389120" cy="868680"/>
          </a:xfrm>
          <a:prstGeom prst="chevron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19072"/>
            <a:ext cx="3840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1. Tạo thư mục mới (New)</a:t>
            </a:r>
          </a:p>
        </p:txBody>
      </p:sp>
      <p:sp>
        <p:nvSpPr>
          <p:cNvPr id="8" name="Chevron 7"/>
          <p:cNvSpPr/>
          <p:nvPr/>
        </p:nvSpPr>
        <p:spPr>
          <a:xfrm>
            <a:off x="365760" y="2624328"/>
            <a:ext cx="4389120" cy="868680"/>
          </a:xfrm>
          <a:prstGeom prst="chevron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384048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2. Đổi tên thư mục (Rename)</a:t>
            </a:r>
          </a:p>
        </p:txBody>
      </p:sp>
      <p:sp>
        <p:nvSpPr>
          <p:cNvPr id="10" name="Chevron 9"/>
          <p:cNvSpPr/>
          <p:nvPr/>
        </p:nvSpPr>
        <p:spPr>
          <a:xfrm>
            <a:off x="365760" y="3602736"/>
            <a:ext cx="4389120" cy="868679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675887"/>
            <a:ext cx="384048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3. Sao chép / Cắt &amp; Dán</a:t>
            </a:r>
          </a:p>
        </p:txBody>
      </p:sp>
      <p:sp>
        <p:nvSpPr>
          <p:cNvPr id="12" name="Chevron 11"/>
          <p:cNvSpPr/>
          <p:nvPr/>
        </p:nvSpPr>
        <p:spPr>
          <a:xfrm>
            <a:off x="365760" y="4581144"/>
            <a:ext cx="4389120" cy="868680"/>
          </a:xfrm>
          <a:prstGeom prst="chevron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654296"/>
            <a:ext cx="3840480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4. Xóa thư mục rác (Delete)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645920"/>
            <a:ext cx="667512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i_lop5_bai4_4steps_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37360"/>
            <a:ext cx="649224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HOẠT ĐỘNG KHÁM PHÁ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15568"/>
            <a:ext cx="8046720" cy="4114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2100" b="1">
                <a:solidFill>
                  <a:srgbClr val="831843"/>
                </a:solidFill>
                <a:latin typeface="Arial"/>
              </a:defRPr>
            </a:pPr>
            <a:r>
              <a:t>Thực hành xây dựng Cây thư mục học tập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40233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164592" cy="3977639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36118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Tạo thư mục mẹ HOC_TAP trên ổ đĩa 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36118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Tạo 3 thư mục con: TOAN, TIENG_VIET, TIN_HOC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36118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Lưu bài tập vào đúng thư mục tương ứng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3611880" cy="6400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Cấu trúc chuẩn Tiếng Việt rõ ràng, ngăn nắp!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645920"/>
            <a:ext cx="704088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i_lop5_bai4_hoctap_fol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37360"/>
            <a:ext cx="6858000" cy="37947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11247120" cy="82296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❓ Tổng kết kiến thức trọng tâm Tuần 04 (Lớp 5)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103120"/>
            <a:ext cx="6400800" cy="219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164592" cy="2194559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5943600" cy="82295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👉 Tiết 3: Thu thập và tìm kiếm thông tin chính xác bằng từ khóa " 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943600" cy="82296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👉 Tiết 4: Sắp xếp dữ liệu ngăn nắp theo cấu trúc Cây thư mục.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103120"/>
            <a:ext cx="4663440" cy="219455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lop5_bai4_hoctap_fol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48840"/>
            <a:ext cx="4480560" cy="21031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4434840"/>
            <a:ext cx="11247120" cy="118871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698480" cy="3200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400" b="1">
                <a:solidFill>
                  <a:srgbClr val="FEF08A"/>
                </a:solidFill>
                <a:latin typeface="Arial"/>
              </a:defRPr>
            </a:pPr>
            <a:r>
              <a:t>📌 GHI NHỚ TRỌNG TÂM (SGK)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10698480" cy="7772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Làm chủ kỹ năng tìm kiếm và tổ chức dữ liệu giúp em trở thành người sử dụng máy tính thông minh và hiệu quả!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1143000"/>
            <a:ext cx="2926080" cy="347471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2926080" cy="347471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LUYỆN TẬP NHANH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00200"/>
            <a:ext cx="112471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8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82880" cy="914400"/>
          </a:xfrm>
          <a:prstGeom prst="round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698480" cy="7315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rial"/>
              </a:defRPr>
            </a:pPr>
            <a:r>
              <a:t>❓ Trong đường dẫn D:\HOC_TAP\TIN_HOC\BaiTap.docx, đâu là thư mục con?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640" y="2880360"/>
            <a:ext cx="822960" cy="822959"/>
          </a:xfrm>
          <a:prstGeom prst="ellipse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Ổ đĩa 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651760"/>
            <a:ext cx="5440680" cy="1325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55080" y="2880360"/>
            <a:ext cx="822960" cy="822959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06324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88036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Thư mục TIN_HOC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4343400"/>
            <a:ext cx="822960" cy="8229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Tệp BaiTap.docx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14800"/>
            <a:ext cx="54406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4343400"/>
            <a:ext cx="822960" cy="8229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526280"/>
            <a:ext cx="822960" cy="45720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343400"/>
            <a:ext cx="4160520" cy="9601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rial"/>
              </a:defRPr>
            </a:pPr>
            <a:r>
              <a:t>Thư mục gốc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645920"/>
            <a:ext cx="8531352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531352" cy="182879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011680"/>
            <a:ext cx="8165592" cy="73151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2400" b="1">
                <a:solidFill>
                  <a:srgbClr val="BE185D"/>
                </a:solidFill>
                <a:latin typeface="Arial"/>
              </a:defRPr>
            </a:pPr>
            <a:r>
              <a:t>BÀI HỌC KẾT THÚC! 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834640"/>
            <a:ext cx="8165592" cy="109727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700" b="0">
                <a:solidFill>
                  <a:srgbClr val="0F172A"/>
                </a:solidFill>
                <a:latin typeface="Arial"/>
              </a:defRPr>
            </a:pPr>
            <a:r>
              <a:t>BTVN: Hoàn thành bài tập thực hành trên máy tính và chuẩn bị cho bài tuần tới nhé!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114800"/>
            <a:ext cx="8165592" cy="548639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 algn="ctr">
              <a:defRPr sz="1600" b="1">
                <a:solidFill>
                  <a:srgbClr val="EC4899"/>
                </a:solidFill>
                <a:latin typeface="Arial"/>
              </a:defRPr>
            </a:pPr>
            <a:r>
              <a:t>Hẹn gặp lại các em ở bài học tuần sau! 🚀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