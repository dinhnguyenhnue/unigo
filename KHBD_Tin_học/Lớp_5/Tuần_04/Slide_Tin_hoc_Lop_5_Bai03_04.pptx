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  <p:sldId id="26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51560"/>
            <a:ext cx="12188952" cy="16459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6858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Tìm kiếm thông tin &amp; Cây thư mục 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Tin học • Lớp 5 • Tiết 3 &amp; 4</a:t>
            </a:r>
          </a:p>
        </p:txBody>
      </p:sp>
      <p:pic>
        <p:nvPicPr>
          <p:cNvPr id="6" name="Picture 5" descr="learn1_ca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1325880"/>
            <a:ext cx="3474720" cy="34747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5 • BÀI 3. TÌM KIẾM THÔNG TIN &amp; BÀI 4. CÂY THƯ MỤC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831843"/>
                </a:solidFill>
                <a:latin typeface="Arial"/>
              </a:rPr>
              <a:t>Làm sao quản lý hàng trăm tệp tài liệu?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63093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831843"/>
                </a:solidFill>
                <a:latin typeface="Arial"/>
              </a:rPr>
              <a:t>Nếu tất cả bài tập, tranh vẽ, bài hát để lộn xộn trong máy tính: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831843"/>
                </a:solidFill>
                <a:latin typeface="Arial"/>
              </a:rPr>
              <a:t>Làm sao em tìm được bài tập cần nộp cho cô?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831843"/>
                </a:solidFill>
                <a:latin typeface="Arial"/>
              </a:rPr>
              <a:t>Cây thư mục chính là giải pháp hoàn hảo!</a:t>
            </a:r>
          </a:p>
        </p:txBody>
      </p:sp>
      <p:pic>
        <p:nvPicPr>
          <p:cNvPr id="9" name="Picture 8" descr="learn1_ca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5 • KHÁM PHÁ VIDEO BÀI HỌC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831843"/>
                </a:solidFill>
                <a:latin typeface="Arial"/>
              </a:rPr>
              <a:t>Tìm kiếm thông tin &amp; Tổ chức thư mục 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63093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831843"/>
                </a:solidFill>
                <a:latin typeface="Arial"/>
              </a:rPr>
              <a:t>Video hướng dẫn kỹ năng tìm kiếm từ khóa nâng cao và tổ chức cây thư mục khoa học!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831843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831843"/>
                </a:solidFill>
                <a:latin typeface="Arial"/>
              </a:rPr>
              <a:t>🔗 Đường link video tham khảo: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831843"/>
                </a:solidFill>
                <a:latin typeface="Arial"/>
              </a:rPr>
              <a:t>https://www.youtube.com/watch?v=kYJ5z5_W2hY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831843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831843"/>
                </a:solidFill>
                <a:latin typeface="Arial"/>
              </a:rPr>
              <a:t>💡 Thầy/Cô sẽ chiếu video cho các em quan sát nhé!</a:t>
            </a:r>
          </a:p>
        </p:txBody>
      </p:sp>
      <p:pic>
        <p:nvPicPr>
          <p:cNvPr id="9" name="Picture 8" descr="learn1_ca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cover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5 • BÀI 3. TÌM KIẾM THÔNG TIN &amp; BÀI 4. CÂY THƯ MỤC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831843"/>
                </a:solidFill>
                <a:latin typeface="Arial"/>
              </a:rPr>
              <a:t>Tiết 3: Kỹ thuật tìm kiếm thông tin hiệu quả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286000"/>
            <a:ext cx="5477256" cy="161391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91440" cy="161391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earn1_ca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95728"/>
            <a:ext cx="2194560" cy="13944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17520" y="2423160"/>
            <a:ext cx="2825496" cy="1339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rial"/>
              </a:rPr>
              <a:t>Sử dụng từ khóa ngắn gọn, chính xác (Keyword)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4496" y="2286000"/>
            <a:ext cx="5477256" cy="161391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4496" y="2286000"/>
            <a:ext cx="91440" cy="161391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earn1_car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2395728"/>
            <a:ext cx="2194560" cy="139445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14815" y="2423160"/>
            <a:ext cx="2825496" cy="1339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rial"/>
              </a:rPr>
              <a:t>Đặt từ khóa trong dấu ngoặc kép " " để tìm chính xác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101083"/>
            <a:ext cx="5477256" cy="161391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101083"/>
            <a:ext cx="91440" cy="161391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earn1_card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210812"/>
            <a:ext cx="2194560" cy="139445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017520" y="4238244"/>
            <a:ext cx="2825496" cy="1339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rial"/>
              </a:rPr>
              <a:t>Chọn lọc thông tin từ các website uy tín (.gov, .edu)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4101083"/>
            <a:ext cx="5477256" cy="161391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54496" y="4101083"/>
            <a:ext cx="91440" cy="161391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earn1_car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7376" y="4210812"/>
            <a:ext cx="2194560" cy="139445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814815" y="4238244"/>
            <a:ext cx="2825496" cy="1339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rial"/>
              </a:rPr>
              <a:t>Đánh giá và kiểm chứng độ chính xác của thông tin</a:t>
            </a:r>
          </a:p>
        </p:txBody>
      </p:sp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5 • BÀI 3. TÌM KIẾM THÔNG TIN &amp; BÀI 4. CÂY THƯ MỤC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831843"/>
                </a:solidFill>
                <a:latin typeface="Arial"/>
              </a:rPr>
              <a:t>Tiết 4: Cấu trúc Cây thư mục (Folder Tree)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286000"/>
            <a:ext cx="5477256" cy="161391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91440" cy="161391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earn2_ca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95728"/>
            <a:ext cx="2194560" cy="13944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17520" y="2423160"/>
            <a:ext cx="2825496" cy="1339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rial"/>
              </a:rPr>
              <a:t>Thư mục gốc (Root folder): ổ đĩa C:, D:, 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4496" y="2286000"/>
            <a:ext cx="5477256" cy="161391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4496" y="2286000"/>
            <a:ext cx="91440" cy="161391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earn2_car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2395728"/>
            <a:ext cx="2194560" cy="139445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14815" y="2423160"/>
            <a:ext cx="2825496" cy="1339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rial"/>
              </a:rPr>
              <a:t>Thư mục mẹ và thư mục con (Subfolder)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101083"/>
            <a:ext cx="5477256" cy="161391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101083"/>
            <a:ext cx="91440" cy="161391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earn2_card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210812"/>
            <a:ext cx="2194560" cy="139445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017520" y="4238244"/>
            <a:ext cx="2825496" cy="1339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rial"/>
              </a:rPr>
              <a:t>Tệp tin (File): văn bản .docx, trình chiếu .pptx, ảnh .png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4101083"/>
            <a:ext cx="5477256" cy="161391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54496" y="4101083"/>
            <a:ext cx="91440" cy="161391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earn2_car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7376" y="4210812"/>
            <a:ext cx="2194560" cy="139445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814815" y="4238244"/>
            <a:ext cx="2825496" cy="1339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rial"/>
              </a:rPr>
              <a:t>Đường dẫn (Path): chỉ rõ vị trí lưu trữ của tệp tin</a:t>
            </a:r>
          </a:p>
        </p:txBody>
      </p:sp>
    </p:spTree>
  </p:cSld>
  <p:clrMapOvr>
    <a:masterClrMapping/>
  </p:clrMapOvr>
  <p:transition spd="med">
    <p:wip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5 • LUYỆN TẬP TƯƠNG TÁC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831843"/>
                </a:solidFill>
                <a:latin typeface="Arial"/>
              </a:rPr>
              <a:t>Thực hành tạo cây thư mục!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Tạo cây thư mục trên ổ đĩa D: theo sơ đồ: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017520"/>
            <a:ext cx="5522976" cy="12801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earn1_ca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154679"/>
            <a:ext cx="1280160" cy="1005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03120" y="3154679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31843"/>
                </a:solidFill>
                <a:latin typeface="Arial"/>
              </a:rPr>
              <a:t>Tạo thư mục chính: HOC_TAP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3017520"/>
            <a:ext cx="5522976" cy="12801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earn1_car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656" y="3154679"/>
            <a:ext cx="1280160" cy="10058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54696" y="3154679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31843"/>
                </a:solidFill>
                <a:latin typeface="Arial"/>
              </a:rPr>
              <a:t>Tạo 3 thư mục con: TOAN, VAN, TIN_HOC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526279"/>
            <a:ext cx="5522976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earn1_card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663440"/>
            <a:ext cx="1280160" cy="100583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3120" y="4663440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31843"/>
                </a:solidFill>
                <a:latin typeface="Arial"/>
              </a:rPr>
              <a:t>Lưu bài tập Tin học vào thư mục TIN_HOC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4526279"/>
            <a:ext cx="5522976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earn1_car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1656" y="4663440"/>
            <a:ext cx="1280160" cy="100583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54696" y="4663440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31843"/>
                </a:solidFill>
                <a:latin typeface="Arial"/>
              </a:rPr>
              <a:t>Đổi tên và xóa thư mục khi cần thiết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6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8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par>
                          <p:cTn id="11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3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5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2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7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9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5 • THỬ THÁCH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831843"/>
                </a:solidFill>
                <a:latin typeface="Arial"/>
              </a:rPr>
              <a:t>Thử thách: Tìm nhanh tệp tin!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4008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58521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Ghép nối đường dẫn với tệp tương ứng: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D:\HOC_TAP\TIN_HOC\Bai3.docx ↔ Tệp bài 3 môn Tin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D:\ANH_DEP\Gia_dinh.png ↔ Tệp ảnh gia đình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D:\AM_NHAC\Bai_hat.mp3 ↔ Tệp bài hát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D:\VIDEO\Hoat_hinh.mp4 ↔ Tệp video</a:t>
            </a:r>
          </a:p>
        </p:txBody>
      </p:sp>
      <p:pic>
        <p:nvPicPr>
          <p:cNvPr id="9" name="Picture 8" descr="learn1_ca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377440"/>
            <a:ext cx="4572000" cy="3200399"/>
          </a:xfrm>
          <a:prstGeom prst="rect">
            <a:avLst/>
          </a:prstGeom>
        </p:spPr>
      </p:pic>
    </p:spTree>
  </p:cSld>
  <p:clrMapOvr>
    <a:masterClrMapping/>
  </p:clrMapOvr>
  <p:transition spd="med">
    <p:cover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1188719"/>
            <a:ext cx="11091672" cy="448055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188719"/>
            <a:ext cx="11091672" cy="9144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17319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831843"/>
                </a:solidFill>
                <a:latin typeface="Arial"/>
              </a:rPr>
              <a:t>Tóm tắt bài học 2 tiết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03120"/>
            <a:ext cx="3331464" cy="3291839"/>
          </a:xfrm>
          <a:prstGeom prst="roundRect">
            <a:avLst/>
          </a:prstGeom>
          <a:solidFill>
            <a:srgbClr val="FDF2F8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2240279"/>
            <a:ext cx="411480" cy="411480"/>
          </a:xfrm>
          <a:prstGeom prst="ellipse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402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43200"/>
            <a:ext cx="3057144" cy="2514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831843"/>
                </a:solidFill>
                <a:latin typeface="Arial"/>
              </a:rPr>
              <a:t>Kỹ năng tìm kiếm và đánh giá thông tin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8744" y="2103120"/>
            <a:ext cx="3331464" cy="3291839"/>
          </a:xfrm>
          <a:prstGeom prst="roundRect">
            <a:avLst/>
          </a:prstGeom>
          <a:solidFill>
            <a:srgbClr val="FDF2F8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65904" y="2240279"/>
            <a:ext cx="411480" cy="411480"/>
          </a:xfrm>
          <a:prstGeom prst="ellipse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5904" y="22402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5904" y="2743200"/>
            <a:ext cx="3057144" cy="2514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831843"/>
                </a:solidFill>
                <a:latin typeface="Arial"/>
              </a:rPr>
              <a:t>Hiểu cấu trúc phân cấp của cây thư mục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43088" y="2103120"/>
            <a:ext cx="3331464" cy="3291839"/>
          </a:xfrm>
          <a:prstGeom prst="roundRect">
            <a:avLst/>
          </a:prstGeom>
          <a:solidFill>
            <a:srgbClr val="FDF2F8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80248" y="2240279"/>
            <a:ext cx="411480" cy="411480"/>
          </a:xfrm>
          <a:prstGeom prst="ellipse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80248" y="22402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0248" y="2743200"/>
            <a:ext cx="3057144" cy="2514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831843"/>
                </a:solidFill>
                <a:latin typeface="Arial"/>
              </a:rPr>
              <a:t>Tổ chức lưu trữ dữ liệu ngăn nắp, khoa học</a:t>
            </a:r>
          </a:p>
        </p:txBody>
      </p:sp>
    </p:spTree>
  </p:cSld>
  <p:clrMapOvr>
    <a:masterClrMapping/>
  </p:clrMapOvr>
  <p:transition spd="med">
    <p:push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rial"/>
              </a:rPr>
              <a:t>Xuất sắc!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BTVN: Sắp xếp lại các thư mục học tập trên máy tính của em!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