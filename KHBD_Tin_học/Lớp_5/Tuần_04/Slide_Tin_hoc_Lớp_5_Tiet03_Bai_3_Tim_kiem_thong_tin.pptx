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261CADFC-E468-A9CF-CA9D-3603C11068A9}"/>
              </a:ext>
            </a:extLst>
          </p:cNvPr>
          <p:cNvSpPr txBox="1"/>
          <p:nvPr/>
        </p:nvSpPr>
        <p:spPr>
          <a:xfrm>
            <a:off x="844216" y="471493"/>
            <a:ext cx="10503568" cy="11287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360"/>
              </a:lnSpc>
            </a:pPr>
            <a:r>
              <a:rPr lang="en-US" sz="4400" b="1" dirty="0">
                <a:solidFill>
                  <a:srgbClr val="244498"/>
                </a:solidFill>
                <a:latin typeface="Arial" panose="020B0604020202020204" pitchFamily="34" charset="0"/>
                <a:ea typeface="Crimson Pro Bold"/>
                <a:cs typeface="Arial" panose="020B0604020202020204" pitchFamily="34" charset="0"/>
                <a:sym typeface="Crimson Pro Bold"/>
              </a:rPr>
              <a:t>TRƯỜNG TIỂU HỌC VÀ THCS UNIGO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CCC6F9-9D0B-8FA1-C7A3-6C656AB9CD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80673"/>
            <a:ext cx="11887200" cy="376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24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0AB71-A960-5C29-67C4-E061282DF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0315" y="215531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4658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F47A-2A03-62D2-8A5D-F03932A43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E052A-67C4-3C30-0BE8-A144FDC5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63" y="335847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04304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39">
            <a:extLst>
              <a:ext uri="{FF2B5EF4-FFF2-40B4-BE49-F238E27FC236}">
                <a16:creationId xmlns:a16="http://schemas.microsoft.com/office/drawing/2014/main" id="{9F8C78EA-1C6B-6C35-6191-129F37672DA8}"/>
              </a:ext>
            </a:extLst>
          </p:cNvPr>
          <p:cNvSpPr txBox="1"/>
          <p:nvPr/>
        </p:nvSpPr>
        <p:spPr>
          <a:xfrm>
            <a:off x="320174" y="2413337"/>
            <a:ext cx="11551651" cy="1015663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600" dirty="0">
                <a:solidFill>
                  <a:schemeClr val="tx2">
                    <a:lumMod val="75000"/>
                    <a:lumOff val="25000"/>
                  </a:schemeClr>
                </a:solidFill>
                <a:latin typeface="Monotype Corsiva" panose="03010101010201010101" pitchFamily="66" charset="0"/>
                <a:ea typeface="Monggirella script"/>
                <a:cs typeface="Monggirella script"/>
                <a:sym typeface="Monggirella script"/>
              </a:rPr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292696729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Tìm kiếm thông tin hiệu quả 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Tin học • Lớp 5 • Tiết 3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5 • VÍ DỤ MINH HỌA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831843"/>
                </a:solidFill>
                <a:latin typeface="Arial"/>
              </a:defRPr>
            </a:pPr>
            <a:r>
              <a:t>Kỹ thuật sử dụng Từ khóa tìm kiếm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4206240" cy="33832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749039" cy="28346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Chọn từ khóa ngắn gọn, chính xác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Đặt từ khóa trong dấu ngoặc kép " "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Tìm chính xác nguyên cụm từ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Tiết kiệm thời gian tra cứu dữ liệu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286000"/>
            <a:ext cx="679399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5 • QUY CHUẨN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831843"/>
                </a:solidFill>
                <a:latin typeface="Arial"/>
              </a:defRPr>
            </a:pPr>
            <a:r>
              <a:t>Đánh giá &amp; Kiểm chứng thông tin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82880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Ưu tiên website uy tín (.gov.vn, .edu.vn)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54096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54096"/>
            <a:ext cx="1828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63824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Kiểm tra tác giả và ngày đăng bài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22191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22191"/>
            <a:ext cx="1828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Đối chiếu nhiều nguồn thông tin khác nhau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90288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590288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700016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Không chia sẻ thông tin chưa kiểm chứng</a:t>
            </a:r>
          </a:p>
        </p:txBody>
      </p:sp>
      <p:pic>
        <p:nvPicPr>
          <p:cNvPr id="18" name="Picture 17" descr="learn1_c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3095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5 • BÀI HỌC VÀ KẾT LUẬN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19"/>
            <a:ext cx="7772400" cy="8229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79"/>
            <a:ext cx="731520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BE185D"/>
                </a:solidFill>
                <a:latin typeface="Arial"/>
              </a:defRPr>
            </a:pPr>
            <a:r>
              <a:t>💬 Tại sao nên đặt từ khóa trong dấu ngoặc kép " "?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315200" cy="1188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Máy tìm kiếm sẽ tìm chính xác cả cụm từ theo đúng thứ tự.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Loại bỏ hàng triệu kết quả rời rạc không liên quan.</a:t>
            </a:r>
          </a:p>
        </p:txBody>
      </p:sp>
      <p:pic>
        <p:nvPicPr>
          <p:cNvPr id="8" name="Picture 7" descr="learn1_c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19"/>
            <a:ext cx="2926080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526279"/>
            <a:ext cx="11091672" cy="11430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526279"/>
            <a:ext cx="182880" cy="1143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59"/>
            <a:ext cx="10543032" cy="7772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9A3412"/>
                </a:solidFill>
                <a:latin typeface="Arial"/>
              </a:defRPr>
            </a:pPr>
            <a:r>
              <a:t>💡 KẾT LUẬN: Tìm kiếm thông minh với từ khóa chuẩn xác và luôn kiểm chứng độ tin cậy của thông tin!</a:t>
            </a:r>
          </a:p>
        </p:txBody>
      </p:sp>
    </p:spTree>
  </p:cSld>
  <p:clrMapOvr>
    <a:masterClrMapping/>
  </p:clrMapOvr>
  <p:transition spd="med">
    <p:cover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5 • THỬ THÁCH TRẮC NGHIỆM VUI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640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❓ Đuôi tên miền nào sau đây đại diện cho các cơ quan giáo dục?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A. .gov.vn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4496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B. .edu.vn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C. 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D. .net</a:t>
            </a:r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Hoàn thành Tiết 3!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Chuẩn bị bài tiếp theo: Cây thư mục (Tiết 4)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