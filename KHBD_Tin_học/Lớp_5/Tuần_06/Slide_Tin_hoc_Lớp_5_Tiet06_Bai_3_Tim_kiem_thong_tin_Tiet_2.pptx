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5"/>
    <p:sldId id="257" r:id="rId4"/>
    <p:sldId id="258" r:id="rId3"/>
    <p:sldId id="259" r:id="rId2"/>
    <p:sldId id="260" r:id="rId10"/>
    <p:sldId id="261" r:id="rId11"/>
    <p:sldId id="262" r:id="rId12"/>
    <p:sldId id="263" r:id="rId13"/>
    <p:sldId id="264"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6" y="1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D0BA-FBE9-6E44-691F-000C693EA2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E97D33-3B98-BBDE-4334-263FB7EE47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0CF0E5-ADF7-8470-3B9F-91C48728E4FC}"/>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5" name="Footer Placeholder 4">
            <a:extLst>
              <a:ext uri="{FF2B5EF4-FFF2-40B4-BE49-F238E27FC236}">
                <a16:creationId xmlns:a16="http://schemas.microsoft.com/office/drawing/2014/main" id="{25E504DA-4D4F-4EDC-F344-F03CE86DB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49F38-FA9E-B600-327E-9BDCCF102053}"/>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2170410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BFD97-87FB-631E-EEF8-6E51DCB457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4DE0B9-02FF-4F72-ED16-1FB31B569E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7B87DC-AA2C-EDEA-982F-36A5FDC6D238}"/>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5" name="Footer Placeholder 4">
            <a:extLst>
              <a:ext uri="{FF2B5EF4-FFF2-40B4-BE49-F238E27FC236}">
                <a16:creationId xmlns:a16="http://schemas.microsoft.com/office/drawing/2014/main" id="{B06E27A9-4B0A-C4FB-C65C-DD407FABC5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47FF0C-E183-66BE-709C-448A4AC57799}"/>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9466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744FD-7E48-FCDF-CF0B-2B23DE1327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94DECC-CB72-B397-C02A-C5108354BF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31C495-26F5-512C-E243-F8AA335A8E73}"/>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5" name="Footer Placeholder 4">
            <a:extLst>
              <a:ext uri="{FF2B5EF4-FFF2-40B4-BE49-F238E27FC236}">
                <a16:creationId xmlns:a16="http://schemas.microsoft.com/office/drawing/2014/main" id="{0D8E351D-6FC7-D545-DF8A-EB162F5B4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B95763-201D-C4E1-EB65-4B88B137B0FC}"/>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3997014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5217B-8EC9-4EA4-9045-0C817687E4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88FE9A-0D5F-7AE0-E7C8-A53EE8AF7E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4AE5D0-63E8-DCD8-D6B8-306243F3FC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59FF46-C6D8-B70D-34CC-F0BBD2514635}"/>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6" name="Footer Placeholder 5">
            <a:extLst>
              <a:ext uri="{FF2B5EF4-FFF2-40B4-BE49-F238E27FC236}">
                <a16:creationId xmlns:a16="http://schemas.microsoft.com/office/drawing/2014/main" id="{AA5A21F2-0257-6653-C1B4-BE4271B70E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88B2D-A696-926B-CB00-30CB39A210CB}"/>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99590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1804-FC72-EA87-B283-0ED24BD9CD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D6F214-B860-807F-5D59-775C2C3CD3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872204-513C-7EE5-A63F-ACD7E6F1F0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089B82-4A6B-0A50-33A8-F57C641AA4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7602B8-966B-D55B-DF46-EF8FE962A8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35D0A2-DDAB-2DEB-1654-64E2CF1352DA}"/>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8" name="Footer Placeholder 7">
            <a:extLst>
              <a:ext uri="{FF2B5EF4-FFF2-40B4-BE49-F238E27FC236}">
                <a16:creationId xmlns:a16="http://schemas.microsoft.com/office/drawing/2014/main" id="{5F526C51-F9C1-C9F7-E325-9857444134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CD2BB8-A738-B00D-CD4F-1E516729DC80}"/>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1429551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058C7-EC99-CA69-69A1-B71A2EE1FB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82FDDE-258E-65C9-5E9B-059B5310B204}"/>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4" name="Footer Placeholder 3">
            <a:extLst>
              <a:ext uri="{FF2B5EF4-FFF2-40B4-BE49-F238E27FC236}">
                <a16:creationId xmlns:a16="http://schemas.microsoft.com/office/drawing/2014/main" id="{6688222D-5913-69EE-C0A1-2115B6A3BE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364462-4379-23E8-5042-4188F2424E4F}"/>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288809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2B39AE-76E9-53E8-5AC2-AD6E83AE5A33}"/>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3" name="Footer Placeholder 2">
            <a:extLst>
              <a:ext uri="{FF2B5EF4-FFF2-40B4-BE49-F238E27FC236}">
                <a16:creationId xmlns:a16="http://schemas.microsoft.com/office/drawing/2014/main" id="{38A39721-3A37-FE8B-936D-3225F2B6F9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6383E3-5325-C6DD-4FD0-655FEA72A2D9}"/>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3008733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9B1C8-88D4-EB75-0A5A-DBF764E94A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FB7FCE-F57B-B919-56DD-5EDF6227BA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BC4E80-42F9-68B4-89A4-09F4B2E31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2E4884-0004-05C1-9162-12837C41B9AC}"/>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6" name="Footer Placeholder 5">
            <a:extLst>
              <a:ext uri="{FF2B5EF4-FFF2-40B4-BE49-F238E27FC236}">
                <a16:creationId xmlns:a16="http://schemas.microsoft.com/office/drawing/2014/main" id="{A110837C-4E57-5E0F-EC87-6499BA034A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A4D633-7171-8A0D-E4C6-6D53E0859A7E}"/>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2621106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E132-6996-68E8-4F29-37C27BB8EB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434507-83A3-0D3E-B631-5AA2974E08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62259C-71C9-5E4F-343E-C0E87D750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081087-DD77-D63D-A0AB-E7DF40F55162}"/>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6" name="Footer Placeholder 5">
            <a:extLst>
              <a:ext uri="{FF2B5EF4-FFF2-40B4-BE49-F238E27FC236}">
                <a16:creationId xmlns:a16="http://schemas.microsoft.com/office/drawing/2014/main" id="{2755EC71-8A66-0F0A-B040-0930D31AAA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332627-5E94-EEB1-7186-47F0D5C6F5B7}"/>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2129556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21772-A9B5-C630-07CA-DECD42CD77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DBB18D-FEE1-0190-5A10-2B09E03977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D711D-A70F-EF10-8E36-12C26924E883}"/>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5" name="Footer Placeholder 4">
            <a:extLst>
              <a:ext uri="{FF2B5EF4-FFF2-40B4-BE49-F238E27FC236}">
                <a16:creationId xmlns:a16="http://schemas.microsoft.com/office/drawing/2014/main" id="{00F3B26D-7C72-7CF5-91E5-6B9F530321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E76EA-4D7B-99B2-4676-A289DD637D51}"/>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2089633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B24F8F-8C52-E27E-05DE-AD92E136AB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CCC27E-F320-1CAF-FC80-1F7384CA5E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A3655-F6DA-384A-BCB5-A32BD9B555DA}"/>
              </a:ext>
            </a:extLst>
          </p:cNvPr>
          <p:cNvSpPr>
            <a:spLocks noGrp="1"/>
          </p:cNvSpPr>
          <p:nvPr>
            <p:ph type="dt" sz="half" idx="10"/>
          </p:nvPr>
        </p:nvSpPr>
        <p:spPr/>
        <p:txBody>
          <a:bodyPr/>
          <a:lstStyle/>
          <a:p>
            <a:fld id="{4EA7EFA5-8E37-463D-AE92-97FC5095B482}" type="datetimeFigureOut">
              <a:rPr lang="en-US" smtClean="0"/>
              <a:t>8/4/2026</a:t>
            </a:fld>
            <a:endParaRPr lang="en-US"/>
          </a:p>
        </p:txBody>
      </p:sp>
      <p:sp>
        <p:nvSpPr>
          <p:cNvPr id="5" name="Footer Placeholder 4">
            <a:extLst>
              <a:ext uri="{FF2B5EF4-FFF2-40B4-BE49-F238E27FC236}">
                <a16:creationId xmlns:a16="http://schemas.microsoft.com/office/drawing/2014/main" id="{91496872-344F-98B4-6458-BAACD263E5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A6A315-6909-97E2-34A8-B9CB86B9CF10}"/>
              </a:ext>
            </a:extLst>
          </p:cNvPr>
          <p:cNvSpPr>
            <a:spLocks noGrp="1"/>
          </p:cNvSpPr>
          <p:nvPr>
            <p:ph type="sldNum" sz="quarter" idx="12"/>
          </p:nvPr>
        </p:nvSpPr>
        <p:spPr/>
        <p:txBody>
          <a:bodyPr/>
          <a:lstStyle/>
          <a:p>
            <a:fld id="{18CEFBC2-8C04-4402-ABC4-7D77DEA1AF45}" type="slidenum">
              <a:rPr lang="en-US" smtClean="0"/>
              <a:t>‹#›</a:t>
            </a:fld>
            <a:endParaRPr lang="en-US"/>
          </a:p>
        </p:txBody>
      </p:sp>
    </p:spTree>
    <p:extLst>
      <p:ext uri="{BB962C8B-B14F-4D97-AF65-F5344CB8AC3E}">
        <p14:creationId xmlns:p14="http://schemas.microsoft.com/office/powerpoint/2010/main" val="254549293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8B8C0F-9B11-4065-AE8C-7637290FB1FD}"/>
              </a:ext>
            </a:extLst>
          </p:cNvPr>
          <p:cNvSpPr>
            <a:spLocks noGrp="1"/>
          </p:cNvSpPr>
          <p:nvPr>
            <p:ph type="title"/>
          </p:nvPr>
        </p:nvSpPr>
        <p:spPr>
          <a:xfrm>
            <a:off x="1155032" y="829142"/>
            <a:ext cx="10198768" cy="86154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C5FE732-1FF5-3147-A7B1-F7E2E0778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77A1F-9F08-BD8F-DAF3-65DDCDFC4F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A7EFA5-8E37-463D-AE92-97FC5095B482}" type="datetimeFigureOut">
              <a:rPr lang="en-US" smtClean="0"/>
              <a:t>8/4/2026</a:t>
            </a:fld>
            <a:endParaRPr lang="en-US"/>
          </a:p>
        </p:txBody>
      </p:sp>
      <p:sp>
        <p:nvSpPr>
          <p:cNvPr id="5" name="Footer Placeholder 4">
            <a:extLst>
              <a:ext uri="{FF2B5EF4-FFF2-40B4-BE49-F238E27FC236}">
                <a16:creationId xmlns:a16="http://schemas.microsoft.com/office/drawing/2014/main" id="{56665A47-83AD-EE80-1199-0CCBE3548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F62C6C-6174-7774-F45D-8725FE4A30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CEFBC2-8C04-4402-ABC4-7D77DEA1AF45}" type="slidenum">
              <a:rPr lang="en-US" smtClean="0"/>
              <a:t>‹#›</a:t>
            </a:fld>
            <a:endParaRPr lang="en-US"/>
          </a:p>
        </p:txBody>
      </p:sp>
      <p:pic>
        <p:nvPicPr>
          <p:cNvPr id="8" name="Picture 7">
            <a:extLst>
              <a:ext uri="{FF2B5EF4-FFF2-40B4-BE49-F238E27FC236}">
                <a16:creationId xmlns:a16="http://schemas.microsoft.com/office/drawing/2014/main" id="{1D2C332A-3D9A-458F-2703-2BC4602A665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54940" y="136525"/>
            <a:ext cx="867744" cy="861546"/>
          </a:xfrm>
          <a:prstGeom prst="rect">
            <a:avLst/>
          </a:prstGeom>
        </p:spPr>
      </p:pic>
      <p:pic>
        <p:nvPicPr>
          <p:cNvPr id="10" name="Picture 9">
            <a:extLst>
              <a:ext uri="{FF2B5EF4-FFF2-40B4-BE49-F238E27FC236}">
                <a16:creationId xmlns:a16="http://schemas.microsoft.com/office/drawing/2014/main" id="{10712185-E163-EB6D-9E42-C99AF00858F6}"/>
              </a:ext>
            </a:extLst>
          </p:cNvPr>
          <p:cNvPicPr>
            <a:picLocks noChangeAspect="1"/>
          </p:cNvPicPr>
          <p:nvPr userDrawn="1"/>
        </p:nvPicPr>
        <p:blipFill>
          <a:blip r:embed="rId14">
            <a:extLst>
              <a:ext uri="{28A0092B-C50C-407E-A947-70E740481C1C}">
                <a14:useLocalDpi xmlns:a14="http://schemas.microsoft.com/office/drawing/2010/main" val="0"/>
              </a:ext>
            </a:extLst>
          </a:blip>
          <a:srcRect l="6381" t="23826" r="6770" b="30087"/>
          <a:stretch>
            <a:fillRect/>
          </a:stretch>
        </p:blipFill>
        <p:spPr>
          <a:xfrm>
            <a:off x="0" y="5883441"/>
            <a:ext cx="12252960" cy="1126981"/>
          </a:xfrm>
          <a:prstGeom prst="rect">
            <a:avLst/>
          </a:prstGeom>
        </p:spPr>
      </p:pic>
    </p:spTree>
    <p:extLst>
      <p:ext uri="{BB962C8B-B14F-4D97-AF65-F5344CB8AC3E}">
        <p14:creationId xmlns:p14="http://schemas.microsoft.com/office/powerpoint/2010/main" val="3680347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417320"/>
            <a:ext cx="9994392" cy="3977639"/>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417320"/>
            <a:ext cx="9994392" cy="22860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783080"/>
            <a:ext cx="9445752" cy="457200"/>
          </a:xfrm>
          <a:prstGeom prst="rect">
            <a:avLst/>
          </a:prstGeom>
          <a:noFill/>
        </p:spPr>
        <p:txBody>
          <a:bodyPr wrap="square" lIns="73152" rIns="73152">
            <a:spAutoFit/>
          </a:bodyPr>
          <a:lstStyle/>
          <a:p>
            <a:pPr algn="ctr">
              <a:defRPr sz="1600" b="1">
                <a:solidFill>
                  <a:srgbClr val="9F1239"/>
                </a:solidFill>
                <a:latin typeface="Arial"/>
              </a:defRPr>
            </a:pPr>
            <a:r>
              <a:t>TRƯỜNG TIỂU HỌC &amp; THCS UNIGO</a:t>
            </a:r>
          </a:p>
        </p:txBody>
      </p:sp>
      <p:sp>
        <p:nvSpPr>
          <p:cNvPr id="6" name="TextBox 5"/>
          <p:cNvSpPr txBox="1"/>
          <p:nvPr/>
        </p:nvSpPr>
        <p:spPr>
          <a:xfrm>
            <a:off x="1371600" y="2331720"/>
            <a:ext cx="9445752" cy="1371600"/>
          </a:xfrm>
          <a:prstGeom prst="rect">
            <a:avLst/>
          </a:prstGeom>
          <a:noFill/>
        </p:spPr>
        <p:txBody>
          <a:bodyPr wrap="square" lIns="73152" rIns="73152">
            <a:spAutoFit/>
          </a:bodyPr>
          <a:lstStyle/>
          <a:p>
            <a:pPr algn="ctr">
              <a:defRPr sz="2700" b="1">
                <a:solidFill>
                  <a:srgbClr val="0F172A"/>
                </a:solidFill>
                <a:latin typeface="Arial"/>
              </a:defRPr>
            </a:pPr>
            <a:r>
              <a:t>BÀI 3. TÌM KIẾM THÔNG TIN</a:t>
            </a:r>
            <a:br/>
            <a:r>
              <a:t>TRONG GIẢI QUYẾT VẤN ĐỀ (TIẾT 2)</a:t>
            </a:r>
          </a:p>
        </p:txBody>
      </p:sp>
      <p:sp>
        <p:nvSpPr>
          <p:cNvPr id="7" name="TextBox 6"/>
          <p:cNvSpPr txBox="1"/>
          <p:nvPr/>
        </p:nvSpPr>
        <p:spPr>
          <a:xfrm>
            <a:off x="1371600" y="3794760"/>
            <a:ext cx="9445752" cy="548639"/>
          </a:xfrm>
          <a:prstGeom prst="rect">
            <a:avLst/>
          </a:prstGeom>
          <a:noFill/>
        </p:spPr>
        <p:txBody>
          <a:bodyPr wrap="square" lIns="73152" rIns="73152">
            <a:spAutoFit/>
          </a:bodyPr>
          <a:lstStyle/>
          <a:p>
            <a:pPr algn="ctr">
              <a:defRPr sz="1700" b="0">
                <a:solidFill>
                  <a:srgbClr val="9F1239"/>
                </a:solidFill>
                <a:latin typeface="Arial"/>
              </a:defRPr>
            </a:pPr>
            <a:r>
              <a:t>Môn Tin học • Lớp 5 • Tuần 6 • Sách Kết nối tri thức với cuộc sống</a:t>
            </a:r>
          </a:p>
        </p:txBody>
      </p:sp>
      <p:sp>
        <p:nvSpPr>
          <p:cNvPr id="8" name="TextBox 7"/>
          <p:cNvSpPr txBox="1"/>
          <p:nvPr/>
        </p:nvSpPr>
        <p:spPr>
          <a:xfrm>
            <a:off x="1371600" y="4526280"/>
            <a:ext cx="9445752" cy="411480"/>
          </a:xfrm>
          <a:prstGeom prst="rect">
            <a:avLst/>
          </a:prstGeom>
          <a:noFill/>
        </p:spPr>
        <p:txBody>
          <a:bodyPr wrap="square" lIns="73152" rIns="73152">
            <a:spAutoFit/>
          </a:bodyPr>
          <a:lstStyle/>
          <a:p>
            <a:pPr algn="ctr">
              <a:defRPr sz="1400" b="0">
                <a:solidFill>
                  <a:srgbClr val="64748B"/>
                </a:solidFill>
                <a:latin typeface="Arial"/>
              </a:defRPr>
            </a:pPr>
            <a:r>
              <a:t>GV: Đậu Đình Nguyên • Bộ môn Tin học</a:t>
            </a:r>
          </a:p>
        </p:txBody>
      </p:sp>
    </p:spTree>
  </p:cSld>
  <p:clrMapOvr>
    <a:masterClrMapping/>
  </p:clrMapOvr>
  <p:transition spd="med">
    <p:wip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554480"/>
            <a:ext cx="9994392" cy="3749039"/>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554480"/>
            <a:ext cx="320040" cy="3749039"/>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74519"/>
            <a:ext cx="8961120" cy="457200"/>
          </a:xfrm>
          <a:prstGeom prst="rect">
            <a:avLst/>
          </a:prstGeom>
          <a:noFill/>
        </p:spPr>
        <p:txBody>
          <a:bodyPr wrap="square" lIns="73152" rIns="73152">
            <a:spAutoFit/>
          </a:bodyPr>
          <a:lstStyle/>
          <a:p>
            <a:pPr algn="l">
              <a:defRPr sz="1600" b="1">
                <a:solidFill>
                  <a:srgbClr val="FEF08A"/>
                </a:solidFill>
                <a:latin typeface="Arial"/>
              </a:defRPr>
            </a:pPr>
            <a:r>
              <a:t>MỤC TIÊU TIẾT HỌC</a:t>
            </a:r>
          </a:p>
        </p:txBody>
      </p:sp>
      <p:sp>
        <p:nvSpPr>
          <p:cNvPr id="6" name="TextBox 5"/>
          <p:cNvSpPr txBox="1"/>
          <p:nvPr/>
        </p:nvSpPr>
        <p:spPr>
          <a:xfrm>
            <a:off x="1645920" y="2423160"/>
            <a:ext cx="8961120" cy="1005840"/>
          </a:xfrm>
          <a:prstGeom prst="rect">
            <a:avLst/>
          </a:prstGeom>
          <a:noFill/>
        </p:spPr>
        <p:txBody>
          <a:bodyPr wrap="square" lIns="73152" rIns="73152">
            <a:spAutoFit/>
          </a:bodyPr>
          <a:lstStyle/>
          <a:p>
            <a:pPr algn="l">
              <a:defRPr sz="2400" b="1">
                <a:solidFill>
                  <a:srgbClr val="FFFFFF"/>
                </a:solidFill>
                <a:latin typeface="Arial"/>
              </a:defRPr>
            </a:pPr>
            <a:r>
              <a:t>Sau tiết 2 hôm nay, các em sẽ nắm vững:</a:t>
            </a:r>
          </a:p>
        </p:txBody>
      </p:sp>
      <p:sp>
        <p:nvSpPr>
          <p:cNvPr id="7" name="TextBox 6"/>
          <p:cNvSpPr txBox="1"/>
          <p:nvPr/>
        </p:nvSpPr>
        <p:spPr>
          <a:xfrm>
            <a:off x="1645920" y="3566160"/>
            <a:ext cx="8961120" cy="502920"/>
          </a:xfrm>
          <a:prstGeom prst="rect">
            <a:avLst/>
          </a:prstGeom>
          <a:noFill/>
        </p:spPr>
        <p:txBody>
          <a:bodyPr wrap="square" lIns="73152" rIns="73152">
            <a:spAutoFit/>
          </a:bodyPr>
          <a:lstStyle/>
          <a:p>
            <a:pPr algn="l">
              <a:defRPr sz="1600" b="0">
                <a:solidFill>
                  <a:srgbClr val="F1F5F9"/>
                </a:solidFill>
                <a:latin typeface="Arial"/>
              </a:defRPr>
            </a:pPr>
            <a:r>
              <a:t>✓ Nắm vững Quy trình 4 bước tìm kiếm thông tin trên Internet bằng máy tìm kiếm.</a:t>
            </a:r>
          </a:p>
        </p:txBody>
      </p:sp>
      <p:sp>
        <p:nvSpPr>
          <p:cNvPr id="8" name="TextBox 7"/>
          <p:cNvSpPr txBox="1"/>
          <p:nvPr/>
        </p:nvSpPr>
        <p:spPr>
          <a:xfrm>
            <a:off x="1645920" y="4069080"/>
            <a:ext cx="8961120" cy="502919"/>
          </a:xfrm>
          <a:prstGeom prst="rect">
            <a:avLst/>
          </a:prstGeom>
          <a:noFill/>
        </p:spPr>
        <p:txBody>
          <a:bodyPr wrap="square" lIns="73152" rIns="73152">
            <a:spAutoFit/>
          </a:bodyPr>
          <a:lstStyle/>
          <a:p>
            <a:pPr algn="l">
              <a:defRPr sz="1600" b="0">
                <a:solidFill>
                  <a:srgbClr val="F1F5F9"/>
                </a:solidFill>
                <a:latin typeface="Arial"/>
              </a:defRPr>
            </a:pPr>
            <a:r>
              <a:t>✓ Sử dụng từ khoá chính xác đặt trong dấu ngoặc kép " " để thu hẹp kết quả.</a:t>
            </a:r>
          </a:p>
        </p:txBody>
      </p:sp>
      <p:sp>
        <p:nvSpPr>
          <p:cNvPr id="9" name="TextBox 8"/>
          <p:cNvSpPr txBox="1"/>
          <p:nvPr/>
        </p:nvSpPr>
        <p:spPr>
          <a:xfrm>
            <a:off x="1645920" y="4572000"/>
            <a:ext cx="8961120" cy="502919"/>
          </a:xfrm>
          <a:prstGeom prst="rect">
            <a:avLst/>
          </a:prstGeom>
          <a:noFill/>
        </p:spPr>
        <p:txBody>
          <a:bodyPr wrap="square" lIns="73152" rIns="73152">
            <a:spAutoFit/>
          </a:bodyPr>
          <a:lstStyle/>
          <a:p>
            <a:pPr algn="l">
              <a:defRPr sz="1600" b="0">
                <a:solidFill>
                  <a:srgbClr val="F1F5F9"/>
                </a:solidFill>
                <a:latin typeface="Arial"/>
              </a:defRPr>
            </a:pPr>
            <a:r>
              <a:t>✓ Lựa chọn thông tin phù hợp theo hoàn cảnh thực tế (địa điểm, thời tiết, thành viên gia đình).</a:t>
            </a:r>
          </a:p>
        </p:txBody>
      </p:sp>
    </p:spTree>
  </p:cSld>
  <p:clrMapOvr>
    <a:masterClrMapping/>
  </p:clrMapOvr>
  <p:transition spd="med">
    <p:push/>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15568"/>
            <a:ext cx="2926080" cy="347472"/>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15568"/>
            <a:ext cx="2926080" cy="347472"/>
          </a:xfrm>
          <a:prstGeom prst="rect">
            <a:avLst/>
          </a:prstGeom>
          <a:noFill/>
        </p:spPr>
        <p:txBody>
          <a:bodyPr wrap="square" lIns="73152" rIns="73152">
            <a:spAutoFit/>
          </a:bodyPr>
          <a:lstStyle/>
          <a:p>
            <a:pPr algn="ctr">
              <a:defRPr sz="1300" b="1">
                <a:solidFill>
                  <a:srgbClr val="FFFFFF"/>
                </a:solidFill>
                <a:latin typeface="Arial"/>
              </a:defRPr>
            </a:pPr>
            <a:r>
              <a:t>KHỞI ĐỘNG TIẾT 2</a:t>
            </a:r>
          </a:p>
        </p:txBody>
      </p:sp>
      <p:sp>
        <p:nvSpPr>
          <p:cNvPr id="5" name="TextBox 4"/>
          <p:cNvSpPr txBox="1"/>
          <p:nvPr/>
        </p:nvSpPr>
        <p:spPr>
          <a:xfrm>
            <a:off x="3474720" y="1097280"/>
            <a:ext cx="8046720" cy="411479"/>
          </a:xfrm>
          <a:prstGeom prst="rect">
            <a:avLst/>
          </a:prstGeom>
          <a:noFill/>
        </p:spPr>
        <p:txBody>
          <a:bodyPr wrap="square" lIns="73152" rIns="73152">
            <a:spAutoFit/>
          </a:bodyPr>
          <a:lstStyle/>
          <a:p>
            <a:pPr algn="l">
              <a:defRPr sz="2000" b="1">
                <a:solidFill>
                  <a:srgbClr val="881337"/>
                </a:solidFill>
                <a:latin typeface="Arial"/>
              </a:defRPr>
            </a:pPr>
            <a:r>
              <a:t>Tình huống: Lập kế hoạch du lịch Sa Pa dịp Tết Dương lịch 🏔️</a:t>
            </a:r>
          </a:p>
        </p:txBody>
      </p:sp>
      <p:sp>
        <p:nvSpPr>
          <p:cNvPr id="6" name="Rounded Rectangle 5"/>
          <p:cNvSpPr/>
          <p:nvPr/>
        </p:nvSpPr>
        <p:spPr>
          <a:xfrm>
            <a:off x="365760" y="1600200"/>
            <a:ext cx="11247120" cy="3017520"/>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p5_hinh17_tim_kiem_sapa.png"/>
          <p:cNvPicPr>
            <a:picLocks noChangeAspect="1"/>
          </p:cNvPicPr>
          <p:nvPr/>
        </p:nvPicPr>
        <p:blipFill>
          <a:blip r:embed="rId2"/>
          <a:stretch>
            <a:fillRect/>
          </a:stretch>
        </p:blipFill>
        <p:spPr>
          <a:xfrm>
            <a:off x="457200" y="1645920"/>
            <a:ext cx="11064240" cy="2926080"/>
          </a:xfrm>
          <a:prstGeom prst="rect">
            <a:avLst/>
          </a:prstGeom>
        </p:spPr>
      </p:pic>
      <p:sp>
        <p:nvSpPr>
          <p:cNvPr id="8" name="Rounded Rectangle 7"/>
          <p:cNvSpPr/>
          <p:nvPr/>
        </p:nvSpPr>
        <p:spPr>
          <a:xfrm>
            <a:off x="365760" y="4709160"/>
            <a:ext cx="11247120" cy="960119"/>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 y="4709160"/>
            <a:ext cx="182880" cy="960119"/>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800600"/>
            <a:ext cx="10607040" cy="777239"/>
          </a:xfrm>
          <a:prstGeom prst="rect">
            <a:avLst/>
          </a:prstGeom>
          <a:noFill/>
        </p:spPr>
        <p:txBody>
          <a:bodyPr wrap="square" lIns="73152" rIns="73152">
            <a:spAutoFit/>
          </a:bodyPr>
          <a:lstStyle/>
          <a:p>
            <a:pPr algn="l">
              <a:defRPr sz="1500" b="1">
                <a:solidFill>
                  <a:srgbClr val="0F172A"/>
                </a:solidFill>
                <a:latin typeface="Arial"/>
              </a:defRPr>
            </a:pPr>
            <a:r>
              <a:t>👉 Gia đình em dự định đi Sa Pa vào dịp Tết. Có rất nhiều thắng cảnh đẹp.</a:t>
            </a:r>
            <a:br/>
            <a:r>
              <a:t>Làm thế nào để tìm kiếm thông tin nhanh chóng và chọn được những địa điểm phù hợp nhất cho cả nhà?</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15568"/>
            <a:ext cx="2926080" cy="347472"/>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15568"/>
            <a:ext cx="2926080" cy="347472"/>
          </a:xfrm>
          <a:prstGeom prst="rect">
            <a:avLst/>
          </a:prstGeom>
          <a:noFill/>
        </p:spPr>
        <p:txBody>
          <a:bodyPr wrap="square" lIns="73152" rIns="73152">
            <a:spAutoFit/>
          </a:bodyPr>
          <a:lstStyle/>
          <a:p>
            <a:pPr algn="ctr">
              <a:defRPr sz="1300" b="1">
                <a:solidFill>
                  <a:srgbClr val="FFFFFF"/>
                </a:solidFill>
                <a:latin typeface="Arial"/>
              </a:defRPr>
            </a:pPr>
            <a:r>
              <a:t>HƯỚNG DẪN QUY TRÌNH</a:t>
            </a:r>
          </a:p>
        </p:txBody>
      </p:sp>
      <p:sp>
        <p:nvSpPr>
          <p:cNvPr id="5" name="TextBox 4"/>
          <p:cNvSpPr txBox="1"/>
          <p:nvPr/>
        </p:nvSpPr>
        <p:spPr>
          <a:xfrm>
            <a:off x="3474720" y="1097280"/>
            <a:ext cx="8046720" cy="411479"/>
          </a:xfrm>
          <a:prstGeom prst="rect">
            <a:avLst/>
          </a:prstGeom>
          <a:noFill/>
        </p:spPr>
        <p:txBody>
          <a:bodyPr wrap="square" lIns="73152" rIns="73152">
            <a:spAutoFit/>
          </a:bodyPr>
          <a:lstStyle/>
          <a:p>
            <a:pPr algn="l">
              <a:defRPr sz="2000" b="1">
                <a:solidFill>
                  <a:srgbClr val="881337"/>
                </a:solidFill>
                <a:latin typeface="Arial"/>
              </a:defRPr>
            </a:pPr>
            <a:r>
              <a:t>Quy trình 4 bước tìm kiếm thông tin chuẩn xác trên Internet</a:t>
            </a:r>
          </a:p>
        </p:txBody>
      </p:sp>
      <p:sp>
        <p:nvSpPr>
          <p:cNvPr id="6" name="Chevron 5"/>
          <p:cNvSpPr/>
          <p:nvPr/>
        </p:nvSpPr>
        <p:spPr>
          <a:xfrm>
            <a:off x="365760" y="1600200"/>
            <a:ext cx="4297680" cy="868680"/>
          </a:xfrm>
          <a:prstGeom prst="chevron">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73352"/>
            <a:ext cx="3749039" cy="731519"/>
          </a:xfrm>
          <a:prstGeom prst="rect">
            <a:avLst/>
          </a:prstGeom>
          <a:noFill/>
        </p:spPr>
        <p:txBody>
          <a:bodyPr wrap="square" lIns="73152" rIns="73152">
            <a:spAutoFit/>
          </a:bodyPr>
          <a:lstStyle/>
          <a:p>
            <a:pPr algn="l">
              <a:defRPr sz="1400" b="1">
                <a:solidFill>
                  <a:srgbClr val="FFFFFF"/>
                </a:solidFill>
                <a:latin typeface="Arial"/>
              </a:defRPr>
            </a:pPr>
            <a:r>
              <a:t>Bước 1: Xác định thông tin</a:t>
            </a:r>
          </a:p>
        </p:txBody>
      </p:sp>
      <p:sp>
        <p:nvSpPr>
          <p:cNvPr id="8" name="Chevron 7"/>
          <p:cNvSpPr/>
          <p:nvPr/>
        </p:nvSpPr>
        <p:spPr>
          <a:xfrm>
            <a:off x="365760" y="2578608"/>
            <a:ext cx="4297680" cy="868679"/>
          </a:xfrm>
          <a:prstGeom prst="chevron">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51760"/>
            <a:ext cx="3749039" cy="731519"/>
          </a:xfrm>
          <a:prstGeom prst="rect">
            <a:avLst/>
          </a:prstGeom>
          <a:noFill/>
        </p:spPr>
        <p:txBody>
          <a:bodyPr wrap="square" lIns="73152" rIns="73152">
            <a:spAutoFit/>
          </a:bodyPr>
          <a:lstStyle/>
          <a:p>
            <a:pPr algn="l">
              <a:defRPr sz="1400" b="1">
                <a:solidFill>
                  <a:srgbClr val="FFFFFF"/>
                </a:solidFill>
                <a:latin typeface="Arial"/>
              </a:defRPr>
            </a:pPr>
            <a:r>
              <a:t>Bước 2: Chọn từ khoá " "</a:t>
            </a:r>
          </a:p>
        </p:txBody>
      </p:sp>
      <p:sp>
        <p:nvSpPr>
          <p:cNvPr id="10" name="Chevron 9"/>
          <p:cNvSpPr/>
          <p:nvPr/>
        </p:nvSpPr>
        <p:spPr>
          <a:xfrm>
            <a:off x="365760" y="3557015"/>
            <a:ext cx="4297680" cy="868680"/>
          </a:xfrm>
          <a:prstGeom prst="chevron">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630168"/>
            <a:ext cx="3749039" cy="731519"/>
          </a:xfrm>
          <a:prstGeom prst="rect">
            <a:avLst/>
          </a:prstGeom>
          <a:noFill/>
        </p:spPr>
        <p:txBody>
          <a:bodyPr wrap="square" lIns="73152" rIns="73152">
            <a:spAutoFit/>
          </a:bodyPr>
          <a:lstStyle/>
          <a:p>
            <a:pPr algn="l">
              <a:defRPr sz="1400" b="1">
                <a:solidFill>
                  <a:srgbClr val="FFFFFF"/>
                </a:solidFill>
                <a:latin typeface="Arial"/>
              </a:defRPr>
            </a:pPr>
            <a:r>
              <a:t>Bước 3: Chọn nguồn tin cậy</a:t>
            </a:r>
          </a:p>
        </p:txBody>
      </p:sp>
      <p:sp>
        <p:nvSpPr>
          <p:cNvPr id="12" name="Chevron 11"/>
          <p:cNvSpPr/>
          <p:nvPr/>
        </p:nvSpPr>
        <p:spPr>
          <a:xfrm>
            <a:off x="365760" y="4535423"/>
            <a:ext cx="4297680" cy="868680"/>
          </a:xfrm>
          <a:prstGeom prst="chevron">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608575"/>
            <a:ext cx="3749039" cy="731519"/>
          </a:xfrm>
          <a:prstGeom prst="rect">
            <a:avLst/>
          </a:prstGeom>
          <a:noFill/>
        </p:spPr>
        <p:txBody>
          <a:bodyPr wrap="square" lIns="73152" rIns="73152">
            <a:spAutoFit/>
          </a:bodyPr>
          <a:lstStyle/>
          <a:p>
            <a:pPr algn="l">
              <a:defRPr sz="1400" b="1">
                <a:solidFill>
                  <a:srgbClr val="FFFFFF"/>
                </a:solidFill>
                <a:latin typeface="Arial"/>
              </a:defRPr>
            </a:pPr>
            <a:r>
              <a:t>Bước 4: Tổng hợp &amp; Áp dụng</a:t>
            </a:r>
          </a:p>
        </p:txBody>
      </p:sp>
      <p:sp>
        <p:nvSpPr>
          <p:cNvPr id="14" name="Rounded Rectangle 13"/>
          <p:cNvSpPr/>
          <p:nvPr/>
        </p:nvSpPr>
        <p:spPr>
          <a:xfrm>
            <a:off x="4937760" y="1600200"/>
            <a:ext cx="6675120" cy="40690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quy_trinh_4_buoc_tim_kiem.png"/>
          <p:cNvPicPr>
            <a:picLocks noChangeAspect="1"/>
          </p:cNvPicPr>
          <p:nvPr/>
        </p:nvPicPr>
        <p:blipFill>
          <a:blip r:embed="rId2"/>
          <a:stretch>
            <a:fillRect/>
          </a:stretch>
        </p:blipFill>
        <p:spPr>
          <a:xfrm>
            <a:off x="5029200" y="1691640"/>
            <a:ext cx="6492240" cy="38862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15568"/>
            <a:ext cx="2926080" cy="347472"/>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15568"/>
            <a:ext cx="2926080" cy="347472"/>
          </a:xfrm>
          <a:prstGeom prst="rect">
            <a:avLst/>
          </a:prstGeom>
          <a:noFill/>
        </p:spPr>
        <p:txBody>
          <a:bodyPr wrap="square" lIns="73152" rIns="73152">
            <a:spAutoFit/>
          </a:bodyPr>
          <a:lstStyle/>
          <a:p>
            <a:pPr algn="ctr">
              <a:defRPr sz="1300" b="1">
                <a:solidFill>
                  <a:srgbClr val="FFFFFF"/>
                </a:solidFill>
                <a:latin typeface="Arial"/>
              </a:defRPr>
            </a:pPr>
            <a:r>
              <a:t>THỰC HÀNH NHIỆM VỤ 1</a:t>
            </a:r>
          </a:p>
        </p:txBody>
      </p:sp>
      <p:sp>
        <p:nvSpPr>
          <p:cNvPr id="5" name="TextBox 4"/>
          <p:cNvSpPr txBox="1"/>
          <p:nvPr/>
        </p:nvSpPr>
        <p:spPr>
          <a:xfrm>
            <a:off x="3474720" y="1097280"/>
            <a:ext cx="8046720" cy="411479"/>
          </a:xfrm>
          <a:prstGeom prst="rect">
            <a:avLst/>
          </a:prstGeom>
          <a:noFill/>
        </p:spPr>
        <p:txBody>
          <a:bodyPr wrap="square" lIns="73152" rIns="73152">
            <a:spAutoFit/>
          </a:bodyPr>
          <a:lstStyle/>
          <a:p>
            <a:pPr algn="l">
              <a:defRPr sz="2000" b="1">
                <a:solidFill>
                  <a:srgbClr val="881337"/>
                </a:solidFill>
                <a:latin typeface="Arial"/>
              </a:defRPr>
            </a:pPr>
            <a:r>
              <a:t>Tìm kiếm các điểm tham quan Sa Pa trên Google</a:t>
            </a:r>
          </a:p>
        </p:txBody>
      </p:sp>
      <p:sp>
        <p:nvSpPr>
          <p:cNvPr id="6" name="Rounded Rectangle 5"/>
          <p:cNvSpPr/>
          <p:nvPr/>
        </p:nvSpPr>
        <p:spPr>
          <a:xfrm>
            <a:off x="365760" y="1600200"/>
            <a:ext cx="4663440" cy="4069080"/>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600200"/>
            <a:ext cx="164592" cy="406908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4206240" cy="3886200"/>
          </a:xfrm>
          <a:prstGeom prst="rect">
            <a:avLst/>
          </a:prstGeom>
          <a:noFill/>
        </p:spPr>
        <p:txBody>
          <a:bodyPr wrap="square" lIns="45720" rIns="45720">
            <a:spAutoFit/>
          </a:bodyPr>
          <a:lstStyle/>
          <a:p>
            <a:pPr>
              <a:spcAft>
                <a:spcPts val="400"/>
              </a:spcAft>
              <a:defRPr sz="1300" b="1">
                <a:solidFill>
                  <a:srgbClr val="0F172A"/>
                </a:solidFill>
                <a:latin typeface="Arial"/>
              </a:defRPr>
            </a:pPr>
            <a:r>
              <a:t>• Thao tác trên máy tính:</a:t>
            </a:r>
          </a:p>
          <a:p>
            <a:pPr>
              <a:spcAft>
                <a:spcPts val="400"/>
              </a:spcAft>
              <a:defRPr sz="1300" b="0">
                <a:solidFill>
                  <a:srgbClr val="0F172A"/>
                </a:solidFill>
                <a:latin typeface="Arial"/>
              </a:defRPr>
            </a:pPr>
            <a:r>
              <a:t>- Mở trình duyệt web (Google Chrome hoặc Cốc Cốc).</a:t>
            </a:r>
          </a:p>
          <a:p>
            <a:pPr>
              <a:spcAft>
                <a:spcPts val="400"/>
              </a:spcAft>
              <a:defRPr sz="1300" b="0">
                <a:solidFill>
                  <a:srgbClr val="0F172A"/>
                </a:solidFill>
                <a:latin typeface="Arial"/>
              </a:defRPr>
            </a:pPr>
            <a:r>
              <a:t>- Truy cập địa chỉ máy tìm kiếm: google.com</a:t>
            </a:r>
          </a:p>
          <a:p>
            <a:pPr>
              <a:spcAft>
                <a:spcPts val="400"/>
              </a:spcAft>
              <a:defRPr sz="1300" b="0">
                <a:solidFill>
                  <a:srgbClr val="0F172A"/>
                </a:solidFill>
                <a:latin typeface="Arial"/>
              </a:defRPr>
            </a:pPr>
            <a:r>
              <a:t>- Gõ từ khoá: Các điểm tham quan ở Sa Pa (nhấn Enter).</a:t>
            </a:r>
          </a:p>
          <a:p>
            <a:pPr>
              <a:spcAft>
                <a:spcPts val="400"/>
              </a:spcAft>
              <a:defRPr sz="1300" b="1">
                <a:solidFill>
                  <a:srgbClr val="0F172A"/>
                </a:solidFill>
                <a:latin typeface="Arial"/>
              </a:defRPr>
            </a:pPr>
            <a:r>
              <a:t>• Quan sát kết quả (Hình 17 SGK):</a:t>
            </a:r>
          </a:p>
          <a:p>
            <a:pPr>
              <a:spcAft>
                <a:spcPts val="400"/>
              </a:spcAft>
              <a:defRPr sz="1300" b="0">
                <a:solidFill>
                  <a:srgbClr val="0F172A"/>
                </a:solidFill>
                <a:latin typeface="Arial"/>
              </a:defRPr>
            </a:pPr>
            <a:r>
              <a:t>- Bản Cát Cát, Nhà thờ đá Sa Pa, Đèo Ô Quy Hồ, Đỉnh Fansipan, Bãi đá cổ, Núi Hàm Rồng...</a:t>
            </a:r>
          </a:p>
          <a:p>
            <a:pPr>
              <a:spcAft>
                <a:spcPts val="400"/>
              </a:spcAft>
              <a:defRPr sz="1300" b="0">
                <a:solidFill>
                  <a:srgbClr val="0F172A"/>
                </a:solidFill>
                <a:latin typeface="Arial"/>
              </a:defRPr>
            </a:pPr>
            <a:r>
              <a:t>- Nháy chuột vào từng kết quả để đọc thông tin chi tiết!</a:t>
            </a:r>
          </a:p>
        </p:txBody>
      </p:sp>
      <p:sp>
        <p:nvSpPr>
          <p:cNvPr id="9" name="Rounded Rectangle 8"/>
          <p:cNvSpPr/>
          <p:nvPr/>
        </p:nvSpPr>
        <p:spPr>
          <a:xfrm>
            <a:off x="5303520" y="1600200"/>
            <a:ext cx="6492240" cy="40690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op5_hinh17_tim_kiem_sapa.png"/>
          <p:cNvPicPr>
            <a:picLocks noChangeAspect="1"/>
          </p:cNvPicPr>
          <p:nvPr/>
        </p:nvPicPr>
        <p:blipFill>
          <a:blip r:embed="rId2"/>
          <a:stretch>
            <a:fillRect/>
          </a:stretch>
        </p:blipFill>
        <p:spPr>
          <a:xfrm>
            <a:off x="5394960" y="1691640"/>
            <a:ext cx="6309360" cy="38862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15568"/>
            <a:ext cx="2926080" cy="347472"/>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15568"/>
            <a:ext cx="2926080" cy="347472"/>
          </a:xfrm>
          <a:prstGeom prst="rect">
            <a:avLst/>
          </a:prstGeom>
          <a:noFill/>
        </p:spPr>
        <p:txBody>
          <a:bodyPr wrap="square" lIns="73152" rIns="73152">
            <a:spAutoFit/>
          </a:bodyPr>
          <a:lstStyle/>
          <a:p>
            <a:pPr algn="ctr">
              <a:defRPr sz="1300" b="1">
                <a:solidFill>
                  <a:srgbClr val="FFFFFF"/>
                </a:solidFill>
                <a:latin typeface="Arial"/>
              </a:defRPr>
            </a:pPr>
            <a:r>
              <a:t>THỰC HÀNH NHIỆM VỤ 2</a:t>
            </a:r>
          </a:p>
        </p:txBody>
      </p:sp>
      <p:sp>
        <p:nvSpPr>
          <p:cNvPr id="5" name="TextBox 4"/>
          <p:cNvSpPr txBox="1"/>
          <p:nvPr/>
        </p:nvSpPr>
        <p:spPr>
          <a:xfrm>
            <a:off x="3474720" y="1097280"/>
            <a:ext cx="8046720" cy="411479"/>
          </a:xfrm>
          <a:prstGeom prst="rect">
            <a:avLst/>
          </a:prstGeom>
          <a:noFill/>
        </p:spPr>
        <p:txBody>
          <a:bodyPr wrap="square" lIns="73152" rIns="73152">
            <a:spAutoFit/>
          </a:bodyPr>
          <a:lstStyle/>
          <a:p>
            <a:pPr algn="l">
              <a:defRPr sz="2000" b="1">
                <a:solidFill>
                  <a:srgbClr val="881337"/>
                </a:solidFill>
                <a:latin typeface="Arial"/>
              </a:defRPr>
            </a:pPr>
            <a:r>
              <a:t>Lựa chọn điểm đến thông minh theo đặc điểm chuyến đi</a:t>
            </a:r>
          </a:p>
        </p:txBody>
      </p:sp>
      <p:sp>
        <p:nvSpPr>
          <p:cNvPr id="6" name="Rounded Rectangle 5"/>
          <p:cNvSpPr/>
          <p:nvPr/>
        </p:nvSpPr>
        <p:spPr>
          <a:xfrm>
            <a:off x="365760" y="1600200"/>
            <a:ext cx="4663440" cy="4069080"/>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600200"/>
            <a:ext cx="164592" cy="406908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4206240" cy="3886200"/>
          </a:xfrm>
          <a:prstGeom prst="rect">
            <a:avLst/>
          </a:prstGeom>
          <a:noFill/>
        </p:spPr>
        <p:txBody>
          <a:bodyPr wrap="square" lIns="45720" rIns="45720">
            <a:spAutoFit/>
          </a:bodyPr>
          <a:lstStyle/>
          <a:p>
            <a:pPr>
              <a:spcAft>
                <a:spcPts val="400"/>
              </a:spcAft>
              <a:defRPr sz="1400" b="1">
                <a:solidFill>
                  <a:srgbClr val="0F172A"/>
                </a:solidFill>
                <a:latin typeface="Arial"/>
              </a:defRPr>
            </a:pPr>
            <a:r>
              <a:t>• Phân loại điểm tham quan theo thực tế:</a:t>
            </a:r>
          </a:p>
          <a:p>
            <a:pPr>
              <a:spcAft>
                <a:spcPts val="400"/>
              </a:spcAft>
              <a:defRPr sz="1400" b="0">
                <a:solidFill>
                  <a:srgbClr val="0F172A"/>
                </a:solidFill>
                <a:latin typeface="Arial"/>
              </a:defRPr>
            </a:pPr>
            <a:r>
              <a:t>- Điểm gần trung tâm: Nhà thờ đá Sa Pa, hồ Sa Pa, chợ đêm...</a:t>
            </a:r>
          </a:p>
          <a:p>
            <a:pPr>
              <a:spcAft>
                <a:spcPts val="400"/>
              </a:spcAft>
              <a:defRPr sz="1400" b="0">
                <a:solidFill>
                  <a:srgbClr val="0F172A"/>
                </a:solidFill>
                <a:latin typeface="Arial"/>
              </a:defRPr>
            </a:pPr>
            <a:r>
              <a:t>- Điểm phải đi xa/hiểm trở: Đèo Ô Quy Hồ, Cầu Mây, thác Bạc...</a:t>
            </a:r>
          </a:p>
          <a:p>
            <a:pPr>
              <a:spcAft>
                <a:spcPts val="400"/>
              </a:spcAft>
              <a:defRPr sz="1400" b="0">
                <a:solidFill>
                  <a:srgbClr val="0F172A"/>
                </a:solidFill>
                <a:latin typeface="Arial"/>
              </a:defRPr>
            </a:pPr>
            <a:r>
              <a:t>- Điểm leo trèo, lội suối: Đỉnh Fansipan, thung lũng Mường Hoa...</a:t>
            </a:r>
          </a:p>
          <a:p>
            <a:pPr>
              <a:spcAft>
                <a:spcPts val="400"/>
              </a:spcAft>
              <a:defRPr sz="1400" b="1">
                <a:solidFill>
                  <a:srgbClr val="0F172A"/>
                </a:solidFill>
                <a:latin typeface="Arial"/>
              </a:defRPr>
            </a:pPr>
            <a:r>
              <a:t>👉 Lưu ý quan trọng:</a:t>
            </a:r>
          </a:p>
          <a:p>
            <a:pPr>
              <a:spcAft>
                <a:spcPts val="400"/>
              </a:spcAft>
              <a:defRPr sz="1400" b="0">
                <a:solidFill>
                  <a:srgbClr val="0F172A"/>
                </a:solidFill>
                <a:latin typeface="Arial"/>
              </a:defRPr>
            </a:pPr>
            <a:r>
              <a:t>Nếu đoàn có người già và trẻ em nhỏ, nên ưu tiên chọn điểm ở gần, đường bằng phẳng, tránh leo dốc trơn trượt!</a:t>
            </a:r>
          </a:p>
        </p:txBody>
      </p:sp>
      <p:sp>
        <p:nvSpPr>
          <p:cNvPr id="9" name="Rounded Rectangle 8"/>
          <p:cNvSpPr/>
          <p:nvPr/>
        </p:nvSpPr>
        <p:spPr>
          <a:xfrm>
            <a:off x="5303520" y="1600200"/>
            <a:ext cx="6492240" cy="40690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op5_hinh17_tim_kiem_sapa.png"/>
          <p:cNvPicPr>
            <a:picLocks noChangeAspect="1"/>
          </p:cNvPicPr>
          <p:nvPr/>
        </p:nvPicPr>
        <p:blipFill>
          <a:blip r:embed="rId2"/>
          <a:stretch>
            <a:fillRect/>
          </a:stretch>
        </p:blipFill>
        <p:spPr>
          <a:xfrm>
            <a:off x="5394960" y="1691640"/>
            <a:ext cx="6309360" cy="38862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43000"/>
            <a:ext cx="11247120" cy="777240"/>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698480" cy="685799"/>
          </a:xfrm>
          <a:prstGeom prst="rect">
            <a:avLst/>
          </a:prstGeom>
          <a:noFill/>
        </p:spPr>
        <p:txBody>
          <a:bodyPr wrap="square" lIns="73152" rIns="73152">
            <a:spAutoFit/>
          </a:bodyPr>
          <a:lstStyle/>
          <a:p>
            <a:pPr algn="l">
              <a:defRPr sz="1700" b="1">
                <a:solidFill>
                  <a:srgbClr val="FFFFFF"/>
                </a:solidFill>
                <a:latin typeface="Arial"/>
              </a:defRPr>
            </a:pPr>
            <a:r>
              <a:t>❓ Bài học lớn nhất khi tìm kiếm và lựa chọn thông tin là gì?</a:t>
            </a:r>
          </a:p>
        </p:txBody>
      </p:sp>
      <p:sp>
        <p:nvSpPr>
          <p:cNvPr id="5" name="Rounded Rectangle 4"/>
          <p:cNvSpPr/>
          <p:nvPr/>
        </p:nvSpPr>
        <p:spPr>
          <a:xfrm>
            <a:off x="365760" y="2011680"/>
            <a:ext cx="6309360" cy="2240280"/>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2011680"/>
            <a:ext cx="164592" cy="224028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03120"/>
            <a:ext cx="5852160" cy="868680"/>
          </a:xfrm>
          <a:prstGeom prst="rect">
            <a:avLst/>
          </a:prstGeom>
          <a:noFill/>
        </p:spPr>
        <p:txBody>
          <a:bodyPr wrap="square" lIns="73152" rIns="73152">
            <a:spAutoFit/>
          </a:bodyPr>
          <a:lstStyle/>
          <a:p>
            <a:pPr algn="l">
              <a:defRPr sz="1400" b="0">
                <a:solidFill>
                  <a:srgbClr val="0F172A"/>
                </a:solidFill>
                <a:latin typeface="Arial"/>
              </a:defRPr>
            </a:pPr>
            <a:r>
              <a:t>• Không phải thông tin nào tìm thấy cũng phù hợp với nhu cầu của mình.</a:t>
            </a:r>
          </a:p>
        </p:txBody>
      </p:sp>
      <p:sp>
        <p:nvSpPr>
          <p:cNvPr id="8" name="TextBox 7"/>
          <p:cNvSpPr txBox="1"/>
          <p:nvPr/>
        </p:nvSpPr>
        <p:spPr>
          <a:xfrm>
            <a:off x="640080" y="3063239"/>
            <a:ext cx="5852160" cy="868680"/>
          </a:xfrm>
          <a:prstGeom prst="rect">
            <a:avLst/>
          </a:prstGeom>
          <a:noFill/>
        </p:spPr>
        <p:txBody>
          <a:bodyPr wrap="square" lIns="73152" rIns="73152">
            <a:spAutoFit/>
          </a:bodyPr>
          <a:lstStyle/>
          <a:p>
            <a:pPr algn="l">
              <a:defRPr sz="1400" b="0">
                <a:solidFill>
                  <a:srgbClr val="0F172A"/>
                </a:solidFill>
                <a:latin typeface="Arial"/>
              </a:defRPr>
            </a:pPr>
            <a:r>
              <a:t>• Cần đọc kỹ, đối chiếu và lựa chọn giải pháp an toàn, phù hợp nhất với hoàn cảnh.</a:t>
            </a:r>
          </a:p>
        </p:txBody>
      </p:sp>
      <p:sp>
        <p:nvSpPr>
          <p:cNvPr id="9" name="Rounded Rectangle 8"/>
          <p:cNvSpPr/>
          <p:nvPr/>
        </p:nvSpPr>
        <p:spPr>
          <a:xfrm>
            <a:off x="6858000" y="2011680"/>
            <a:ext cx="4754880" cy="2240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y_trinh_4_buoc_tim_kiem.png"/>
          <p:cNvPicPr>
            <a:picLocks noChangeAspect="1"/>
          </p:cNvPicPr>
          <p:nvPr/>
        </p:nvPicPr>
        <p:blipFill>
          <a:blip r:embed="rId2"/>
          <a:stretch>
            <a:fillRect/>
          </a:stretch>
        </p:blipFill>
        <p:spPr>
          <a:xfrm>
            <a:off x="6949440" y="2057400"/>
            <a:ext cx="4572000" cy="2148839"/>
          </a:xfrm>
          <a:prstGeom prst="rect">
            <a:avLst/>
          </a:prstGeom>
        </p:spPr>
      </p:pic>
      <p:sp>
        <p:nvSpPr>
          <p:cNvPr id="11" name="Rounded Rectangle 10"/>
          <p:cNvSpPr/>
          <p:nvPr/>
        </p:nvSpPr>
        <p:spPr>
          <a:xfrm>
            <a:off x="365760" y="4343400"/>
            <a:ext cx="11247120" cy="13258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389120"/>
            <a:ext cx="10698480" cy="320039"/>
          </a:xfrm>
          <a:prstGeom prst="rect">
            <a:avLst/>
          </a:prstGeom>
          <a:noFill/>
        </p:spPr>
        <p:txBody>
          <a:bodyPr wrap="square" lIns="73152" rIns="73152">
            <a:spAutoFit/>
          </a:bodyPr>
          <a:lstStyle/>
          <a:p>
            <a:pPr algn="l">
              <a:defRPr sz="1400" b="1">
                <a:solidFill>
                  <a:srgbClr val="FEF08A"/>
                </a:solidFill>
                <a:latin typeface="Arial"/>
              </a:defRPr>
            </a:pPr>
            <a:r>
              <a:t>📌 GHI NHỚ TRỌNG TÂM (SGK)</a:t>
            </a:r>
          </a:p>
        </p:txBody>
      </p:sp>
      <p:sp>
        <p:nvSpPr>
          <p:cNvPr id="13" name="TextBox 12"/>
          <p:cNvSpPr txBox="1"/>
          <p:nvPr/>
        </p:nvSpPr>
        <p:spPr>
          <a:xfrm>
            <a:off x="640080" y="4709160"/>
            <a:ext cx="10698480" cy="868680"/>
          </a:xfrm>
          <a:prstGeom prst="rect">
            <a:avLst/>
          </a:prstGeom>
          <a:noFill/>
        </p:spPr>
        <p:txBody>
          <a:bodyPr wrap="square" lIns="73152" rIns="73152">
            <a:spAutoFit/>
          </a:bodyPr>
          <a:lstStyle/>
          <a:p>
            <a:pPr algn="l">
              <a:defRPr sz="1500" b="1">
                <a:solidFill>
                  <a:srgbClr val="FFFFFF"/>
                </a:solidFill>
                <a:latin typeface="Arial"/>
              </a:defRPr>
            </a:pPr>
            <a:r>
              <a:t>Tìm kiếm bằng từ khoá chính xác và chọn lọc thông tin phù hợp với điều kiện thực tế sẽ giúp em đưa ra quyết định sáng suốt và giải quyết vấn đề hiệu quả nhất!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15568"/>
            <a:ext cx="2926080" cy="34747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15568"/>
            <a:ext cx="2926080" cy="347472"/>
          </a:xfrm>
          <a:prstGeom prst="rect">
            <a:avLst/>
          </a:prstGeom>
          <a:noFill/>
        </p:spPr>
        <p:txBody>
          <a:bodyPr wrap="square" lIns="73152" rIns="73152">
            <a:spAutoFit/>
          </a:bodyPr>
          <a:lstStyle/>
          <a:p>
            <a:pPr algn="ctr">
              <a:defRPr sz="1300" b="1">
                <a:solidFill>
                  <a:srgbClr val="FFFFFF"/>
                </a:solidFill>
                <a:latin typeface="Arial"/>
              </a:defRPr>
            </a:pPr>
            <a:r>
              <a:t>LUYỆN TẬP NHANH 🎯</a:t>
            </a:r>
          </a:p>
        </p:txBody>
      </p:sp>
      <p:sp>
        <p:nvSpPr>
          <p:cNvPr id="5" name="Rounded Rectangle 4"/>
          <p:cNvSpPr/>
          <p:nvPr/>
        </p:nvSpPr>
        <p:spPr>
          <a:xfrm>
            <a:off x="365760" y="1554480"/>
            <a:ext cx="11247120" cy="1005839"/>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1554480"/>
            <a:ext cx="182880" cy="1005839"/>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10698480" cy="822960"/>
          </a:xfrm>
          <a:prstGeom prst="rect">
            <a:avLst/>
          </a:prstGeom>
          <a:noFill/>
        </p:spPr>
        <p:txBody>
          <a:bodyPr wrap="square" lIns="73152" rIns="73152">
            <a:spAutoFit/>
          </a:bodyPr>
          <a:lstStyle/>
          <a:p>
            <a:pPr algn="l">
              <a:defRPr sz="1600" b="1">
                <a:solidFill>
                  <a:srgbClr val="0F172A"/>
                </a:solidFill>
                <a:latin typeface="Arial"/>
              </a:defRPr>
            </a:pPr>
            <a:r>
              <a:t>❓ Trong các phát biểu sau, đâu là PHƯƠNG ÁN SAI về vai trò của thông tin? (SGK tr.18)</a:t>
            </a:r>
          </a:p>
        </p:txBody>
      </p:sp>
      <p:sp>
        <p:nvSpPr>
          <p:cNvPr id="8" name="Rounded Rectangle 7"/>
          <p:cNvSpPr/>
          <p:nvPr/>
        </p:nvSpPr>
        <p:spPr>
          <a:xfrm>
            <a:off x="365760" y="269748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926080"/>
            <a:ext cx="822960" cy="822960"/>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108960"/>
            <a:ext cx="822960" cy="457200"/>
          </a:xfrm>
          <a:prstGeom prst="rect">
            <a:avLst/>
          </a:prstGeom>
          <a:noFill/>
        </p:spPr>
        <p:txBody>
          <a:bodyPr wrap="square" lIns="73152" rIns="73152">
            <a:spAutoFit/>
          </a:bodyPr>
          <a:lstStyle/>
          <a:p>
            <a:pPr algn="ctr">
              <a:defRPr sz="1800" b="1">
                <a:solidFill>
                  <a:srgbClr val="FFFFFF"/>
                </a:solidFill>
                <a:latin typeface="Arial"/>
              </a:defRPr>
            </a:pPr>
            <a:r>
              <a:t>A.</a:t>
            </a:r>
          </a:p>
        </p:txBody>
      </p:sp>
      <p:sp>
        <p:nvSpPr>
          <p:cNvPr id="11" name="TextBox 10"/>
          <p:cNvSpPr txBox="1"/>
          <p:nvPr/>
        </p:nvSpPr>
        <p:spPr>
          <a:xfrm>
            <a:off x="1508760" y="2880360"/>
            <a:ext cx="4160520" cy="1005839"/>
          </a:xfrm>
          <a:prstGeom prst="rect">
            <a:avLst/>
          </a:prstGeom>
          <a:noFill/>
        </p:spPr>
        <p:txBody>
          <a:bodyPr wrap="square" lIns="73152" rIns="73152">
            <a:spAutoFit/>
          </a:bodyPr>
          <a:lstStyle/>
          <a:p>
            <a:pPr algn="l">
              <a:defRPr sz="1400" b="0">
                <a:solidFill>
                  <a:srgbClr val="0F172A"/>
                </a:solidFill>
                <a:latin typeface="Arial"/>
              </a:defRPr>
            </a:pPr>
            <a:r>
              <a:t>Để giải quyết vấn đề cần đưa ra quyết định</a:t>
            </a:r>
          </a:p>
        </p:txBody>
      </p:sp>
      <p:sp>
        <p:nvSpPr>
          <p:cNvPr id="12" name="Rounded Rectangle 11"/>
          <p:cNvSpPr/>
          <p:nvPr/>
        </p:nvSpPr>
        <p:spPr>
          <a:xfrm>
            <a:off x="6172200" y="269748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5080" y="2926080"/>
            <a:ext cx="822960" cy="8229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108960"/>
            <a:ext cx="822960" cy="457200"/>
          </a:xfrm>
          <a:prstGeom prst="rect">
            <a:avLst/>
          </a:prstGeom>
          <a:noFill/>
        </p:spPr>
        <p:txBody>
          <a:bodyPr wrap="square" lIns="73152" rIns="73152">
            <a:spAutoFit/>
          </a:bodyPr>
          <a:lstStyle/>
          <a:p>
            <a:pPr algn="ctr">
              <a:defRPr sz="1800" b="1">
                <a:solidFill>
                  <a:srgbClr val="FFFFFF"/>
                </a:solidFill>
                <a:latin typeface="Arial"/>
              </a:defRPr>
            </a:pPr>
            <a:r>
              <a:t>B.</a:t>
            </a:r>
          </a:p>
        </p:txBody>
      </p:sp>
      <p:sp>
        <p:nvSpPr>
          <p:cNvPr id="15" name="TextBox 14"/>
          <p:cNvSpPr txBox="1"/>
          <p:nvPr/>
        </p:nvSpPr>
        <p:spPr>
          <a:xfrm>
            <a:off x="7315200" y="2880360"/>
            <a:ext cx="4160520" cy="1005839"/>
          </a:xfrm>
          <a:prstGeom prst="rect">
            <a:avLst/>
          </a:prstGeom>
          <a:noFill/>
        </p:spPr>
        <p:txBody>
          <a:bodyPr wrap="square" lIns="73152" rIns="73152">
            <a:spAutoFit/>
          </a:bodyPr>
          <a:lstStyle/>
          <a:p>
            <a:pPr algn="l">
              <a:defRPr sz="1400" b="0">
                <a:solidFill>
                  <a:srgbClr val="0F172A"/>
                </a:solidFill>
                <a:latin typeface="Arial"/>
              </a:defRPr>
            </a:pPr>
            <a:r>
              <a:t>Để có quyết định đúng cần có thông tin</a:t>
            </a:r>
          </a:p>
        </p:txBody>
      </p:sp>
      <p:sp>
        <p:nvSpPr>
          <p:cNvPr id="16" name="Rounded Rectangle 15"/>
          <p:cNvSpPr/>
          <p:nvPr/>
        </p:nvSpPr>
        <p:spPr>
          <a:xfrm>
            <a:off x="365760" y="420624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434840"/>
            <a:ext cx="822960" cy="82296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17720"/>
            <a:ext cx="822960" cy="457200"/>
          </a:xfrm>
          <a:prstGeom prst="rect">
            <a:avLst/>
          </a:prstGeom>
          <a:noFill/>
        </p:spPr>
        <p:txBody>
          <a:bodyPr wrap="square" lIns="73152" rIns="73152">
            <a:spAutoFit/>
          </a:bodyPr>
          <a:lstStyle/>
          <a:p>
            <a:pPr algn="ctr">
              <a:defRPr sz="1800" b="1">
                <a:solidFill>
                  <a:srgbClr val="FFFFFF"/>
                </a:solidFill>
                <a:latin typeface="Arial"/>
              </a:defRPr>
            </a:pPr>
            <a:r>
              <a:t>C.</a:t>
            </a:r>
          </a:p>
        </p:txBody>
      </p:sp>
      <p:sp>
        <p:nvSpPr>
          <p:cNvPr id="19" name="TextBox 18"/>
          <p:cNvSpPr txBox="1"/>
          <p:nvPr/>
        </p:nvSpPr>
        <p:spPr>
          <a:xfrm>
            <a:off x="1508760" y="4389120"/>
            <a:ext cx="4160520" cy="1005840"/>
          </a:xfrm>
          <a:prstGeom prst="rect">
            <a:avLst/>
          </a:prstGeom>
          <a:noFill/>
        </p:spPr>
        <p:txBody>
          <a:bodyPr wrap="square" lIns="73152" rIns="73152">
            <a:spAutoFit/>
          </a:bodyPr>
          <a:lstStyle/>
          <a:p>
            <a:pPr algn="l">
              <a:defRPr sz="1400" b="0">
                <a:solidFill>
                  <a:srgbClr val="0F172A"/>
                </a:solidFill>
                <a:latin typeface="Arial"/>
              </a:defRPr>
            </a:pPr>
            <a:r>
              <a:t>Thông tin không có vai trò gì quan trọng</a:t>
            </a:r>
          </a:p>
        </p:txBody>
      </p:sp>
      <p:sp>
        <p:nvSpPr>
          <p:cNvPr id="20" name="Rounded Rectangle 19"/>
          <p:cNvSpPr/>
          <p:nvPr/>
        </p:nvSpPr>
        <p:spPr>
          <a:xfrm>
            <a:off x="6172200" y="420624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55080" y="4434840"/>
            <a:ext cx="822960" cy="8229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617720"/>
            <a:ext cx="822960" cy="457200"/>
          </a:xfrm>
          <a:prstGeom prst="rect">
            <a:avLst/>
          </a:prstGeom>
          <a:noFill/>
        </p:spPr>
        <p:txBody>
          <a:bodyPr wrap="square" lIns="73152" rIns="73152">
            <a:spAutoFit/>
          </a:bodyPr>
          <a:lstStyle/>
          <a:p>
            <a:pPr algn="ctr">
              <a:defRPr sz="1800" b="1">
                <a:solidFill>
                  <a:srgbClr val="FFFFFF"/>
                </a:solidFill>
                <a:latin typeface="Arial"/>
              </a:defRPr>
            </a:pPr>
            <a:r>
              <a:t>D.</a:t>
            </a:r>
          </a:p>
        </p:txBody>
      </p:sp>
      <p:sp>
        <p:nvSpPr>
          <p:cNvPr id="23" name="TextBox 22"/>
          <p:cNvSpPr txBox="1"/>
          <p:nvPr/>
        </p:nvSpPr>
        <p:spPr>
          <a:xfrm>
            <a:off x="7315200" y="4389120"/>
            <a:ext cx="4160520" cy="1005840"/>
          </a:xfrm>
          <a:prstGeom prst="rect">
            <a:avLst/>
          </a:prstGeom>
          <a:noFill/>
        </p:spPr>
        <p:txBody>
          <a:bodyPr wrap="square" lIns="73152" rIns="73152">
            <a:spAutoFit/>
          </a:bodyPr>
          <a:lstStyle/>
          <a:p>
            <a:pPr algn="l">
              <a:defRPr sz="1400" b="0">
                <a:solidFill>
                  <a:srgbClr val="0F172A"/>
                </a:solidFill>
                <a:latin typeface="Arial"/>
              </a:defRPr>
            </a:pPr>
            <a:r>
              <a:t>Thu thập thông tin rất quan trọng trong đời sống</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FF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115568"/>
            <a:ext cx="2926080" cy="34747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15568"/>
            <a:ext cx="2926080" cy="347472"/>
          </a:xfrm>
          <a:prstGeom prst="rect">
            <a:avLst/>
          </a:prstGeom>
          <a:noFill/>
        </p:spPr>
        <p:txBody>
          <a:bodyPr wrap="square" lIns="73152" rIns="73152">
            <a:spAutoFit/>
          </a:bodyPr>
          <a:lstStyle/>
          <a:p>
            <a:pPr algn="ctr">
              <a:defRPr sz="1300" b="1">
                <a:solidFill>
                  <a:srgbClr val="FFFFFF"/>
                </a:solidFill>
                <a:latin typeface="Arial"/>
              </a:defRPr>
            </a:pPr>
            <a:r>
              <a:t>LUYỆN TẬP NHANH 🎯</a:t>
            </a:r>
          </a:p>
        </p:txBody>
      </p:sp>
      <p:sp>
        <p:nvSpPr>
          <p:cNvPr id="5" name="Rounded Rectangle 4"/>
          <p:cNvSpPr/>
          <p:nvPr/>
        </p:nvSpPr>
        <p:spPr>
          <a:xfrm>
            <a:off x="365760" y="1554480"/>
            <a:ext cx="11247120" cy="1005839"/>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1554480"/>
            <a:ext cx="182880" cy="1005839"/>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10698480" cy="822960"/>
          </a:xfrm>
          <a:prstGeom prst="rect">
            <a:avLst/>
          </a:prstGeom>
          <a:noFill/>
        </p:spPr>
        <p:txBody>
          <a:bodyPr wrap="square" lIns="73152" rIns="73152">
            <a:spAutoFit/>
          </a:bodyPr>
          <a:lstStyle/>
          <a:p>
            <a:pPr algn="l">
              <a:defRPr sz="1600" b="1">
                <a:solidFill>
                  <a:srgbClr val="0F172A"/>
                </a:solidFill>
                <a:latin typeface="Arial"/>
              </a:defRPr>
            </a:pPr>
            <a:r>
              <a:t>❓ Địa chỉ website chính thức của Sở Du lịch Hà Nội để tìm kiếm thông tin Thủ đô là gì?</a:t>
            </a:r>
          </a:p>
        </p:txBody>
      </p:sp>
      <p:sp>
        <p:nvSpPr>
          <p:cNvPr id="8" name="Rounded Rectangle 7"/>
          <p:cNvSpPr/>
          <p:nvPr/>
        </p:nvSpPr>
        <p:spPr>
          <a:xfrm>
            <a:off x="365760" y="269748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926080"/>
            <a:ext cx="822960" cy="822960"/>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108960"/>
            <a:ext cx="822960" cy="457200"/>
          </a:xfrm>
          <a:prstGeom prst="rect">
            <a:avLst/>
          </a:prstGeom>
          <a:noFill/>
        </p:spPr>
        <p:txBody>
          <a:bodyPr wrap="square" lIns="73152" rIns="73152">
            <a:spAutoFit/>
          </a:bodyPr>
          <a:lstStyle/>
          <a:p>
            <a:pPr algn="ctr">
              <a:defRPr sz="1800" b="1">
                <a:solidFill>
                  <a:srgbClr val="FFFFFF"/>
                </a:solidFill>
                <a:latin typeface="Arial"/>
              </a:defRPr>
            </a:pPr>
            <a:r>
              <a:t>A.</a:t>
            </a:r>
          </a:p>
        </p:txBody>
      </p:sp>
      <p:sp>
        <p:nvSpPr>
          <p:cNvPr id="11" name="TextBox 10"/>
          <p:cNvSpPr txBox="1"/>
          <p:nvPr/>
        </p:nvSpPr>
        <p:spPr>
          <a:xfrm>
            <a:off x="1508760" y="2880360"/>
            <a:ext cx="4160520" cy="1005839"/>
          </a:xfrm>
          <a:prstGeom prst="rect">
            <a:avLst/>
          </a:prstGeom>
          <a:noFill/>
        </p:spPr>
        <p:txBody>
          <a:bodyPr wrap="square" lIns="73152" rIns="73152">
            <a:spAutoFit/>
          </a:bodyPr>
          <a:lstStyle/>
          <a:p>
            <a:pPr algn="l">
              <a:defRPr sz="1400" b="0">
                <a:solidFill>
                  <a:srgbClr val="0F172A"/>
                </a:solidFill>
                <a:latin typeface="Arial"/>
              </a:defRPr>
            </a:pPr>
            <a:r>
              <a:t>sodulich.hanoi.gov.vn</a:t>
            </a:r>
          </a:p>
        </p:txBody>
      </p:sp>
      <p:sp>
        <p:nvSpPr>
          <p:cNvPr id="12" name="Rounded Rectangle 11"/>
          <p:cNvSpPr/>
          <p:nvPr/>
        </p:nvSpPr>
        <p:spPr>
          <a:xfrm>
            <a:off x="6172200" y="269748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5080" y="2926080"/>
            <a:ext cx="822960" cy="8229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108960"/>
            <a:ext cx="822960" cy="457200"/>
          </a:xfrm>
          <a:prstGeom prst="rect">
            <a:avLst/>
          </a:prstGeom>
          <a:noFill/>
        </p:spPr>
        <p:txBody>
          <a:bodyPr wrap="square" lIns="73152" rIns="73152">
            <a:spAutoFit/>
          </a:bodyPr>
          <a:lstStyle/>
          <a:p>
            <a:pPr algn="ctr">
              <a:defRPr sz="1800" b="1">
                <a:solidFill>
                  <a:srgbClr val="FFFFFF"/>
                </a:solidFill>
                <a:latin typeface="Arial"/>
              </a:defRPr>
            </a:pPr>
            <a:r>
              <a:t>B.</a:t>
            </a:r>
          </a:p>
        </p:txBody>
      </p:sp>
      <p:sp>
        <p:nvSpPr>
          <p:cNvPr id="15" name="TextBox 14"/>
          <p:cNvSpPr txBox="1"/>
          <p:nvPr/>
        </p:nvSpPr>
        <p:spPr>
          <a:xfrm>
            <a:off x="7315200" y="2880360"/>
            <a:ext cx="4160520" cy="1005839"/>
          </a:xfrm>
          <a:prstGeom prst="rect">
            <a:avLst/>
          </a:prstGeom>
          <a:noFill/>
        </p:spPr>
        <p:txBody>
          <a:bodyPr wrap="square" lIns="73152" rIns="73152">
            <a:spAutoFit/>
          </a:bodyPr>
          <a:lstStyle/>
          <a:p>
            <a:pPr algn="l">
              <a:defRPr sz="1400" b="0">
                <a:solidFill>
                  <a:srgbClr val="0F172A"/>
                </a:solidFill>
                <a:latin typeface="Arial"/>
              </a:defRPr>
            </a:pPr>
            <a:r>
              <a:t>facebook.com/dulichhanoi</a:t>
            </a:r>
          </a:p>
        </p:txBody>
      </p:sp>
      <p:sp>
        <p:nvSpPr>
          <p:cNvPr id="16" name="Rounded Rectangle 15"/>
          <p:cNvSpPr/>
          <p:nvPr/>
        </p:nvSpPr>
        <p:spPr>
          <a:xfrm>
            <a:off x="365760" y="420624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4434840"/>
            <a:ext cx="822960" cy="82296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17720"/>
            <a:ext cx="822960" cy="457200"/>
          </a:xfrm>
          <a:prstGeom prst="rect">
            <a:avLst/>
          </a:prstGeom>
          <a:noFill/>
        </p:spPr>
        <p:txBody>
          <a:bodyPr wrap="square" lIns="73152" rIns="73152">
            <a:spAutoFit/>
          </a:bodyPr>
          <a:lstStyle/>
          <a:p>
            <a:pPr algn="ctr">
              <a:defRPr sz="1800" b="1">
                <a:solidFill>
                  <a:srgbClr val="FFFFFF"/>
                </a:solidFill>
                <a:latin typeface="Arial"/>
              </a:defRPr>
            </a:pPr>
            <a:r>
              <a:t>C.</a:t>
            </a:r>
          </a:p>
        </p:txBody>
      </p:sp>
      <p:sp>
        <p:nvSpPr>
          <p:cNvPr id="19" name="TextBox 18"/>
          <p:cNvSpPr txBox="1"/>
          <p:nvPr/>
        </p:nvSpPr>
        <p:spPr>
          <a:xfrm>
            <a:off x="1508760" y="4389120"/>
            <a:ext cx="4160520" cy="1005840"/>
          </a:xfrm>
          <a:prstGeom prst="rect">
            <a:avLst/>
          </a:prstGeom>
          <a:noFill/>
        </p:spPr>
        <p:txBody>
          <a:bodyPr wrap="square" lIns="73152" rIns="73152">
            <a:spAutoFit/>
          </a:bodyPr>
          <a:lstStyle/>
          <a:p>
            <a:pPr algn="l">
              <a:defRPr sz="1400" b="0">
                <a:solidFill>
                  <a:srgbClr val="0F172A"/>
                </a:solidFill>
                <a:latin typeface="Arial"/>
              </a:defRPr>
            </a:pPr>
            <a:r>
              <a:t>dulichgiare.net</a:t>
            </a:r>
          </a:p>
        </p:txBody>
      </p:sp>
      <p:sp>
        <p:nvSpPr>
          <p:cNvPr id="20" name="Rounded Rectangle 19"/>
          <p:cNvSpPr/>
          <p:nvPr/>
        </p:nvSpPr>
        <p:spPr>
          <a:xfrm>
            <a:off x="6172200" y="4206240"/>
            <a:ext cx="5440680" cy="1325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55080" y="4434840"/>
            <a:ext cx="822960" cy="8229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617720"/>
            <a:ext cx="822960" cy="457200"/>
          </a:xfrm>
          <a:prstGeom prst="rect">
            <a:avLst/>
          </a:prstGeom>
          <a:noFill/>
        </p:spPr>
        <p:txBody>
          <a:bodyPr wrap="square" lIns="73152" rIns="73152">
            <a:spAutoFit/>
          </a:bodyPr>
          <a:lstStyle/>
          <a:p>
            <a:pPr algn="ctr">
              <a:defRPr sz="1800" b="1">
                <a:solidFill>
                  <a:srgbClr val="FFFFFF"/>
                </a:solidFill>
                <a:latin typeface="Arial"/>
              </a:defRPr>
            </a:pPr>
            <a:r>
              <a:t>D.</a:t>
            </a:r>
          </a:p>
        </p:txBody>
      </p:sp>
      <p:sp>
        <p:nvSpPr>
          <p:cNvPr id="23" name="TextBox 22"/>
          <p:cNvSpPr txBox="1"/>
          <p:nvPr/>
        </p:nvSpPr>
        <p:spPr>
          <a:xfrm>
            <a:off x="7315200" y="4389120"/>
            <a:ext cx="4160520" cy="1005840"/>
          </a:xfrm>
          <a:prstGeom prst="rect">
            <a:avLst/>
          </a:prstGeom>
          <a:noFill/>
        </p:spPr>
        <p:txBody>
          <a:bodyPr wrap="square" lIns="73152" rIns="73152">
            <a:spAutoFit/>
          </a:bodyPr>
          <a:lstStyle/>
          <a:p>
            <a:pPr algn="l">
              <a:defRPr sz="1400" b="0">
                <a:solidFill>
                  <a:srgbClr val="0F172A"/>
                </a:solidFill>
                <a:latin typeface="Arial"/>
              </a:defRPr>
            </a:pPr>
            <a:r>
              <a:t>thongtintintuc24h.com</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51560"/>
            <a:ext cx="12188952" cy="4754879"/>
          </a:xfrm>
          <a:prstGeom prst="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1508760"/>
            <a:ext cx="8897112" cy="3794760"/>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508760"/>
            <a:ext cx="8897112" cy="22860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74519"/>
            <a:ext cx="8531352" cy="640080"/>
          </a:xfrm>
          <a:prstGeom prst="rect">
            <a:avLst/>
          </a:prstGeom>
          <a:noFill/>
        </p:spPr>
        <p:txBody>
          <a:bodyPr wrap="square" lIns="73152" rIns="73152">
            <a:spAutoFit/>
          </a:bodyPr>
          <a:lstStyle/>
          <a:p>
            <a:pPr algn="ctr">
              <a:defRPr sz="2300" b="1">
                <a:solidFill>
                  <a:srgbClr val="9F1239"/>
                </a:solidFill>
                <a:latin typeface="Arial"/>
              </a:defRPr>
            </a:pPr>
            <a:r>
              <a:t>HOÀN THÀNH CHỦ ĐỀ 3 - BÀI 3! 🚀</a:t>
            </a:r>
          </a:p>
        </p:txBody>
      </p:sp>
      <p:sp>
        <p:nvSpPr>
          <p:cNvPr id="6" name="TextBox 5"/>
          <p:cNvSpPr txBox="1"/>
          <p:nvPr/>
        </p:nvSpPr>
        <p:spPr>
          <a:xfrm>
            <a:off x="2011680" y="2606040"/>
            <a:ext cx="8165592" cy="548640"/>
          </a:xfrm>
          <a:prstGeom prst="rect">
            <a:avLst/>
          </a:prstGeom>
          <a:noFill/>
        </p:spPr>
        <p:txBody>
          <a:bodyPr wrap="square" lIns="73152" rIns="73152">
            <a:spAutoFit/>
          </a:bodyPr>
          <a:lstStyle/>
          <a:p>
            <a:pPr algn="ctr">
              <a:defRPr sz="1600" b="0">
                <a:solidFill>
                  <a:srgbClr val="0F172A"/>
                </a:solidFill>
                <a:latin typeface="Arial"/>
              </a:defRPr>
            </a:pPr>
            <a:r>
              <a:t>1. Thực hành ở nhà: Giúp mẹ tìm hiểu thông tin một bộ truyện tranh hay để mua tặng sinh nhật.</a:t>
            </a:r>
          </a:p>
        </p:txBody>
      </p:sp>
      <p:sp>
        <p:nvSpPr>
          <p:cNvPr id="7" name="TextBox 6"/>
          <p:cNvSpPr txBox="1"/>
          <p:nvPr/>
        </p:nvSpPr>
        <p:spPr>
          <a:xfrm>
            <a:off x="2011680" y="3154680"/>
            <a:ext cx="8165592" cy="548639"/>
          </a:xfrm>
          <a:prstGeom prst="rect">
            <a:avLst/>
          </a:prstGeom>
          <a:noFill/>
        </p:spPr>
        <p:txBody>
          <a:bodyPr wrap="square" lIns="73152" rIns="73152">
            <a:spAutoFit/>
          </a:bodyPr>
          <a:lstStyle/>
          <a:p>
            <a:pPr algn="ctr">
              <a:defRPr sz="1600" b="0">
                <a:solidFill>
                  <a:srgbClr val="0F172A"/>
                </a:solidFill>
                <a:latin typeface="Arial"/>
              </a:defRPr>
            </a:pPr>
            <a:r>
              <a:t>2. Nhớ ghi lại tên truyện, giá tiền và địa chỉ bán uy tín vào tệp văn bản nhé.</a:t>
            </a:r>
          </a:p>
        </p:txBody>
      </p:sp>
      <p:sp>
        <p:nvSpPr>
          <p:cNvPr id="8" name="TextBox 7"/>
          <p:cNvSpPr txBox="1"/>
          <p:nvPr/>
        </p:nvSpPr>
        <p:spPr>
          <a:xfrm>
            <a:off x="2011680" y="3703320"/>
            <a:ext cx="8165592" cy="548639"/>
          </a:xfrm>
          <a:prstGeom prst="rect">
            <a:avLst/>
          </a:prstGeom>
          <a:noFill/>
        </p:spPr>
        <p:txBody>
          <a:bodyPr wrap="square" lIns="73152" rIns="73152">
            <a:spAutoFit/>
          </a:bodyPr>
          <a:lstStyle/>
          <a:p>
            <a:pPr algn="ctr">
              <a:defRPr sz="1600" b="0">
                <a:solidFill>
                  <a:srgbClr val="0F172A"/>
                </a:solidFill>
                <a:latin typeface="Arial"/>
              </a:defRPr>
            </a:pPr>
            <a:r>
              <a:t>3. Tắt máy tính an toàn, xếp gọn bàn ghế phòng học trước khi ra về!</a:t>
            </a:r>
          </a:p>
        </p:txBody>
      </p:sp>
      <p:sp>
        <p:nvSpPr>
          <p:cNvPr id="9" name="TextBox 8"/>
          <p:cNvSpPr txBox="1"/>
          <p:nvPr/>
        </p:nvSpPr>
        <p:spPr>
          <a:xfrm>
            <a:off x="1828800" y="4434840"/>
            <a:ext cx="8531352" cy="457200"/>
          </a:xfrm>
          <a:prstGeom prst="rect">
            <a:avLst/>
          </a:prstGeom>
          <a:noFill/>
        </p:spPr>
        <p:txBody>
          <a:bodyPr wrap="square" lIns="73152" rIns="73152">
            <a:spAutoFit/>
          </a:bodyPr>
          <a:lstStyle/>
          <a:p>
            <a:pPr algn="ctr">
              <a:defRPr sz="1500" b="1">
                <a:solidFill>
                  <a:srgbClr val="F43F5E"/>
                </a:solidFill>
                <a:latin typeface="Arial"/>
              </a:defRPr>
            </a:pPr>
            <a:r>
              <a:t>Chúc các em có những giờ học Tin học thật hào hứng và bổ ích! 🚀</a:t>
            </a:r>
          </a:p>
        </p:txBody>
      </p:sp>
    </p:spTree>
  </p:cSld>
  <p:clrMapOvr>
    <a:masterClrMapping/>
  </p:clrMapOvr>
  <p:transition spd="med">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17</Words>
  <Application>Microsoft Office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Monotype Corsiva</vt:lpstr>
      <vt:lpstr>Office Theme</vt:lpstr>
      <vt:lpstr>PowerPoint Presentation</vt:lpstr>
      <vt:lpstr>Môn Tin học lớp </vt:lpstr>
      <vt:lpstr>Môn Tin học lớp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Nguyên Đậu</dc:creator>
  <cp:lastModifiedBy>Nguyên Đậu</cp:lastModifiedBy>
  <cp:revision>4</cp:revision>
  <dcterms:created xsi:type="dcterms:W3CDTF">2026-08-04T15:56:52Z</dcterms:created>
  <dcterms:modified xsi:type="dcterms:W3CDTF">2026-08-04T16:29:42Z</dcterms:modified>
</cp:coreProperties>
</file>