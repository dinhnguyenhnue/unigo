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lassroom_computer_lab_17858619194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120640" cy="4206240"/>
          </a:xfrm>
          <a:prstGeom prst="rect">
            <a:avLst/>
          </a:prstGeom>
        </p:spPr>
      </p:pic>
      <p:grpSp>
        <p:nvGrpSpPr>
          <p:cNvPr id="5" name="Card Group 5"/>
          <p:cNvGrpSpPr/>
          <p:nvPr/>
        </p:nvGrpSpPr>
        <p:grpSpPr>
          <a:xfrm>
            <a:off x="548640" y="1188720"/>
            <a:ext cx="5486400" cy="4206240"/>
            <a:chOff x="548640" y="1188720"/>
            <a:chExt cx="5486400" cy="420624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1188720"/>
              <a:ext cx="5486400" cy="420624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548640" y="1188720"/>
              <a:ext cx="137160" cy="4206240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6" name="Rounded Rectangle 5"/>
          <p:cNvSpPr/>
          <p:nvPr/>
        </p:nvSpPr>
        <p:spPr>
          <a:xfrm>
            <a:off x="1005840" y="1371600"/>
            <a:ext cx="4114800" cy="457200"/>
          </a:xfrm>
          <a:prstGeom prst="roundRect">
            <a:avLst>
              <a:gd name="adj" fmla="val 2000"/>
            </a:avLst>
          </a:prstGeom>
          <a:solidFill>
            <a:srgbClr val="115E59"/>
          </a:solidFill>
          <a:ln w="9525">
            <a:solidFill>
              <a:srgbClr val="115E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TIN HỌC 5  •  NĂM HỌC 2026 – 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15E59"/>
                </a:solidFill>
                <a:latin typeface="Times New Roman"/>
              </a:rPr>
              <a:t>Tiết 0 — Định hướng</a:t>
            </a:r>
          </a:p>
          <a:p>
            <a:pPr>
              <a:spcBef>
                <a:spcPts val="600"/>
              </a:spcBef>
            </a:pPr>
            <a:r>
              <a:rPr sz="2000" b="1" i="0">
                <a:solidFill>
                  <a:srgbClr val="E11D48"/>
                </a:solidFill>
                <a:latin typeface="Times New Roman"/>
              </a:rPr>
              <a:t>Ky nang so the ky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0233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14B8A6"/>
                </a:solidFill>
                <a:latin typeface="Times New Roman"/>
              </a:rPr>
              <a:t>Trường TH &amp; THCS UNIGO</a:t>
            </a:r>
          </a:p>
          <a:p>
            <a:pPr>
              <a:spcBef>
                <a:spcPts val="400"/>
              </a:spcBef>
            </a:pPr>
            <a:r>
              <a:rPr sz="1500" b="0" i="1">
                <a:solidFill>
                  <a:srgbClr val="64748B"/>
                </a:solidFill>
                <a:latin typeface="Times New Roman"/>
              </a:rPr>
              <a:t>Giáo viên: Đậu Đình Nguyên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tudent_learning_goals_17858619614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3840480" cy="4206240"/>
          </a:xfrm>
          <a:prstGeom prst="rect">
            <a:avLst/>
          </a:prstGeom>
        </p:spPr>
      </p:pic>
      <p:grpSp>
        <p:nvGrpSpPr>
          <p:cNvPr id="5" name="Card Group 5"/>
          <p:cNvGrpSpPr/>
          <p:nvPr/>
        </p:nvGrpSpPr>
        <p:grpSpPr>
          <a:xfrm>
            <a:off x="4572000" y="1188720"/>
            <a:ext cx="6949440" cy="4389120"/>
            <a:chOff x="4572000" y="1188720"/>
            <a:chExt cx="694944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572000" y="1188720"/>
              <a:ext cx="694944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457200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115E5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4937760" y="1371600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600" b="1" i="0">
                <a:solidFill>
                  <a:srgbClr val="115E59"/>
                </a:solidFill>
                <a:latin typeface="Times New Roman"/>
              </a:rPr>
              <a:t>🎯  Mục tiêu tiết học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11D48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Tổng quan chương trình Tin học 5.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11D48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Nội quy an toàn phòng máy tính UNIGO.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11D48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Ứng xử văn minh trên môi trường số (Digital Citizenship).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igital_devices_around_17858619293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188720"/>
            <a:ext cx="4846320" cy="4389120"/>
          </a:xfrm>
          <a:prstGeom prst="rect">
            <a:avLst/>
          </a:prstGeom>
        </p:spPr>
      </p:pic>
      <p:grpSp>
        <p:nvGrpSpPr>
          <p:cNvPr id="5" name="Card Group 5"/>
          <p:cNvGrpSpPr/>
          <p:nvPr/>
        </p:nvGrpSpPr>
        <p:grpSpPr>
          <a:xfrm>
            <a:off x="548640" y="1188720"/>
            <a:ext cx="5852160" cy="4389120"/>
            <a:chOff x="548640" y="1188720"/>
            <a:chExt cx="585216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1188720"/>
              <a:ext cx="585216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54864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14B8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914400" y="1371600"/>
            <a:ext cx="5212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600" b="1" i="0">
                <a:solidFill>
                  <a:srgbClr val="14B8A6"/>
                </a:solidFill>
                <a:latin typeface="Times New Roman"/>
              </a:rPr>
              <a:t>🎮  Thế giới số quanh em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14B8A6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Thiết bị nào quanh em? (máy tính, tablet...)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14B8A6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Em đã dùng máy tính để làm gì?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14B8A6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Tin học 5: "người dùng" → "nhà sáng tạo số"!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in_hoc_mindmap_17858619804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4114800" cy="4023360"/>
          </a:xfrm>
          <a:prstGeom prst="rect">
            <a:avLst/>
          </a:prstGeom>
        </p:spPr>
      </p:pic>
      <p:grpSp>
        <p:nvGrpSpPr>
          <p:cNvPr id="5" name="Card Group 5"/>
          <p:cNvGrpSpPr/>
          <p:nvPr/>
        </p:nvGrpSpPr>
        <p:grpSpPr>
          <a:xfrm>
            <a:off x="4754880" y="1188720"/>
            <a:ext cx="6766560" cy="4389120"/>
            <a:chOff x="4754880" y="1188720"/>
            <a:chExt cx="676656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754880" y="1188720"/>
              <a:ext cx="676656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475488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5120640" y="1371600"/>
            <a:ext cx="61264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400" b="1" i="0">
                <a:solidFill>
                  <a:srgbClr val="E11D48"/>
                </a:solidFill>
                <a:latin typeface="Times New Roman"/>
              </a:rPr>
              <a:t>📚  Chương trình Tin học 5</a:t>
            </a:r>
          </a:p>
          <a:p>
            <a:pPr>
              <a:lnSpc>
                <a:spcPts val="2400"/>
              </a:lnSpc>
              <a:spcAft>
                <a:spcPts val="800"/>
              </a:spcAft>
            </a:pPr>
            <a:r>
              <a:rPr sz="1400" b="1" i="0">
                <a:solidFill>
                  <a:srgbClr val="115E59"/>
                </a:solidFill>
                <a:latin typeface="Times New Roman"/>
              </a:rPr>
              <a:t>●  </a:t>
            </a:r>
            <a:r>
              <a:rPr sz="1600" b="0" i="0">
                <a:solidFill>
                  <a:srgbClr val="1E293B"/>
                </a:solidFill>
                <a:latin typeface="Times New Roman"/>
              </a:rPr>
              <a:t>Máy tính &amp; Em (Computer &amp; Me)</a:t>
            </a:r>
          </a:p>
          <a:p>
            <a:pPr>
              <a:lnSpc>
                <a:spcPts val="2400"/>
              </a:lnSpc>
              <a:spcAft>
                <a:spcPts val="800"/>
              </a:spcAft>
            </a:pPr>
            <a:r>
              <a:rPr sz="1400" b="1" i="0">
                <a:solidFill>
                  <a:srgbClr val="115E59"/>
                </a:solidFill>
                <a:latin typeface="Times New Roman"/>
              </a:rPr>
              <a:t>●  </a:t>
            </a:r>
            <a:r>
              <a:rPr sz="1600" b="0" i="0">
                <a:solidFill>
                  <a:srgbClr val="1E293B"/>
                </a:solidFill>
                <a:latin typeface="Times New Roman"/>
              </a:rPr>
              <a:t>Internet &amp; Mạng (Internet Basics)</a:t>
            </a:r>
          </a:p>
          <a:p>
            <a:pPr>
              <a:lnSpc>
                <a:spcPts val="2400"/>
              </a:lnSpc>
              <a:spcAft>
                <a:spcPts val="800"/>
              </a:spcAft>
            </a:pPr>
            <a:r>
              <a:rPr sz="1400" b="1" i="0">
                <a:solidFill>
                  <a:srgbClr val="115E59"/>
                </a:solidFill>
                <a:latin typeface="Times New Roman"/>
              </a:rPr>
              <a:t>●  </a:t>
            </a:r>
            <a:r>
              <a:rPr sz="1600" b="0" i="0">
                <a:solidFill>
                  <a:srgbClr val="1E293B"/>
                </a:solidFill>
                <a:latin typeface="Times New Roman"/>
              </a:rPr>
              <a:t>Lưu trữ dữ liệu (Data Organization)</a:t>
            </a:r>
          </a:p>
          <a:p>
            <a:pPr>
              <a:lnSpc>
                <a:spcPts val="2400"/>
              </a:lnSpc>
              <a:spcAft>
                <a:spcPts val="800"/>
              </a:spcAft>
            </a:pPr>
            <a:r>
              <a:rPr sz="1400" b="1" i="0">
                <a:solidFill>
                  <a:srgbClr val="115E59"/>
                </a:solidFill>
                <a:latin typeface="Times New Roman"/>
              </a:rPr>
              <a:t>●  </a:t>
            </a:r>
            <a:r>
              <a:rPr sz="1600" b="0" i="0">
                <a:solidFill>
                  <a:srgbClr val="1E293B"/>
                </a:solidFill>
                <a:latin typeface="Times New Roman"/>
              </a:rPr>
              <a:t>Đạo đức số (Digital Ethics)</a:t>
            </a:r>
          </a:p>
          <a:p>
            <a:pPr>
              <a:lnSpc>
                <a:spcPts val="2400"/>
              </a:lnSpc>
              <a:spcAft>
                <a:spcPts val="800"/>
              </a:spcAft>
            </a:pPr>
            <a:r>
              <a:rPr sz="1400" b="1" i="0">
                <a:solidFill>
                  <a:srgbClr val="115E59"/>
                </a:solidFill>
                <a:latin typeface="Times New Roman"/>
              </a:rPr>
              <a:t>●  </a:t>
            </a:r>
            <a:r>
              <a:rPr sz="1600" b="0" i="0">
                <a:solidFill>
                  <a:srgbClr val="1E293B"/>
                </a:solidFill>
                <a:latin typeface="Times New Roman"/>
              </a:rPr>
              <a:t>Ứng dụng Tin học (IT Apps)</a:t>
            </a:r>
          </a:p>
          <a:p>
            <a:pPr>
              <a:lnSpc>
                <a:spcPts val="2400"/>
              </a:lnSpc>
              <a:spcAft>
                <a:spcPts val="800"/>
              </a:spcAft>
            </a:pPr>
            <a:r>
              <a:rPr sz="1400" b="1" i="0">
                <a:solidFill>
                  <a:srgbClr val="115E59"/>
                </a:solidFill>
                <a:latin typeface="Times New Roman"/>
              </a:rPr>
              <a:t>●  </a:t>
            </a:r>
            <a:r>
              <a:rPr sz="1600" b="0" i="0">
                <a:solidFill>
                  <a:srgbClr val="1E293B"/>
                </a:solidFill>
                <a:latin typeface="Times New Roman"/>
              </a:rPr>
              <a:t>Giải quyết vấn đề &amp; Lập trình (Coding)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rules_before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188720"/>
            <a:ext cx="4937760" cy="4389120"/>
          </a:xfrm>
          <a:prstGeom prst="rect">
            <a:avLst/>
          </a:prstGeom>
        </p:spPr>
      </p:pic>
      <p:grpSp>
        <p:nvGrpSpPr>
          <p:cNvPr id="5" name="Card Group 5"/>
          <p:cNvGrpSpPr/>
          <p:nvPr/>
        </p:nvGrpSpPr>
        <p:grpSpPr>
          <a:xfrm>
            <a:off x="457200" y="1188720"/>
            <a:ext cx="5760720" cy="4389120"/>
            <a:chOff x="457200" y="1188720"/>
            <a:chExt cx="576072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57200" y="1188720"/>
              <a:ext cx="576072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45720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EA580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822960" y="13716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400" b="1" i="0">
                <a:solidFill>
                  <a:srgbClr val="EA580C"/>
                </a:solidFill>
                <a:latin typeface="Times New Roman"/>
              </a:rPr>
              <a:t>⚠️  I. Trước khi vào phòng máy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Trang phục chỉnh tề; để balo, giày dép đúng nơi quy định.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Chỉ mang sách, vở, bút và tài liệu được phép vào vị trí ngồi.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NGHIÊM CẤM mang đồ ăn, thức uống, kẹo cao su, chất dễ cháy nổ vào phòng máy.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rules_during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188720"/>
            <a:ext cx="4937760" cy="4389120"/>
          </a:xfrm>
          <a:prstGeom prst="rect">
            <a:avLst/>
          </a:prstGeom>
        </p:spPr>
      </p:pic>
      <p:grpSp>
        <p:nvGrpSpPr>
          <p:cNvPr id="5" name="Card Group 5"/>
          <p:cNvGrpSpPr/>
          <p:nvPr/>
        </p:nvGrpSpPr>
        <p:grpSpPr>
          <a:xfrm>
            <a:off x="457200" y="1188720"/>
            <a:ext cx="5760720" cy="4389120"/>
            <a:chOff x="457200" y="1188720"/>
            <a:chExt cx="576072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57200" y="1188720"/>
              <a:ext cx="576072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45720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EA580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822960" y="13716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400" b="1" i="0">
                <a:solidFill>
                  <a:srgbClr val="EA580C"/>
                </a:solidFill>
                <a:latin typeface="Times New Roman"/>
              </a:rPr>
              <a:t>⚠️  II. Trong giờ học</a:t>
            </a:r>
          </a:p>
          <a:p>
            <a:pPr>
              <a:lnSpc>
                <a:spcPts val="24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600" b="0" i="0">
                <a:solidFill>
                  <a:srgbClr val="1E293B"/>
                </a:solidFill>
                <a:latin typeface="Times New Roman"/>
              </a:rPr>
              <a:t>Ngồi đúng vị trí, đúng máy tính được phân công.</a:t>
            </a:r>
          </a:p>
          <a:p>
            <a:pPr>
              <a:lnSpc>
                <a:spcPts val="24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600" b="0" i="0">
                <a:solidFill>
                  <a:srgbClr val="1E293B"/>
                </a:solidFill>
                <a:latin typeface="Times New Roman"/>
              </a:rPr>
              <a:t>Kiểm tra máy trước khi bật; không tự ý tháo lắp, cài/gỡ phần mềm.</a:t>
            </a:r>
          </a:p>
          <a:p>
            <a:pPr>
              <a:lnSpc>
                <a:spcPts val="24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600" b="0" i="0">
                <a:solidFill>
                  <a:srgbClr val="1E293B"/>
                </a:solidFill>
                <a:latin typeface="Times New Roman"/>
              </a:rPr>
              <a:t>Chỉ truy cập nội dung phục vụ bài học; cấm chơi game, xem phim.</a:t>
            </a:r>
          </a:p>
          <a:p>
            <a:pPr>
              <a:lnSpc>
                <a:spcPts val="24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600" b="0" i="0">
                <a:solidFill>
                  <a:srgbClr val="1E293B"/>
                </a:solidFill>
                <a:latin typeface="Times New Roman"/>
              </a:rPr>
              <a:t>Giữ trật tự, không nói chuyện riêng, không đi lại tự 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rules_after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188720"/>
            <a:ext cx="4937760" cy="4389120"/>
          </a:xfrm>
          <a:prstGeom prst="rect">
            <a:avLst/>
          </a:prstGeom>
        </p:spPr>
      </p:pic>
      <p:grpSp>
        <p:nvGrpSpPr>
          <p:cNvPr id="5" name="Card Group 5"/>
          <p:cNvGrpSpPr/>
          <p:nvPr/>
        </p:nvGrpSpPr>
        <p:grpSpPr>
          <a:xfrm>
            <a:off x="457200" y="1188720"/>
            <a:ext cx="5760720" cy="4389120"/>
            <a:chOff x="457200" y="1188720"/>
            <a:chExt cx="576072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57200" y="1188720"/>
              <a:ext cx="576072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45720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EA580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822960" y="13716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400" b="1" i="0">
                <a:solidFill>
                  <a:srgbClr val="EA580C"/>
                </a:solidFill>
                <a:latin typeface="Times New Roman"/>
              </a:rPr>
              <a:t>⚠️  III. Sau khi kết thúc giờ học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Tắt máy đúng quy trình (Shutdown); KHÔNG ngắt nguồn đột ngột.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Bàn phím, chuột để ngay ngắn; ghế đẩy sát vào gầm bàn.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Thu gom rác cá nhân, giấy nháp bỏ vào thùng rác.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nternet_safety_kids_17858619417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3931920" cy="4114800"/>
          </a:xfrm>
          <a:prstGeom prst="rect">
            <a:avLst/>
          </a:prstGeom>
        </p:spPr>
      </p:pic>
      <p:grpSp>
        <p:nvGrpSpPr>
          <p:cNvPr id="5" name="Card Group 5"/>
          <p:cNvGrpSpPr/>
          <p:nvPr/>
        </p:nvGrpSpPr>
        <p:grpSpPr>
          <a:xfrm>
            <a:off x="4572000" y="1188720"/>
            <a:ext cx="6949440" cy="4389120"/>
            <a:chOff x="4572000" y="1188720"/>
            <a:chExt cx="694944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572000" y="1188720"/>
              <a:ext cx="694944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457200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14B8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4937760" y="1371600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400" b="1" i="0">
                <a:solidFill>
                  <a:srgbClr val="14B8A6"/>
                </a:solidFill>
                <a:latin typeface="Times New Roman"/>
              </a:rPr>
              <a:t>🛡️  An toàn số (Digital Safety)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14B8A6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Giữ bí mật mật khẩu (password).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14B8A6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Không chia sẻ thông tin cá nhân.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14B8A6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Cảnh giác link lạ, file lạ.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14B8A6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Ứng xử văn minh, không bắt nạt mạng.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Card Group 4"/>
          <p:cNvGrpSpPr/>
          <p:nvPr/>
        </p:nvGrpSpPr>
        <p:grpSpPr>
          <a:xfrm>
            <a:off x="457200" y="1188720"/>
            <a:ext cx="5394960" cy="4389120"/>
            <a:chOff x="457200" y="1188720"/>
            <a:chExt cx="5394960" cy="4389120"/>
          </a:xfrm>
        </p:grpSpPr>
        <p:sp>
          <p:nvSpPr>
            <p:cNvPr id="2" name="Rounded Rectangle 1"/>
            <p:cNvSpPr/>
            <p:nvPr/>
          </p:nvSpPr>
          <p:spPr>
            <a:xfrm>
              <a:off x="457200" y="1188720"/>
              <a:ext cx="539496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" name="Rounded Rectangle 2"/>
            <p:cNvSpPr/>
            <p:nvPr/>
          </p:nvSpPr>
          <p:spPr>
            <a:xfrm>
              <a:off x="45720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115E5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822960" y="13716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400" b="1" i="0">
                <a:solidFill>
                  <a:srgbClr val="115E59"/>
                </a:solidFill>
                <a:latin typeface="Times New Roman"/>
              </a:rPr>
              <a:t>📊  Cách đánh giá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115E59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Đánh giá thường xuyên (ĐGTX).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115E59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Đánh giá định kỳ (4 lần/năm).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115E59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Sản phẩm dự án nhóm.</a:t>
            </a:r>
          </a:p>
        </p:txBody>
      </p:sp>
      <p:grpSp>
        <p:nvGrpSpPr>
          <p:cNvPr id="8" name="Card Group 8"/>
          <p:cNvGrpSpPr/>
          <p:nvPr/>
        </p:nvGrpSpPr>
        <p:grpSpPr>
          <a:xfrm>
            <a:off x="6217920" y="1188720"/>
            <a:ext cx="5394960" cy="4389120"/>
            <a:chOff x="6217920" y="1188720"/>
            <a:chExt cx="5394960" cy="4389120"/>
          </a:xfrm>
        </p:grpSpPr>
        <p:sp>
          <p:nvSpPr>
            <p:cNvPr id="6" name="Rounded Rectangle 5"/>
            <p:cNvSpPr/>
            <p:nvPr/>
          </p:nvSpPr>
          <p:spPr>
            <a:xfrm>
              <a:off x="6217920" y="1188720"/>
              <a:ext cx="539496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21792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14B8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6583680" y="13716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400" b="1" i="0">
                <a:solidFill>
                  <a:srgbClr val="14B8A6"/>
                </a:solidFill>
                <a:latin typeface="Times New Roman"/>
              </a:rPr>
              <a:t>📚  Đồ dùng cần có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14B8A6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SGK Tin học 5.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14B8A6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Vở ghi &amp; sổ tay cá nhân.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14B8A6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USB / thẻ nhớ (THCS).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Card Group 4"/>
          <p:cNvGrpSpPr/>
          <p:nvPr/>
        </p:nvGrpSpPr>
        <p:grpSpPr>
          <a:xfrm>
            <a:off x="457200" y="1188720"/>
            <a:ext cx="11247120" cy="4389120"/>
            <a:chOff x="457200" y="1188720"/>
            <a:chExt cx="11247120" cy="4389120"/>
          </a:xfrm>
        </p:grpSpPr>
        <p:sp>
          <p:nvSpPr>
            <p:cNvPr id="2" name="Rounded Rectangle 1"/>
            <p:cNvSpPr/>
            <p:nvPr/>
          </p:nvSpPr>
          <p:spPr>
            <a:xfrm>
              <a:off x="457200" y="1188720"/>
              <a:ext cx="1124712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" name="Rounded Rectangle 2"/>
            <p:cNvSpPr/>
            <p:nvPr/>
          </p:nvSpPr>
          <p:spPr>
            <a:xfrm>
              <a:off x="45720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914400" y="137160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600" b="1" i="0">
                <a:solidFill>
                  <a:srgbClr val="E11D48"/>
                </a:solidFill>
                <a:latin typeface="Times New Roman"/>
              </a:rPr>
              <a:t>📝  Nhiệm vụ mở rộng (Homework)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11D48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Viết 2 mục tiêu em muốn đạt trong năm học.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11D48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Đề xuất 1 sản phẩm số muốn tự tạo.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11D48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Cam kết thực hiện nội quy phòng máy.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11D48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Về nhà: Xem trước Bài 1 trong SGK.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09160"/>
          </a:xfrm>
          <a:prstGeom prst="rect">
            <a:avLst/>
          </a:prstGeom>
          <a:solidFill>
            <a:srgbClr val="115E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5" name="Card Group 5"/>
          <p:cNvGrpSpPr/>
          <p:nvPr/>
        </p:nvGrpSpPr>
        <p:grpSpPr>
          <a:xfrm>
            <a:off x="1097280" y="1371600"/>
            <a:ext cx="9966960" cy="4114800"/>
            <a:chOff x="1097280" y="1371600"/>
            <a:chExt cx="9966960" cy="4114800"/>
          </a:xfrm>
        </p:grpSpPr>
        <p:sp>
          <p:nvSpPr>
            <p:cNvPr id="3" name="Rounded Rectangle 2"/>
            <p:cNvSpPr/>
            <p:nvPr/>
          </p:nvSpPr>
          <p:spPr>
            <a:xfrm>
              <a:off x="1097280" y="1371600"/>
              <a:ext cx="9966960" cy="41148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097280" y="1371600"/>
              <a:ext cx="164592" cy="4114800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1554480" y="1554480"/>
            <a:ext cx="9144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600" b="1" i="0">
                <a:solidFill>
                  <a:srgbClr val="115E59"/>
                </a:solidFill>
                <a:latin typeface="Times New Roman"/>
              </a:rPr>
              <a:t>📌  Ghi nhớ — Tin học 5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11D48"/>
                </a:solidFill>
                <a:latin typeface="Times New Roman"/>
              </a:rPr>
              <a:t>●  </a:t>
            </a:r>
            <a:r>
              <a:rPr sz="2000" b="0" i="0">
                <a:solidFill>
                  <a:srgbClr val="1E293B"/>
                </a:solidFill>
                <a:latin typeface="Times New Roman"/>
              </a:rPr>
              <a:t>Tin học mang đến kỹ năng số thiết thực.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11D48"/>
                </a:solidFill>
                <a:latin typeface="Times New Roman"/>
              </a:rPr>
              <a:t>●  </a:t>
            </a:r>
            <a:r>
              <a:rPr sz="2000" b="0" i="0">
                <a:solidFill>
                  <a:srgbClr val="1E293B"/>
                </a:solidFill>
                <a:latin typeface="Times New Roman"/>
              </a:rPr>
              <a:t>Tuân thủ nội quy &amp; ứng xử văn minh.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11D48"/>
                </a:solidFill>
                <a:latin typeface="Times New Roman"/>
              </a:rPr>
              <a:t>●  </a:t>
            </a:r>
            <a:r>
              <a:rPr sz="2000" b="0" i="0">
                <a:solidFill>
                  <a:srgbClr val="1E293B"/>
                </a:solidFill>
                <a:latin typeface="Times New Roman"/>
              </a:rPr>
              <a:t>Tự tin khám phá, sáng tạo!</a:t>
            </a:r>
          </a:p>
          <a:p>
            <a:pPr algn="ctr">
              <a:spcBef>
                <a:spcPts val="2000"/>
              </a:spcBef>
            </a:pPr>
            <a:r>
              <a:rPr sz="2200" b="1" i="0">
                <a:solidFill>
                  <a:srgbClr val="14B8A6"/>
                </a:solidFill>
                <a:latin typeface="Times New Roman"/>
              </a:rPr>
              <a:t>Chúc các em năm học tuyệt vời! 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568</Words>
  <Application>Microsoft Office PowerPoint</Application>
  <PresentationFormat>Widescreen</PresentationFormat>
  <Paragraphs>56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Đình</cp:lastModifiedBy>
  <cp:revision>5</cp:revision>
  <dcterms:created xsi:type="dcterms:W3CDTF">2026-08-04T15:56:52Z</dcterms:created>
  <dcterms:modified xsi:type="dcterms:W3CDTF">2026-08-11T03:18:51Z</dcterms:modified>
</cp:coreProperties>
</file>