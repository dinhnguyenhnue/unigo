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1E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4814" y="1188720"/>
            <a:ext cx="3256532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797040" y="1097280"/>
            <a:ext cx="5212080" cy="4754880"/>
          </a:xfrm>
          <a:prstGeom prst="roundRect">
            <a:avLst>
              <a:gd name="adj" fmla="val 3000"/>
            </a:avLst>
          </a:prstGeom>
          <a:noFill/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685800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4114800" cy="45720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TIN HỌC LỚP 5  •  NĂM HỌC 2026 –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91E63"/>
                </a:solidFill>
                <a:latin typeface="Times New Roman"/>
              </a:rPr>
              <a:t>Bài 1</a:t>
            </a:r>
          </a:p>
          <a:p>
            <a:pPr>
              <a:spcBef>
                <a:spcPts val="400"/>
              </a:spcBef>
            </a:pPr>
            <a:r>
              <a:rPr sz="2800" b="1">
                <a:solidFill>
                  <a:srgbClr val="3E0A22"/>
                </a:solidFill>
                <a:latin typeface="Times New Roman"/>
              </a:rPr>
              <a:t>EM CÓ THỂ LÀM GÌ VỚI MÁY TÍNH</a:t>
            </a:r>
          </a:p>
          <a:p>
            <a:pPr>
              <a:spcBef>
                <a:spcPts val="800"/>
              </a:spcBef>
            </a:pPr>
            <a:r>
              <a:rPr sz="1600" i="1">
                <a:solidFill>
                  <a:srgbClr val="666666"/>
                </a:solidFill>
                <a:latin typeface="Times New Roman"/>
              </a:rPr>
              <a:t>Chủ đề: Máy tính và cuộc sống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E0A22"/>
                </a:solidFill>
                <a:latin typeface="Times New Roman"/>
              </a:rPr>
              <a:t>Trường TH &amp; THCS UNIGO</a:t>
            </a:r>
          </a:p>
          <a:p>
            <a:r>
              <a:rPr sz="1600">
                <a:solidFill>
                  <a:srgbClr val="666666"/>
                </a:solidFill>
                <a:latin typeface="Times New Roman"/>
              </a:rPr>
              <a:t>Giáo viên: Đậu Đình Nguyên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713232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91E63"/>
                </a:solidFill>
                <a:latin typeface="Times New Roman"/>
              </a:defRPr>
            </a:pPr>
            <a:r>
              <a:t>🎯  Mục tiêu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Sau tiết học, học sinh sẽ: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Chăm chỉ: Tích cực khám phá các ứng dụng hữu ích của máy tính trong học tập.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Trách nhiệm: Sử dụng máy tính đúng mục đích, không lướt web vô ích.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Trung thực: Thành thật về thời gian và cách sử dụng máy tính.</a:t>
            </a:r>
          </a:p>
        </p:txBody>
      </p:sp>
      <p:pic>
        <p:nvPicPr>
          <p:cNvPr id="6" name="Picture 5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324" y="1188720"/>
            <a:ext cx="3126271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🎮  Khởi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Đặt câu hỏi: "Trong 1 ngày, em đã dùng máy tính/điện thoại bao nhiêu lần và để làm gì?"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Ghi nhanh ý kiến lên bảng, dẫn vào bài.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26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778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8912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📖  Máy tính trong học tập và sáng tạo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Trình chiếu: Soạn văn bản, vẽ tranh, làm slide, học tiếng Anh online, lập trình Scratch.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Thao tác nhanh demo 1-2 ứng dụng.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Kết luận: Máy tính là công cụ mạnh mẽ cho học tập và sáng tạo.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0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6052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📝  Sử dụng máy tính an toàn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Thực hiện hoạt động: Sử dụng máy tính an toàn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Học sinh làm việc theo hướng dẫn của giáo viên.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Hoàn thành sản phẩm học tập.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26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778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68912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✏️  Lập kế hoạch sử dụng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Phát mẫu lịch tuần, HS điền thời gian và mục đích dùng máy tính.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Nhận xét, tư vấn điều chỉnh cho hợp lí.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0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6052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🎯  Thực hành mở ứng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Hướng dẫn HS mở Paint, vẽ một hình tự do, lưu 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26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64008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91E63"/>
                </a:solidFill>
                <a:latin typeface="Times New Roman"/>
              </a:defRPr>
            </a:pPr>
            <a:r>
              <a:t>🚀  Vận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4. HOẠT ĐỘNG VẬN DỤNG, TRẢI NGHIỆM (5 phút)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GV: "Em hãy chọn 1 ứng dụng trên máy tính để giúp em hoàn thành một bài tập ở nhà. Chia...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Dặn dò: Áp dụng kế hoạch sử dụng máy tính đã lập, chia sẻ với bố mẹ.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188720"/>
            <a:ext cx="4922520" cy="4389120"/>
          </a:xfrm>
          <a:prstGeom prst="roundRect">
            <a:avLst>
              <a:gd name="adj" fmla="val 3000"/>
            </a:avLst>
          </a:prstGeom>
          <a:solidFill>
            <a:srgbClr val="F8F8F8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i1_p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260" y="1325880"/>
            <a:ext cx="29308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832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Times New Roman"/>
              </a:rPr>
              <a:t>📚 SGK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188720"/>
            <a:ext cx="73152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0"/>
            <a:ext cx="109728" cy="4389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91E63"/>
                </a:solidFill>
                <a:latin typeface="Times New Roman"/>
              </a:defRPr>
            </a:pPr>
            <a:r>
              <a:t>📌  Ghi nhớ —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Sau tiết học, học sinh sẽ: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Chăm chỉ: Tích cực khám phá các ứng dụng hữu ích của máy tính trong học tập.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Trách nhiệm: Sử dụng máy tính đúng mục đích, không lướt web vô ích.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E91E63"/>
                </a:solidFill>
                <a:latin typeface="Times New Roman"/>
              </a:rPr>
              <a:t>●  </a:t>
            </a:r>
            <a:r>
              <a:rPr sz="1800">
                <a:solidFill>
                  <a:srgbClr val="3E0A22"/>
                </a:solidFill>
                <a:latin typeface="Times New Roman"/>
              </a:rPr>
              <a:t>📚 Bài tập về nhà: Xem lại nội dung bài học và chuẩn bị bài tiếp theo.</a:t>
            </a:r>
          </a:p>
        </p:txBody>
      </p:sp>
      <p:pic>
        <p:nvPicPr>
          <p:cNvPr id="6" name="Picture 5" descr="bai1_p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764" y="1188720"/>
            <a:ext cx="3126271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1E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i1_p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3360" y="1371600"/>
            <a:ext cx="2930879" cy="4114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162800" y="1371600"/>
            <a:ext cx="4572000" cy="4114800"/>
          </a:xfrm>
          <a:prstGeom prst="rect">
            <a:avLst/>
          </a:prstGeom>
          <a:solidFill>
            <a:srgbClr val="E91E6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438400" y="1828800"/>
            <a:ext cx="73152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5600" y="22860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E91E63"/>
                </a:solidFill>
                <a:latin typeface="Times New Roman"/>
              </a:rPr>
              <a:t>CẢM ƠN CÁC EM! 🎉</a:t>
            </a:r>
          </a:p>
          <a:p>
            <a:pPr algn="ctr">
              <a:spcBef>
                <a:spcPts val="1200"/>
              </a:spcBef>
            </a:pPr>
            <a:r>
              <a:rPr sz="2000">
                <a:solidFill>
                  <a:srgbClr val="3E0A22"/>
                </a:solidFill>
                <a:latin typeface="Times New Roman"/>
              </a:rPr>
              <a:t>Hẹn gặp lại ở tiết học sau!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5600" y="38404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99999"/>
                </a:solidFill>
                <a:latin typeface="Times New Roman"/>
              </a:rPr>
              <a:t>Trường TH &amp; THCS UNIGO  •  GV: Đậu Đình Nguyên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