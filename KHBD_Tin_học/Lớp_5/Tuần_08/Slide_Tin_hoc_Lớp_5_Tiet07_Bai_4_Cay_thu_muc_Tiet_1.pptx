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TIN HỌC LỚP 5 • TUẦN 8 • TIẾT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D26400"/>
                </a:solidFill>
                <a:latin typeface="Arial"/>
              </a:defRPr>
            </a:pPr>
            <a:r>
              <a:t>BÀI 4: CÂY THƯ MỤC</a:t>
            </a:r>
            <a:br/>
            <a:r>
              <a:t>(TIẾT 1) 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05050"/>
                </a:solidFill>
                <a:latin typeface="Arial"/>
              </a:defRPr>
            </a:pPr>
            <a:r>
              <a:t>Cấu trúc cây • Thư mục gốc • Cây thư mục hợp lý</a:t>
            </a:r>
          </a:p>
        </p:txBody>
      </p:sp>
      <p:pic>
        <p:nvPicPr>
          <p:cNvPr id="6" name="Picture 5" descr="p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7548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KHỞI ĐỘNG 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Hàng trăm tệp tin trên Desktop — Làm sao quản lý?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4864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82828"/>
                </a:solidFill>
                <a:latin typeface="Arial"/>
              </a:defRPr>
            </a:pPr>
            <a:r>
              <a:t>📁 Vấn đề thực tế:</a:t>
            </a:r>
            <a:br/>
            <a:br/>
            <a:r>
              <a:t>• Nếu để tất cả ảnh, bài tập, video ra ngoài màn hình chính thì rất rối mắt và mất thời gian tìm kiếm.</a:t>
            </a:r>
            <a:br/>
            <a:br/>
            <a:r>
              <a:t>• Giống như một cái cây có gốc, cành lớn và cành nhỏ, máy tính tổ chức dữ liệu theo CẤU TRÚC CÂY THƯ MỤC!</a:t>
            </a:r>
            <a:br/>
            <a:br/>
            <a:r>
              <a:t>👉 Cùng tìm hiểu cấu trúc cây thư mục chuẩn nhé!</a:t>
            </a:r>
          </a:p>
        </p:txBody>
      </p:sp>
      <p:pic>
        <p:nvPicPr>
          <p:cNvPr id="6" name="Picture 5" descr="p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11680"/>
            <a:ext cx="49377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KHÁM PHÁ 1 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Cấu trúc Cây thư mục: Gốc ➔ Nhánh ➔ Lá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7627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Arial"/>
              </a:defRPr>
            </a:pPr>
            <a:r>
              <a:t>1. THƯ MỤC GỐC 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1762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Arial"/>
              </a:defRPr>
            </a:pPr>
            <a:r>
              <a:t>Là thư mục cấp cao nhất (thường là ổ đĩa C:, D:).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07792"/>
            <a:ext cx="1069848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7238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Arial"/>
              </a:defRPr>
            </a:pPr>
            <a:r>
              <a:t>2. THƯ MỤC MẸ 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0723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Arial"/>
              </a:defRPr>
            </a:pPr>
            <a:r>
              <a:t>Chứa các thư mục con bên trong (ví dụ: LOP_5).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03904"/>
            <a:ext cx="1069848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6849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Arial"/>
              </a:defRPr>
            </a:pPr>
            <a:r>
              <a:t>3. THƯ MỤC CON 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96849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Arial"/>
              </a:defRPr>
            </a:pPr>
            <a:r>
              <a:t>Phân nhánh chi tiết từng môn học (TOAN, TIN_HOC).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00016"/>
            <a:ext cx="1069848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6460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C27B0"/>
                </a:solidFill>
                <a:latin typeface="Arial"/>
              </a:defRPr>
            </a:pPr>
            <a:r>
              <a:t>4. TỆP TIN (FILE) 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8646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Arial"/>
              </a:defRPr>
            </a:pPr>
            <a:r>
              <a:t>Như những chiếc lá nằm trong thư mục con tương ứng.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GHI NHỚ 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Những kiến thức cốt lõi em cần nhớ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347472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 w="317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2148840"/>
            <a:ext cx="9601200" cy="41148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6712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HỘP KẾT LUẬN — CÂY THƯ MỤC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9235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Cây thư mục giúp tổ chức và lưu trữ tệp một cách khoa học, ngăn nắp.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Thư mục gốc là cấp cao nhất, từ đó phân nhánh ra các thư mục con.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Cần thiết kế cây thư mục hợp lý: phân nhóm theo chủ đề hoặc từng người.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Đặt tên thư mục ngắn gọn, có ý nghĩa để quản lý hiệu quả!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26400"/>
                </a:solidFill>
                <a:latin typeface="Arial"/>
              </a:defRPr>
            </a:pPr>
            <a:r>
              <a:t>BẠN LÀ NHÀ QUẢN LÝ THÔNG MINH! 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C3C3C"/>
                </a:solidFill>
                <a:latin typeface="Arial"/>
              </a:defRPr>
            </a:pPr>
            <a:r>
              <a:t>Tiết sau chúng ta sẽ thực hành tạo cây thư mục này trên máy tính thật nhé!</a:t>
            </a:r>
            <a:br/>
            <a:br/>
            <a:r>
              <a:t>Hẹn gặp lại các em ở Tiết 8! 🌟</a:t>
            </a:r>
          </a:p>
        </p:txBody>
      </p:sp>
      <p:pic>
        <p:nvPicPr>
          <p:cNvPr id="5" name="Picture 4" descr="mascot_celebrate_trop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