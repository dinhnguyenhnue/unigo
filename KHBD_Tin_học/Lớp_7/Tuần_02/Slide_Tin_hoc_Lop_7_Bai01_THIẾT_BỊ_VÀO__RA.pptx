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3F9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i1_p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305" y="1188720"/>
            <a:ext cx="3257550" cy="4572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797040" y="1097280"/>
            <a:ext cx="5212080" cy="4754880"/>
          </a:xfrm>
          <a:prstGeom prst="roundRect">
            <a:avLst>
              <a:gd name="adj" fmla="val 3000"/>
            </a:avLst>
          </a:prstGeom>
          <a:noFill/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68580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TIN HỌC LỚP 7  •  NĂM HỌC 2026 –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03F9F"/>
                </a:solidFill>
                <a:latin typeface="Times New Roman"/>
              </a:rPr>
              <a:t>Bài 1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0F143A"/>
                </a:solidFill>
                <a:latin typeface="Times New Roman"/>
              </a:rPr>
              <a:t>THIẾT BỊ VÀO - RA</a:t>
            </a:r>
          </a:p>
          <a:p>
            <a:pPr>
              <a:spcBef>
                <a:spcPts val="800"/>
              </a:spcBef>
            </a:pPr>
            <a:r>
              <a:rPr sz="1600" i="1">
                <a:solidFill>
                  <a:srgbClr val="666666"/>
                </a:solidFill>
                <a:latin typeface="Times New Roman"/>
              </a:rPr>
              <a:t>Chủ đề: Thiết bị vào - 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F143A"/>
                </a:solidFill>
                <a:latin typeface="Times New Roman"/>
              </a:rPr>
              <a:t>Trường TH &amp; THCS UNIGO</a:t>
            </a:r>
          </a:p>
          <a:p>
            <a:r>
              <a:rPr sz="1600">
                <a:solidFill>
                  <a:srgbClr val="666666"/>
                </a:solidFill>
                <a:latin typeface="Times New Roman"/>
              </a:rPr>
              <a:t>Giáo viên: Đậu Đình Nguyên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713232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03F9F"/>
                </a:solidFill>
                <a:latin typeface="Times New Roman"/>
              </a:defRPr>
            </a:pPr>
            <a:r>
              <a:t>🎯  Mục tiêu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Sự hiểu biết về khái niệm thiết bị vào (Input devices) và thiết bị ra (Output devices).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Khả năng phân loại và liệt kê các thiết bị vào/ra phổ biến của máy tính.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Sự hiểu biết về chức năng cơ bản của từng loại thiết bị vào-ra.</a:t>
            </a:r>
          </a:p>
        </p:txBody>
      </p:sp>
      <p:pic>
        <p:nvPicPr>
          <p:cNvPr id="6" name="Picture 5" descr="bai1_p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2836" y="1188720"/>
            <a:ext cx="3127248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3F9F"/>
                </a:solidFill>
                <a:latin typeface="Times New Roman"/>
              </a:defRPr>
            </a:pPr>
            <a:r>
              <a:t>🎮  Khởi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GV đặt câu hỏi: "Kể tên tất cả thiết bị em thấy xung quanh máy tính trong phòng học này...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Yêu cầu HS quan sát phòng máy và liệt kê nhanh các thiết bị nhìn thấy trong 2 phút.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Theo dõi HS quan sát, nhắc nhở liệt kê tất cả thiết bị kể cả nhỏ như dây cáp.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Mời HS xung phong đọc danh sách, tổng hợp và ghi lên bảng.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i1_p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802" y="1325880"/>
            <a:ext cx="2931795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778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1188720"/>
            <a:ext cx="109728" cy="438912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3F9F"/>
                </a:solidFill>
                <a:latin typeface="Times New Roman"/>
              </a:defRPr>
            </a:pPr>
            <a:r>
              <a:t>📖  Hình thành kiến thức mới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GV giảng khái niệm: thiết bị vào (đưa thông tin vào máy), thiết bị ra (đưa thông tin ra)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HS làm việc nhóm phân loại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Hỏi từng thiết bị trong danh sách: "Thiết bị này là vào hay ra? Tại sao?"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Giao phiếu học tập 10 thiết bị cho nhóm 4, yêu cầu phân loại và cử đại diện trình bày.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502920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i1_p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742" y="1325880"/>
            <a:ext cx="2931795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6052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778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1188720"/>
            <a:ext cx="109728" cy="438912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3F9F"/>
                </a:solidFill>
                <a:latin typeface="Times New Roman"/>
              </a:defRPr>
            </a:pPr>
            <a:r>
              <a:t>✏️ 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HS thực hành phân loại thiết bị và kết hợp thực hành sử dụng bàn phím, chuột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Phát phiếu bài tập 10 câu phân loại thiết bị + 2 câu tình huống; hướng dẫn HS mở máy th...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Quan sát HS làm bài và thực hành, hỗ trợ HS gặp khó khăn với bàn phím.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Hướng dẫn HS đổi phiếu kiểm tra chéo và chiếu đáp án.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502920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i1_p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742" y="1325880"/>
            <a:ext cx="2931795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6052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3F9F"/>
                </a:solidFill>
                <a:latin typeface="Times New Roman"/>
              </a:defRPr>
            </a:pPr>
            <a:r>
              <a:t>🚀  Vận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HS tìm hiểu 2 thiết bị vào-ra hiện đại (VR headset, bút stylus, máy in 3D...) và mô tả ...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Giao nhiệm vụ: Tìm hiểu 2 thiết bị vào-ra hiện đại chưa học trong bài, viết mô tả ngắn ...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Gợi ý: VR headset, bút stylus, máy in 3D, găng tay haptic...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Nhắc: Nộp bài đầu tiết học sau, bài hay sẽ được chia sẻ với lớp.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i1_p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802" y="1325880"/>
            <a:ext cx="2931795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73152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03F9F"/>
                </a:solidFill>
                <a:latin typeface="Times New Roman"/>
              </a:defRPr>
            </a:pPr>
            <a:r>
              <a:t>📌  Ghi nhớ — THIẾT BỊ VÀO - 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Sự hiểu biết về khái niệm thiết bị vào (Input devices) và thiết bị ra (Output devices).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Khả năng phân loại và liệt kê các thiết bị vào/ra phổ biến của máy tính.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Sự hiểu biết về chức năng cơ bản của từng loại thiết bị vào-ra.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303F9F"/>
                </a:solidFill>
                <a:latin typeface="Times New Roman"/>
              </a:rPr>
              <a:t>●  </a:t>
            </a:r>
            <a:r>
              <a:rPr sz="1800">
                <a:solidFill>
                  <a:srgbClr val="0F143A"/>
                </a:solidFill>
                <a:latin typeface="Times New Roman"/>
              </a:rPr>
              <a:t>📚 Bài tập về nhà: Xem lại nội dung bài học và chuẩn bị bài tiếp theo.</a:t>
            </a:r>
          </a:p>
        </p:txBody>
      </p:sp>
      <p:pic>
        <p:nvPicPr>
          <p:cNvPr id="6" name="Picture 5" descr="bai1_p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276" y="1188720"/>
            <a:ext cx="3127248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3F9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i1_p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902" y="1371600"/>
            <a:ext cx="2931795" cy="4114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62800" y="1371600"/>
            <a:ext cx="4572000" cy="4114800"/>
          </a:xfrm>
          <a:prstGeom prst="rect">
            <a:avLst/>
          </a:prstGeom>
          <a:solidFill>
            <a:srgbClr val="303F9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38400" y="1828800"/>
            <a:ext cx="7315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5600" y="22860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03F9F"/>
                </a:solidFill>
                <a:latin typeface="Times New Roman"/>
              </a:rPr>
              <a:t>CẢM ƠN CÁC EM! 🎉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
                  <a:srgbClr val="0F143A"/>
                </a:solidFill>
                <a:latin typeface="Times New Roman"/>
              </a:rPr>
              <a:t>Hẹn gặp lại ở tiết học sau!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5600" y="3840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99999"/>
                </a:solidFill>
                <a:latin typeface="Times New Roman"/>
              </a:rPr>
              <a:t>Trường TH &amp; THCS UNIGO  •  GV: Đậu Đình Nguyên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