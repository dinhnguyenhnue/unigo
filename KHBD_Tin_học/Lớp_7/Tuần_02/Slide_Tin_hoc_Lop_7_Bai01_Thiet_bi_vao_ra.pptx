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4457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Thiết bị vào - ra (I/O Devices)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4457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Arial"/>
              </a:rPr>
              <a:t>Tin học • Lớp 7 • Bài 1</a:t>
            </a:r>
          </a:p>
        </p:txBody>
      </p:sp>
      <p:pic>
        <p:nvPicPr>
          <p:cNvPr id="6" name="Picture 5" descr="bai1_p10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325880"/>
            <a:ext cx="3474720" cy="34747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7 • BÀI 1. THIẾT BỊ VÀO - 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4A6E"/>
                </a:solidFill>
                <a:latin typeface="Arial"/>
              </a:rPr>
              <a:t>Quan sát và trả lời!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Nhìn quanh phòng máy: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"Kể tên TẤT CẢ thiết bị em thấy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xung quanh chiếc máy tính!"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2 phút — càng nhiều càng tốt!</a:t>
            </a:r>
          </a:p>
        </p:txBody>
      </p:sp>
      <p:pic>
        <p:nvPicPr>
          <p:cNvPr id="9" name="Picture 8" descr="bai1_p10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7 • BÀI 1. THIẾT BỊ VÀO - 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4A6E"/>
                </a:solidFill>
                <a:latin typeface="Arial"/>
              </a:rPr>
              <a:t>Thiết bị vào (Input) là gì?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Thiết bị vào = đưa thông tin VÀO máy tính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● Bàn phím (Keyboard) — gõ chữ, số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● Chuột (Mouse) — chỉ, nhấp, kéo thả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● Microphone — thu âm giọng nói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● Webcam — thu hình ảnh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● Máy quét (Scanner) — quét tài liệu</a:t>
            </a:r>
          </a:p>
        </p:txBody>
      </p:sp>
      <p:pic>
        <p:nvPicPr>
          <p:cNvPr id="9" name="Picture 8" descr="bai1_p11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7 • BÀI 1. THIẾT BỊ VÀO - 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4A6E"/>
                </a:solidFill>
                <a:latin typeface="Arial"/>
              </a:rPr>
              <a:t>Thiết bị ra (Output) là gì?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Thiết bị ra = đưa thông tin RA cho người dùng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● Màn hình (Monitor) — hiển thị hình ảnh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● Loa (Speaker) — phát âm thanh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● Máy in (Printer) — in tài liệu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● Tai nghe (Headphone) — nghe âm thanh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● Máy chiếu (Projector) — chiếu lên màn</a:t>
            </a:r>
          </a:p>
        </p:txBody>
      </p:sp>
      <p:pic>
        <p:nvPicPr>
          <p:cNvPr id="9" name="Picture 8" descr="bai1_p11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7 • BÀI 1. THIẾT BỊ VÀO - 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4A6E"/>
                </a:solidFill>
                <a:latin typeface="Arial"/>
              </a:rPr>
              <a:t>Input → Xử lý → Output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Quy trình hoạt động: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Bàn phím → CPU xử lý → Màn hình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(Input)      (Processing)    (Output)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Một số thiết bị vừa vào vừa ra: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Màn hình cảm ứng, USB, Ổ cứng ngoài</a:t>
            </a:r>
          </a:p>
        </p:txBody>
      </p:sp>
      <p:pic>
        <p:nvPicPr>
          <p:cNvPr id="9" name="Picture 8" descr="bai1_p11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7 • LUYỆN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4A6E"/>
                </a:solidFill>
                <a:latin typeface="Arial"/>
              </a:rPr>
              <a:t>Hãy phân loại!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0C4A6E"/>
                </a:solidFill>
                <a:latin typeface="Arial"/>
              </a:rPr>
              <a:t>Sắp xếp vào đúng nhóm: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004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291840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C4A6E"/>
                </a:solidFill>
                <a:latin typeface="Arial"/>
              </a:rPr>
              <a:t>Bàn phím → Input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32004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4516" y="3291840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C4A6E"/>
                </a:solidFill>
                <a:latin typeface="Arial"/>
              </a:rPr>
              <a:t>Màn hình → Output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862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977639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C4A6E"/>
                </a:solidFill>
                <a:latin typeface="Arial"/>
              </a:rPr>
              <a:t>Webcam → Input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38862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3977639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C4A6E"/>
                </a:solidFill>
                <a:latin typeface="Arial"/>
              </a:rPr>
              <a:t>Loa → Output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5720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663440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C4A6E"/>
                </a:solidFill>
                <a:latin typeface="Arial"/>
              </a:rPr>
              <a:t>Màn hình cảm ứng → Cả hai!</a:t>
            </a:r>
          </a:p>
        </p:txBody>
      </p:sp>
    </p:spTree>
  </p:cSld>
  <p:clrMapOvr>
    <a:masterClrMapping/>
  </p:clrMapOvr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7 • LUYỆN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4A6E"/>
                </a:solidFill>
                <a:latin typeface="Arial"/>
              </a:rPr>
              <a:t>Thảo luận nhóm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0C4A6E"/>
                </a:solidFill>
                <a:latin typeface="Arial"/>
              </a:rPr>
              <a:t>Nhóm 4 em, trả lời: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C4A6E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C4A6E"/>
                </a:solidFill>
                <a:latin typeface="Arial"/>
              </a:rPr>
              <a:t>1. Nếu máy tính không có thiết bị vào,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C4A6E"/>
                </a:solidFill>
                <a:latin typeface="Arial"/>
              </a:rPr>
              <a:t>   em có thể làm gì với nó?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C4A6E"/>
                </a:solidFill>
                <a:latin typeface="Arial"/>
              </a:rPr>
              <a:t>2. Kể 3 thiết bị vào-ra mà smartphone có.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C4A6E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C4A6E"/>
                </a:solidFill>
                <a:latin typeface="Arial"/>
              </a:rPr>
              <a:t>5 phút thảo luận + 2 phút trình bày</a:t>
            </a:r>
          </a:p>
        </p:txBody>
      </p:sp>
    </p:spTree>
  </p:cSld>
  <p:clrMapOvr>
    <a:masterClrMapping/>
  </p:clrMapOvr>
  <p:transition spd="med">
    <p:wip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188719"/>
            <a:ext cx="11091672" cy="448055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19"/>
            <a:ext cx="11091672" cy="9144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371599"/>
            <a:ext cx="105430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0369A1"/>
                </a:solidFill>
                <a:latin typeface="Arial"/>
              </a:rPr>
              <a:t>Tóm tắt bài học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2057400"/>
            <a:ext cx="7434072" cy="914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286000"/>
            <a:ext cx="73152" cy="6400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7280" y="2286000"/>
            <a:ext cx="9994392" cy="640080"/>
          </a:xfrm>
          <a:prstGeom prst="round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3774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C4A6E"/>
                </a:solidFill>
                <a:latin typeface="Arial"/>
              </a:rPr>
              <a:t>Thiết bị vào (Input): đưa thông tin vào máy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200400"/>
            <a:ext cx="73152" cy="6400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7280" y="3200400"/>
            <a:ext cx="9994392" cy="640080"/>
          </a:xfrm>
          <a:prstGeom prst="round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2918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C4A6E"/>
                </a:solidFill>
                <a:latin typeface="Arial"/>
              </a:rPr>
              <a:t>Thiết bị ra (Output): đưa thông tin ra ngoài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114800"/>
            <a:ext cx="73152" cy="6400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97280" y="4114800"/>
            <a:ext cx="9994392" cy="640080"/>
          </a:xfrm>
          <a:prstGeom prst="round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2062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C4A6E"/>
                </a:solidFill>
                <a:latin typeface="Arial"/>
              </a:rPr>
              <a:t>Quy trình: Input → Xử lý → Output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5029200"/>
            <a:ext cx="73152" cy="6400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97280" y="5029200"/>
            <a:ext cx="9994392" cy="640080"/>
          </a:xfrm>
          <a:prstGeom prst="round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1206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C4A6E"/>
                </a:solidFill>
                <a:latin typeface="Arial"/>
              </a:rPr>
              <a:t>Có thiết bị vừa vào vừa ra (I/O)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50876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Bài học kết thúc!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36876" y="3063240"/>
            <a:ext cx="7315200" cy="228599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94076" y="3337560"/>
            <a:ext cx="6400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BTVN: Vẽ sơ đồ Input/Output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của hệ thống máy tính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tại phòng Tin học.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