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17320"/>
            <a:ext cx="999439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9994392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4457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0369A1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457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700" b="1">
                <a:solidFill>
                  <a:srgbClr val="0F172A"/>
                </a:solidFill>
                <a:latin typeface="Arial"/>
              </a:defRPr>
            </a:pPr>
            <a:r>
              <a:t>BÀI 3. QUẢN LÝ DỮ LIỆU</a:t>
            </a:r>
            <a:br/>
            <a:r>
              <a:t>TRONG MÁY TÍNH (TIẾT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4575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0369A1"/>
                </a:solidFill>
                <a:latin typeface="Arial"/>
              </a:defRPr>
            </a:pPr>
            <a:r>
              <a:t>Môn Tin học • Lớp 7 • Tuần 6 • Sách Kết nối tri thức với cuộc sống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26280"/>
            <a:ext cx="944575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94392" cy="374903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320040" cy="3749039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8961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MỤC TIÊU TIẾT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89611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Sau tiết 1 hôm nay, các em sẽ nắm vững: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961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Hiểu cấu trúc tên tệp gồm Phần tên và Phần mở rộng (.docx, .xlsx, .pptx, .exe, .bat...).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Nguyên tắc đặt tên tệp và thư mục khoa học, dễ nhớ, dễ quản lý.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7200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Biết được tệp chương trình cũng là dữ liệu và hiểu sự cần thiết phải sao lưu dữ liệu (Backup).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HOẠT ĐỘNG 1: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C4A6E"/>
                </a:solidFill>
                <a:latin typeface="Arial"/>
              </a:defRPr>
            </a:pPr>
            <a:r>
              <a:t>Tình huống: Quản lý hàng trăm bức ảnh du lịch cùng gia đình 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12471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p7_hinh31_thumuc_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064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709160"/>
            <a:ext cx="11247120" cy="9601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4709160"/>
            <a:ext cx="182880" cy="96011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0607040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👉 Trong chuyến du lịch, em chụp rất nhiều ảnh và ghi chép nhật ký.</a:t>
            </a:r>
            <a:br/>
            <a:r>
              <a:t>Nếu để toàn bộ ra màn hình nền Desktop thì sẽ như thế nào? Cần tổ chức cây thư mục ra sao để dễ tìm kiếm?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C4A6E"/>
                </a:solidFill>
                <a:latin typeface="Arial"/>
              </a:defRPr>
            </a:pPr>
            <a:r>
              <a:t>Tên tệp và Thư mục trong hệ điều hành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Quan sát Hình 3.1 SGK: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Đường dẫn: This PC &gt; OS (C:) &gt; DuLich &gt; DiemDen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Thư mục con: BanNgay, BinhMinh, HoangHon, GiaDinh.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Tệp hình ảnh: PhaoHoa01.jpg, PhaoHoa02.jpg.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Quy tắc vàng khi đặt tên: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Đặt tên ngắn gọn, dễ nhớ, phản ánh đúng nội dung bên trong.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Viết không dấu hoặc cách nhau bởi dấu gạch dưới để tránh lỗi hệ thống.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hinh31_thumuc_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PHÂN LOẠI TỆP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C4A6E"/>
                </a:solidFill>
                <a:latin typeface="Arial"/>
              </a:defRPr>
            </a:pPr>
            <a:r>
              <a:t>Nhận biết phần mở rộng của tệp dữ liệu &amp; tệp chương trình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00200"/>
            <a:ext cx="4297680" cy="868680"/>
          </a:xfrm>
          <a:prstGeom prst="chevron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Văn bản: .docx, .pdf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578608"/>
            <a:ext cx="4297680" cy="868679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Đa phương tiện: .jpg, .mp4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557015"/>
            <a:ext cx="4297680" cy="86868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30168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Chương trình: .exe, .bat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535423"/>
            <a:ext cx="4297680" cy="86868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608575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Cảnh báo: Không xoá tệp lạ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00200"/>
            <a:ext cx="66751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u_truc_tep_va_phan_mo_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649224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11247120" cy="777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698480" cy="6857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❓ Tệp chương trình máy tính có đặc điểm gì cần lưu ý?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6309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64592" cy="2240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Tệp chương trình máy tính được lưu trữ dưới dạng tệp như .exe, .com, .bat, .msi.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Không nên xoá hay di chuyển những tệp này nếu không có lý do xác đáng.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011680"/>
            <a:ext cx="4754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hinh31_thumuc_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572000" cy="2148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Tên tệp và thư mục cần được đặt sao cho dễ nhớ, cho ta biết trong đó chứa những gì.</a:t>
            </a:r>
            <a:br/>
            <a:r>
              <a:t>• Chương trình máy tính được lưu trữ trên thiết bị nhớ giống như một tệp dữ liệu, thường có phần mở rộng .exe, .com, .bat, .msi.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C4A6E"/>
                </a:solidFill>
                <a:latin typeface="Arial"/>
              </a:defRPr>
            </a:pPr>
            <a:r>
              <a:t>Các biện pháp bảo vệ dữ liệu &amp; Thiết bị lưu trữ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Vì sao phải Sao lưu dữ liệu (Backup)?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Máy tính có thể bị hỏng ổ cứng, bị mất cắp hoặc nhiễm mã độc.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Hai hình thức sao lưu phổ biến: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1. Sao lưu cục bộ: Lưu sang ổ D, USB, hoặc ổ cứng di động gắn ngoài.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2. Sao lưu từ xa: Lưu lên đám mây (Google Drive, OneDrive).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👉 Sao lưu từ xa giúp dữ liệu an toàn ngay cả khi máy tính bị hỏng hoàn toàn!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bang31_thietbi_luut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11247120" cy="777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698480" cy="6857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❓ Thiết bị lưu trữ nào tiện dụng và an toàn nhất hiện nay?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6309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64592" cy="2240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USB/Thẻ nhớ: Nhỏ gọn nhưng dễ bị rơi, dễ lây lan virus.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Ổ cứng ngoài: Dung lượng lớn, phù hợp sao lưu trọn gói máy tính.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59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Đám mây (Cloud): Truy cập mọi lúc mọi nơi có Internet, chống mất mát vật lý.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011680"/>
            <a:ext cx="4754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p7_bang31_thietbi_luut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572000" cy="21488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Dữ liệu cần được sao lưu thường xuyên lên thiết bị lưu trữ ngoài máy tính chứa dữ liệu gốc để tránh bị mất hoặc bị hỏng dữ liệu!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247120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" cy="100583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rial"/>
              </a:defRPr>
            </a:pPr>
            <a:r>
              <a:t>❓ Tệp có phần mở rộng .exe thuộc loại tệp nào sau đây? (SGK tr.14)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Tệp dữ liệu 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Tệp chương trình máy tính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Tệp bài hát âm thanh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434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Tệp hình ảnh đồ hoạ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247120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" cy="100583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rial"/>
              </a:defRPr>
            </a:pPr>
            <a:r>
              <a:t>❓ Thiết bị lưu trữ nào cho phép em truy cập dữ liệu ở bất kỳ máy tính nào có kết nối Internet? (SGK tr.15)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Đĩa quang CD-ROM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Ổ cứng gắn trong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Lưu trữ công nghệ đám mây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434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Thẻ nhớ điện thoại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508760"/>
            <a:ext cx="8897112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508760"/>
            <a:ext cx="8897112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85313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300" b="1">
                <a:solidFill>
                  <a:srgbClr val="0369A1"/>
                </a:solidFill>
                <a:latin typeface="Arial"/>
              </a:defRPr>
            </a:pPr>
            <a:r>
              <a:t>HOÀN THÀNH TIẾT 1!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06040"/>
            <a:ext cx="81655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1. Ôn lại cấu trúc phần mở rộng của các loại tệp phổ biến (.docx, .pptx, .exe).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154680"/>
            <a:ext cx="816559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2. Chuẩn bị cho Tiết 2: Kỹ thuật đặt mật khẩu mạnh &amp; 5 thao tác File Explorer thực chiến!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703320"/>
            <a:ext cx="816559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3. Chúc các em luôn có ý thức bảo vệ tài sản số của mình!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34840"/>
            <a:ext cx="85313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0EA5E9"/>
                </a:solidFill>
                <a:latin typeface="Arial"/>
              </a:defRPr>
            </a:pPr>
            <a:r>
              <a:t>Chúc các em có những giờ học Tin học thật hào hứng và bổ ích!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