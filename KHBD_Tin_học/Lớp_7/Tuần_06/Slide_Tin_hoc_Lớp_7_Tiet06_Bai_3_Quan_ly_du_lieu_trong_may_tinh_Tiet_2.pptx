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17320"/>
            <a:ext cx="999439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17320"/>
            <a:ext cx="9994392" cy="2286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9445752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0E7490"/>
                </a:solidFill>
                <a:latin typeface="Arial"/>
              </a:defRPr>
            </a:pPr>
            <a:r>
              <a:t>TRƯỜNG TIỂU HỌC &amp; THCS UNIGO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4575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700" b="1">
                <a:solidFill>
                  <a:srgbClr val="0F172A"/>
                </a:solidFill>
                <a:latin typeface="Arial"/>
              </a:defRPr>
            </a:pPr>
            <a:r>
              <a:t>BÀI 3. QUẢN LÝ DỮ LIỆU</a:t>
            </a:r>
            <a:br/>
            <a:r>
              <a:t>TRONG MÁY TÍNH (TIẾT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9445752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0E7490"/>
                </a:solidFill>
                <a:latin typeface="Arial"/>
              </a:defRPr>
            </a:pPr>
            <a:r>
              <a:t>Môn Tin học • Lớp 7 • Tuần 6 • Sách Kết nối tri thức với cuộc sống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26280"/>
            <a:ext cx="944575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GV: Đậu Đình Nguyên • Bộ môn Tin học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94392" cy="3749039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554480"/>
            <a:ext cx="320040" cy="3749039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74519"/>
            <a:ext cx="89611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EF08A"/>
                </a:solidFill>
                <a:latin typeface="Arial"/>
              </a:defRPr>
            </a:pPr>
            <a:r>
              <a:t>MỤC TIÊU TIẾT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423160"/>
            <a:ext cx="89611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Sau tiết 2 hôm nay, các em sẽ nắm vững: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566160"/>
            <a:ext cx="896112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Thiết lập mật khẩu mạnh và nhận diện các phần mềm diệt virus bảo vệ máy tính.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69080"/>
            <a:ext cx="8961120" cy="5029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Thực hành thành thạo 5 thao tác quản lý dữ liệu trên File Explorer (Tạo mới, Đổi tên, Sao chép, Di chuyển, Xoá).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572000"/>
            <a:ext cx="8961120" cy="5029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Xây dựng cây thư mục học tập khoa học và hình thành thói quen sao lưu định kỳ.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1: AN TOÀN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164E63"/>
                </a:solidFill>
                <a:latin typeface="Arial"/>
              </a:defRPr>
            </a:pPr>
            <a:r>
              <a:t>Tài khoản người dùng, Mật khẩu mạnh &amp; Phần mềm diệt virus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46634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164592" cy="4069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20624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Tiêu chuẩn của một MẬT KHẨU MẠNH: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Độ dài: Ít nhất 8 kí tự.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Kết hợp: Chữ in hoa, chữ thường, chữ số và kí hiệu đặc biệt (@, #, $, %).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Không dùng: Ngày sinh, tên riêng, số điện thoại, "12345678".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👉 Ví dụ mạnh: 2n#M1nhKh0a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Phần mềm diệt virus (Hình 3.2 SGK):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Windows Defender, Bkav, Kaspersky, Avast, Avira...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Luôn bật chế độ bảo vệ tự động và quét virus định kỳ!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00200"/>
            <a:ext cx="6492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7_hinh32_diet_vi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30936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11247120" cy="777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698480" cy="68579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❓ Nguyên tắc vàng để bảo vệ dữ liệu khỏi mã độc và tin tặc là gì?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6309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164592" cy="22402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Đặt mật khẩu mạnh và không chia sẻ mật khẩu cho người khác.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39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Không mở tệp đính kèm lạ, không cài phần mềm crack không rõ nguồn gốc.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011680"/>
            <a:ext cx="4754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7_hinh32_diet_vi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57400"/>
            <a:ext cx="4572000" cy="21488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343400"/>
            <a:ext cx="11247120" cy="13258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698480" cy="3200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Arial"/>
              </a:defRPr>
            </a:pPr>
            <a:r>
              <a:t>📌 GHI NHỚ TRỌNG TÂM (SGK)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069848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• Việc đặt mật khẩu cho tài khoản người dùng trên máy tính và Internet giúp bảo vệ dữ liệu khỏi sự truy cập trái phép.</a:t>
            </a:r>
            <a:br/>
            <a:r>
              <a:t>• Cần bảo vệ dữ liệu bằng cách luôn bật chế độ bảo vệ của phần mềm diệt virus và không dùng phần mềm lạ.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QUY TRÌNH THAO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164E63"/>
                </a:solidFill>
                <a:latin typeface="Arial"/>
              </a:defRPr>
            </a:pPr>
            <a:r>
              <a:t>5 Thao tác quản lý dữ liệu cốt lõi trên File Explorer</a:t>
            </a:r>
          </a:p>
        </p:txBody>
      </p:sp>
      <p:sp>
        <p:nvSpPr>
          <p:cNvPr id="6" name="Chevron 5"/>
          <p:cNvSpPr/>
          <p:nvPr/>
        </p:nvSpPr>
        <p:spPr>
          <a:xfrm>
            <a:off x="365760" y="1600200"/>
            <a:ext cx="4297680" cy="685800"/>
          </a:xfrm>
          <a:prstGeom prst="chevron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3749039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1. Tạo mới: New Folder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" y="2395728"/>
            <a:ext cx="4297680" cy="685800"/>
          </a:xfrm>
          <a:prstGeom prst="chevr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3749039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2. Đổi tên: Rename (F2)</a:t>
            </a:r>
          </a:p>
        </p:txBody>
      </p:sp>
      <p:sp>
        <p:nvSpPr>
          <p:cNvPr id="10" name="Chevron 9"/>
          <p:cNvSpPr/>
          <p:nvPr/>
        </p:nvSpPr>
        <p:spPr>
          <a:xfrm>
            <a:off x="365760" y="3191256"/>
            <a:ext cx="4297680" cy="68580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64408"/>
            <a:ext cx="3749039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3. Sao chép: Copy &amp; Paste</a:t>
            </a:r>
          </a:p>
        </p:txBody>
      </p:sp>
      <p:sp>
        <p:nvSpPr>
          <p:cNvPr id="12" name="Chevron 11"/>
          <p:cNvSpPr/>
          <p:nvPr/>
        </p:nvSpPr>
        <p:spPr>
          <a:xfrm>
            <a:off x="365760" y="3986784"/>
            <a:ext cx="4297680" cy="6858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59936"/>
            <a:ext cx="3749039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4. Di chuyển: Cut &amp; Paste</a:t>
            </a:r>
          </a:p>
        </p:txBody>
      </p:sp>
      <p:sp>
        <p:nvSpPr>
          <p:cNvPr id="14" name="Chevron 13"/>
          <p:cNvSpPr/>
          <p:nvPr/>
        </p:nvSpPr>
        <p:spPr>
          <a:xfrm>
            <a:off x="365760" y="4782312"/>
            <a:ext cx="4297680" cy="685800"/>
          </a:xfrm>
          <a:prstGeom prst="chevr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55464"/>
            <a:ext cx="3749039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5. Xoá bỏ: Delete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600200"/>
            <a:ext cx="66751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5_thao_tac_quan_ly_du_li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649224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THỰC HÀNH TẠO THƯ MỤC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164E63"/>
                </a:solidFill>
                <a:latin typeface="Arial"/>
              </a:defRPr>
            </a:pPr>
            <a:r>
              <a:t>Thực hành tạo và đổi tên thư mục (Hình 3.4 &amp; 3.5 SGK)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46634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164592" cy="4069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20624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Các bước thực hiện: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1. Nháy chuột phải vào vùng trống ➡️ Chọn New ➡️ Folder.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2. Nhập tên thư mục mới (ví dụ: DuLich, HocTap).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3. Nhấn phím Enter để hoàn tất.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Thao tác đổi tên nhanh: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Nháy chọn thư mục ➡️ Nhấn phím F2.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Gõ tên mới và nhấn Enter.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00200"/>
            <a:ext cx="6492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7_hinh34_35_tao_thum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30936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THỰC HÀNH NÂNG 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164E63"/>
                </a:solidFill>
                <a:latin typeface="Arial"/>
              </a:defRPr>
            </a:pPr>
            <a:r>
              <a:t>Thực hành Đổi tên, Di chuyển, Sao chép và Xoá (Hình 3.6 SGK)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46634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164592" cy="4069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20624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Menu ngữ cảnh chuột phải (Hình 3.6 SGK):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Cut (Ctrl + X): Chuyển thư mục vào bộ nhớ tạm để di chuyển.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Copy (Ctrl + C): Sao chép thư mục vào bộ nhớ tạm.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Paste (Ctrl + V): Dán thư mục từ bộ nhớ tạm ra vị trí mới.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Delete: Xoá thư mục chuyển vào Thùng rác (Recycle Bin).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👉 Nhiệm vụ: Di chuyển các tệp từ BinhMinh sang BanNgay, sau đó xoá thư mục rác!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00200"/>
            <a:ext cx="6492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7_hinh36_menu_thaot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30936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SƠ ĐỒ CÂY THƯ MỤC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164E63"/>
                </a:solidFill>
                <a:latin typeface="Arial"/>
              </a:defRPr>
            </a:pPr>
            <a:r>
              <a:t>Sơ đồ Cây thư mục phân cấp hoàn chỉnh (Hình 3.3 SGK)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46634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164592" cy="4069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20624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Cấu trúc cây dữ liệu: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Gốc: Ổ đĩa C:\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Nhánh lớn: DuLich, HocTap, GiaDinh.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Nhánh nhỏ trong DuLich: DiemDen (chứa BanNgay, HoangHon, PhaoHoa01.jpg, PhaoHoa02.jpg).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👉 Mô hình cây thư mục giúp sắp xếp dữ liệu ngăn nắp, tìm kiếm trong 1 giây!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00200"/>
            <a:ext cx="6492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7_hinh33_cay_thum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30936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NHANH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1247120" cy="1005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82880" cy="1005839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69848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rial"/>
              </a:defRPr>
            </a:pPr>
            <a:r>
              <a:t>❓ Trong các mật khẩu sau đây, đâu là mật khẩu MẠNH NHẤT? (SGK tr.16)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12345678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92608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AnMinhKhoa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43484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matkhau2026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4348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2n#M1nhKh0a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NHANH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1247120" cy="1005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82880" cy="1005839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69848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rial"/>
              </a:defRPr>
            </a:pPr>
            <a:r>
              <a:t>❓ Ứng dụng nào trong hệ điều hành Windows giúp em quản lý tệp và thư mục? (SGK tr.17)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Internet Explorer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92608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Microsoft 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43484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File Explorer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4348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Windows Media Player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508760"/>
            <a:ext cx="8897112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508760"/>
            <a:ext cx="8897112" cy="2286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85313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300" b="1">
                <a:solidFill>
                  <a:srgbClr val="0E7490"/>
                </a:solidFill>
                <a:latin typeface="Arial"/>
              </a:defRPr>
            </a:pPr>
            <a:r>
              <a:t>HOÀN THÀNH XUẤT SẮC BÀI 3! 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606040"/>
            <a:ext cx="81655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Arial"/>
              </a:defRPr>
            </a:pPr>
            <a:r>
              <a:t>1. Kiểm tra lại cây thư mục học tập trên máy tính của em và sắp xếp lại ngăn nắp.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154680"/>
            <a:ext cx="8165592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Arial"/>
              </a:defRPr>
            </a:pPr>
            <a:r>
              <a:t>2. Thiết lập mật khẩu mạnh bảo vệ tài khoản số cá nhân.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703320"/>
            <a:ext cx="8165592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Arial"/>
              </a:defRPr>
            </a:pPr>
            <a:r>
              <a:t>3. Tắt máy tính an toàn, vệ sinh chỗ ngồi trước khi rời phòng máy!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434840"/>
            <a:ext cx="8531352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Arial"/>
              </a:defRPr>
            </a:pPr>
            <a:r>
              <a:t>Chúc các em có những giờ học Tin học thật hào hứng và bổ ích! 🚀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