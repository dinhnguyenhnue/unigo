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03F9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24000" y="1280160"/>
            <a:ext cx="9144000" cy="4206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981200" y="1554480"/>
            <a:ext cx="4114800" cy="457200"/>
          </a:xfrm>
          <a:prstGeom prst="roundRect">
            <a:avLst>
              <a:gd name="adj" fmla="val 30000"/>
            </a:avLst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TIN HỌC LỚP 7  •  NĂM HỌC 2026 – 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0" y="228600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303F9F"/>
                </a:solidFill>
                <a:latin typeface="Times New Roman"/>
              </a:rPr>
              <a:t>Bài 1</a:t>
            </a:r>
          </a:p>
          <a:p>
            <a:pPr>
              <a:spcBef>
                <a:spcPts val="400"/>
              </a:spcBef>
            </a:pPr>
            <a:r>
              <a:rPr sz="2800" b="1">
                <a:solidFill>
                  <a:srgbClr val="0F143A"/>
                </a:solidFill>
                <a:latin typeface="Times New Roman"/>
              </a:rPr>
              <a:t>THIẾT BỊ VÀO - RA</a:t>
            </a:r>
          </a:p>
          <a:p>
            <a:pPr>
              <a:spcBef>
                <a:spcPts val="800"/>
              </a:spcBef>
            </a:pPr>
            <a:r>
              <a:rPr sz="1600" i="1">
                <a:solidFill>
                  <a:srgbClr val="666666"/>
                </a:solidFill>
                <a:latin typeface="Times New Roman"/>
              </a:rPr>
              <a:t>Chủ đề: Thiết bị vào - 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200" y="43891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F143A"/>
                </a:solidFill>
                <a:latin typeface="Times New Roman"/>
              </a:rPr>
              <a:t>Trường TH &amp; THCS UNIGO</a:t>
            </a:r>
          </a:p>
          <a:p>
            <a:r>
              <a:rPr sz="1600">
                <a:solidFill>
                  <a:srgbClr val="666666"/>
                </a:solidFill>
                <a:latin typeface="Times New Roman"/>
              </a:rPr>
              <a:t>Giáo viên: Đậu Đình Nguyên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1188720"/>
            <a:ext cx="105156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8200" y="1188720"/>
            <a:ext cx="109728" cy="4389120"/>
          </a:xfrm>
          <a:prstGeom prst="rect">
            <a:avLst/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54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03F9F"/>
                </a:solidFill>
                <a:latin typeface="Times New Roman"/>
              </a:defRPr>
            </a:pPr>
            <a:r>
              <a:t>🎯  Mục tiêu bài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5400" y="2011680"/>
            <a:ext cx="9601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03F9F"/>
                </a:solidFill>
                <a:latin typeface="Times New Roman"/>
              </a:rPr>
              <a:t>●  </a:t>
            </a:r>
            <a:r>
              <a:rPr sz="1800">
                <a:solidFill>
                  <a:srgbClr val="0F143A"/>
                </a:solidFill>
                <a:latin typeface="Times New Roman"/>
              </a:rPr>
              <a:t>Sự hiểu biết về khái niệm thiết bị vào (Input devices) và thiết bị ra (Output devices).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03F9F"/>
                </a:solidFill>
                <a:latin typeface="Times New Roman"/>
              </a:rPr>
              <a:t>●  </a:t>
            </a:r>
            <a:r>
              <a:rPr sz="1800">
                <a:solidFill>
                  <a:srgbClr val="0F143A"/>
                </a:solidFill>
                <a:latin typeface="Times New Roman"/>
              </a:rPr>
              <a:t>Khả năng phân loại và liệt kê các thiết bị vào/ra phổ biến của máy tính.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03F9F"/>
                </a:solidFill>
                <a:latin typeface="Times New Roman"/>
              </a:rPr>
              <a:t>●  </a:t>
            </a:r>
            <a:r>
              <a:rPr sz="1800">
                <a:solidFill>
                  <a:srgbClr val="0F143A"/>
                </a:solidFill>
                <a:latin typeface="Times New Roman"/>
              </a:rPr>
              <a:t>Sự hiểu biết về chức năng cơ bản của từng loại thiết bị vào-ra.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188720"/>
            <a:ext cx="68580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" cy="4389120"/>
          </a:xfrm>
          <a:prstGeom prst="rect">
            <a:avLst/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03F9F"/>
                </a:solidFill>
                <a:latin typeface="Times New Roman"/>
              </a:defRPr>
            </a:pPr>
            <a:r>
              <a:t>🎮  Khởi động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6126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03F9F"/>
                </a:solidFill>
                <a:latin typeface="Times New Roman"/>
              </a:rPr>
              <a:t>●  </a:t>
            </a:r>
            <a:r>
              <a:rPr sz="1800">
                <a:solidFill>
                  <a:srgbClr val="0F143A"/>
                </a:solidFill>
                <a:latin typeface="Times New Roman"/>
              </a:rPr>
              <a:t>GV đặt câu hỏi: "Kể tên tất cả thiết bị em thấy xung quanh máy tính trong phòng học này...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03F9F"/>
                </a:solidFill>
                <a:latin typeface="Times New Roman"/>
              </a:rPr>
              <a:t>●  </a:t>
            </a:r>
            <a:r>
              <a:rPr sz="1800">
                <a:solidFill>
                  <a:srgbClr val="0F143A"/>
                </a:solidFill>
                <a:latin typeface="Times New Roman"/>
              </a:rPr>
              <a:t>Yêu cầu HS quan sát phòng máy và liệt kê nhanh các thiết bị nhìn thấy trong 2 phút.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03F9F"/>
                </a:solidFill>
                <a:latin typeface="Times New Roman"/>
              </a:rPr>
              <a:t>●  </a:t>
            </a:r>
            <a:r>
              <a:rPr sz="1800">
                <a:solidFill>
                  <a:srgbClr val="0F143A"/>
                </a:solidFill>
                <a:latin typeface="Times New Roman"/>
              </a:rPr>
              <a:t>Theo dõi HS quan sát, nhắc nhở liệt kê tất cả thiết bị kể cả nhỏ như dây cáp.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03F9F"/>
                </a:solidFill>
                <a:latin typeface="Times New Roman"/>
              </a:rPr>
              <a:t>●  </a:t>
            </a:r>
            <a:r>
              <a:rPr sz="1800">
                <a:solidFill>
                  <a:srgbClr val="0F143A"/>
                </a:solidFill>
                <a:latin typeface="Times New Roman"/>
              </a:rPr>
              <a:t>Mời HS xung phong đọc danh sách, tổng hợp và ghi lên bảng.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7120" y="1188720"/>
            <a:ext cx="4389120" cy="4389120"/>
          </a:xfrm>
          <a:prstGeom prst="roundRect">
            <a:avLst>
              <a:gd name="adj" fmla="val 4000"/>
            </a:avLst>
          </a:prstGeom>
          <a:solidFill>
            <a:srgbClr val="303F9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4480" y="29260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Times New Roman"/>
              </a:defRPr>
            </a:pPr>
            <a:r>
              <a:t>🎮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76800" y="1188720"/>
            <a:ext cx="68580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25072" y="1188720"/>
            <a:ext cx="109728" cy="4389120"/>
          </a:xfrm>
          <a:prstGeom prst="rect">
            <a:avLst/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42560" y="13716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03F9F"/>
                </a:solidFill>
                <a:latin typeface="Times New Roman"/>
              </a:defRPr>
            </a:pPr>
            <a:r>
              <a:t>📖  Hình thành kiến thức mới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42560" y="2011680"/>
            <a:ext cx="6126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03F9F"/>
                </a:solidFill>
                <a:latin typeface="Times New Roman"/>
              </a:rPr>
              <a:t>●  </a:t>
            </a:r>
            <a:r>
              <a:rPr sz="1800">
                <a:solidFill>
                  <a:srgbClr val="0F143A"/>
                </a:solidFill>
                <a:latin typeface="Times New Roman"/>
              </a:rPr>
              <a:t>GV giảng khái niệm: thiết bị vào (đưa thông tin vào máy), thiết bị ra (đưa thông tin ra)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03F9F"/>
                </a:solidFill>
                <a:latin typeface="Times New Roman"/>
              </a:rPr>
              <a:t>●  </a:t>
            </a:r>
            <a:r>
              <a:rPr sz="1800">
                <a:solidFill>
                  <a:srgbClr val="0F143A"/>
                </a:solidFill>
                <a:latin typeface="Times New Roman"/>
              </a:rPr>
              <a:t>HS làm việc nhóm phân loại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03F9F"/>
                </a:solidFill>
                <a:latin typeface="Times New Roman"/>
              </a:rPr>
              <a:t>●  </a:t>
            </a:r>
            <a:r>
              <a:rPr sz="1800">
                <a:solidFill>
                  <a:srgbClr val="0F143A"/>
                </a:solidFill>
                <a:latin typeface="Times New Roman"/>
              </a:rPr>
              <a:t>Hỏi từng thiết bị trong danh sách: "Thiết bị này là vào hay ra? Tại sao?"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03F9F"/>
                </a:solidFill>
                <a:latin typeface="Times New Roman"/>
              </a:rPr>
              <a:t>●  </a:t>
            </a:r>
            <a:r>
              <a:rPr sz="1800">
                <a:solidFill>
                  <a:srgbClr val="0F143A"/>
                </a:solidFill>
                <a:latin typeface="Times New Roman"/>
              </a:rPr>
              <a:t>Giao phiếu học tập 10 thiết bị cho nhóm 4, yêu cầu phân loại và cử đại diện trình bày.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4389120" cy="4389120"/>
          </a:xfrm>
          <a:prstGeom prst="roundRect">
            <a:avLst>
              <a:gd name="adj" fmla="val 4000"/>
            </a:avLst>
          </a:prstGeom>
          <a:solidFill>
            <a:srgbClr val="303F9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29260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Times New Roman"/>
              </a:defRPr>
            </a:pPr>
            <a:r>
              <a:t>📖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76800" y="1188720"/>
            <a:ext cx="68580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25072" y="1188720"/>
            <a:ext cx="109728" cy="4389120"/>
          </a:xfrm>
          <a:prstGeom prst="rect">
            <a:avLst/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42560" y="13716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03F9F"/>
                </a:solidFill>
                <a:latin typeface="Times New Roman"/>
              </a:defRPr>
            </a:pPr>
            <a:r>
              <a:t>✏️  Luyện tập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42560" y="2011680"/>
            <a:ext cx="6126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03F9F"/>
                </a:solidFill>
                <a:latin typeface="Times New Roman"/>
              </a:rPr>
              <a:t>●  </a:t>
            </a:r>
            <a:r>
              <a:rPr sz="1800">
                <a:solidFill>
                  <a:srgbClr val="0F143A"/>
                </a:solidFill>
                <a:latin typeface="Times New Roman"/>
              </a:rPr>
              <a:t>HS thực hành phân loại thiết bị và kết hợp thực hành sử dụng bàn phím, chuột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03F9F"/>
                </a:solidFill>
                <a:latin typeface="Times New Roman"/>
              </a:rPr>
              <a:t>●  </a:t>
            </a:r>
            <a:r>
              <a:rPr sz="1800">
                <a:solidFill>
                  <a:srgbClr val="0F143A"/>
                </a:solidFill>
                <a:latin typeface="Times New Roman"/>
              </a:rPr>
              <a:t>Phát phiếu bài tập 10 câu phân loại thiết bị + 2 câu tình huống; hướng dẫn HS mở máy th...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03F9F"/>
                </a:solidFill>
                <a:latin typeface="Times New Roman"/>
              </a:rPr>
              <a:t>●  </a:t>
            </a:r>
            <a:r>
              <a:rPr sz="1800">
                <a:solidFill>
                  <a:srgbClr val="0F143A"/>
                </a:solidFill>
                <a:latin typeface="Times New Roman"/>
              </a:rPr>
              <a:t>Quan sát HS làm bài và thực hành, hỗ trợ HS gặp khó khăn với bàn phím.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03F9F"/>
                </a:solidFill>
                <a:latin typeface="Times New Roman"/>
              </a:rPr>
              <a:t>●  </a:t>
            </a:r>
            <a:r>
              <a:rPr sz="1800">
                <a:solidFill>
                  <a:srgbClr val="0F143A"/>
                </a:solidFill>
                <a:latin typeface="Times New Roman"/>
              </a:rPr>
              <a:t>Hướng dẫn HS đổi phiếu kiểm tra chéo và chiếu đáp án.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4389120" cy="4389120"/>
          </a:xfrm>
          <a:prstGeom prst="roundRect">
            <a:avLst>
              <a:gd name="adj" fmla="val 4000"/>
            </a:avLst>
          </a:prstGeom>
          <a:solidFill>
            <a:srgbClr val="303F9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29260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Times New Roman"/>
              </a:defRPr>
            </a:pPr>
            <a:r>
              <a:t>✏️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188720"/>
            <a:ext cx="68580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" cy="4389120"/>
          </a:xfrm>
          <a:prstGeom prst="rect">
            <a:avLst/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03F9F"/>
                </a:solidFill>
                <a:latin typeface="Times New Roman"/>
              </a:defRPr>
            </a:pPr>
            <a:r>
              <a:t>🚀  Vận dụng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6126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03F9F"/>
                </a:solidFill>
                <a:latin typeface="Times New Roman"/>
              </a:rPr>
              <a:t>●  </a:t>
            </a:r>
            <a:r>
              <a:rPr sz="1800">
                <a:solidFill>
                  <a:srgbClr val="0F143A"/>
                </a:solidFill>
                <a:latin typeface="Times New Roman"/>
              </a:rPr>
              <a:t>HS tìm hiểu 2 thiết bị vào-ra hiện đại (VR headset, bút stylus, máy in 3D...) và mô tả ...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03F9F"/>
                </a:solidFill>
                <a:latin typeface="Times New Roman"/>
              </a:rPr>
              <a:t>●  </a:t>
            </a:r>
            <a:r>
              <a:rPr sz="1800">
                <a:solidFill>
                  <a:srgbClr val="0F143A"/>
                </a:solidFill>
                <a:latin typeface="Times New Roman"/>
              </a:rPr>
              <a:t>Giao nhiệm vụ: Tìm hiểu 2 thiết bị vào-ra hiện đại chưa học trong bài, viết mô tả ngắn ...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03F9F"/>
                </a:solidFill>
                <a:latin typeface="Times New Roman"/>
              </a:rPr>
              <a:t>●  </a:t>
            </a:r>
            <a:r>
              <a:rPr sz="1800">
                <a:solidFill>
                  <a:srgbClr val="0F143A"/>
                </a:solidFill>
                <a:latin typeface="Times New Roman"/>
              </a:rPr>
              <a:t>Gợi ý: VR headset, bút stylus, máy in 3D, găng tay haptic...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03F9F"/>
                </a:solidFill>
                <a:latin typeface="Times New Roman"/>
              </a:rPr>
              <a:t>●  </a:t>
            </a:r>
            <a:r>
              <a:rPr sz="1800">
                <a:solidFill>
                  <a:srgbClr val="0F143A"/>
                </a:solidFill>
                <a:latin typeface="Times New Roman"/>
              </a:rPr>
              <a:t>Nhắc: Nộp bài đầu tiết học sau, bài hay sẽ được chia sẻ với lớp.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7120" y="1188720"/>
            <a:ext cx="4389120" cy="4389120"/>
          </a:xfrm>
          <a:prstGeom prst="roundRect">
            <a:avLst>
              <a:gd name="adj" fmla="val 4000"/>
            </a:avLst>
          </a:prstGeom>
          <a:solidFill>
            <a:srgbClr val="303F9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4480" y="29260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Times New Roman"/>
              </a:defRPr>
            </a:pPr>
            <a:r>
              <a:t>🚀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2440" y="1188720"/>
            <a:ext cx="1124712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2440" y="1188720"/>
            <a:ext cx="109728" cy="4389120"/>
          </a:xfrm>
          <a:prstGeom prst="rect">
            <a:avLst/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964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03F9F"/>
                </a:solidFill>
                <a:latin typeface="Times New Roman"/>
              </a:defRPr>
            </a:pPr>
            <a:r>
              <a:t>📌  Ghi nhớ — THIẾT BỊ VÀO - 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640" y="2011680"/>
            <a:ext cx="10058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03F9F"/>
                </a:solidFill>
                <a:latin typeface="Times New Roman"/>
              </a:rPr>
              <a:t>●  </a:t>
            </a:r>
            <a:r>
              <a:rPr sz="1800">
                <a:solidFill>
                  <a:srgbClr val="0F143A"/>
                </a:solidFill>
                <a:latin typeface="Times New Roman"/>
              </a:rPr>
              <a:t>Sự hiểu biết về khái niệm thiết bị vào (Input devices) và thiết bị ra (Output devices).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03F9F"/>
                </a:solidFill>
                <a:latin typeface="Times New Roman"/>
              </a:rPr>
              <a:t>●  </a:t>
            </a:r>
            <a:r>
              <a:rPr sz="1800">
                <a:solidFill>
                  <a:srgbClr val="0F143A"/>
                </a:solidFill>
                <a:latin typeface="Times New Roman"/>
              </a:rPr>
              <a:t>Khả năng phân loại và liệt kê các thiết bị vào/ra phổ biến của máy tính.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03F9F"/>
                </a:solidFill>
                <a:latin typeface="Times New Roman"/>
              </a:rPr>
              <a:t>●  </a:t>
            </a:r>
            <a:r>
              <a:rPr sz="1800">
                <a:solidFill>
                  <a:srgbClr val="0F143A"/>
                </a:solidFill>
                <a:latin typeface="Times New Roman"/>
              </a:rPr>
              <a:t>Sự hiểu biết về chức năng cơ bản của từng loại thiết bị vào-ra.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03F9F"/>
                </a:solidFill>
                <a:latin typeface="Times New Roman"/>
              </a:rPr>
              <a:t>●  </a:t>
            </a:r>
            <a:r>
              <a:rPr sz="1800">
                <a:solidFill>
                  <a:srgbClr val="0F143A"/>
                </a:solidFill>
                <a:latin typeface="Times New Roman"/>
              </a:rPr>
              <a:t>📚 Bài tập về nhà: Xem lại nội dung bài học và chuẩn bị bài tiếp theo.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03F9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38400" y="1828800"/>
            <a:ext cx="73152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95600" y="22860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303F9F"/>
                </a:solidFill>
                <a:latin typeface="Times New Roman"/>
              </a:rPr>
              <a:t>CẢM ƠN CÁC EM! 🎉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
                  <a:srgbClr val="0F143A"/>
                </a:solidFill>
                <a:latin typeface="Times New Roman"/>
              </a:rPr>
              <a:t>Hẹn gặp lại ở tiết học sau!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95600" y="38404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999999"/>
                </a:solidFill>
                <a:latin typeface="Times New Roman"/>
              </a:rPr>
              <a:t>Trường TH &amp; THCS UNIGO  •  GV: Đậu Đình Nguyên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