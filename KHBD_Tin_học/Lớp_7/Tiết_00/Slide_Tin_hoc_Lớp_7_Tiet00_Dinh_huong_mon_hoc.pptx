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261CADFC-E468-A9CF-CA9D-3603C11068A9}"/>
              </a:ext>
            </a:extLst>
          </p:cNvPr>
          <p:cNvSpPr txBox="1"/>
          <p:nvPr/>
        </p:nvSpPr>
        <p:spPr>
          <a:xfrm>
            <a:off x="844216" y="471493"/>
            <a:ext cx="10503568" cy="1128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4400" b="1" dirty="0">
                <a:solidFill>
                  <a:srgbClr val="244498"/>
                </a:solidFill>
                <a:latin typeface="Arial" panose="020B0604020202020204" pitchFamily="34" charset="0"/>
                <a:ea typeface="Crimson Pro Bold"/>
                <a:cs typeface="Arial" panose="020B0604020202020204" pitchFamily="34" charset="0"/>
                <a:sym typeface="Crimson Pro Bold"/>
              </a:rPr>
              <a:t>TRƯỜNG TIỂU HỌC VÀ THCS UNIGO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CCC6F9-9D0B-8FA1-C7A3-6C656AB9CD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80673"/>
            <a:ext cx="11887200" cy="376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4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0AB71-A960-5C29-67C4-E061282D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315" y="215531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465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3F47A-2A03-62D2-8A5D-F03932A4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052A-67C4-3C30-0BE8-A144FDC5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463" y="335847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430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39">
            <a:extLst>
              <a:ext uri="{FF2B5EF4-FFF2-40B4-BE49-F238E27FC236}">
                <a16:creationId xmlns:a16="http://schemas.microsoft.com/office/drawing/2014/main" id="{9F8C78EA-1C6B-6C35-6191-129F37672DA8}"/>
              </a:ext>
            </a:extLst>
          </p:cNvPr>
          <p:cNvSpPr txBox="1"/>
          <p:nvPr/>
        </p:nvSpPr>
        <p:spPr>
          <a:xfrm>
            <a:off x="320174" y="2413337"/>
            <a:ext cx="11551651" cy="10156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600" dirty="0">
                <a:solidFill>
                  <a:schemeClr val="tx2">
                    <a:lumMod val="75000"/>
                    <a:lumOff val="25000"/>
                  </a:schemeClr>
                </a:solidFill>
                <a:latin typeface="Monotype Corsiva" panose="03010101010201010101" pitchFamily="66" charset="0"/>
                <a:ea typeface="Monggirella script"/>
                <a:cs typeface="Monggirella script"/>
                <a:sym typeface="Monggirella script"/>
              </a:rPr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1292696729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0152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274320" cy="457200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3040" y="1280160"/>
            <a:ext cx="3200400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CHƯƠNG TRÌNH TIN HỌC 7 — GDPT 2018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920240"/>
            <a:ext cx="9326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A8A"/>
                </a:solidFill>
                <a:latin typeface="Times New Roman"/>
              </a:rPr>
              <a:t>ĐỊNH HƯỚNG MÔN HỌC TIN HỌC 7
</a:t>
            </a:r>
          </a:p>
          <a:p>
            <a:r>
              <a:rPr sz="2000" b="1">
                <a:solidFill>
                  <a:srgbClr val="EA580C"/>
                </a:solidFill>
                <a:latin typeface="Times New Roman"/>
              </a:rPr>
              <a:t>TỔNG QUAN CHƯƠNG TRÌNH &amp; KỸ NĂNG SỐ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0"/>
            <a:ext cx="9326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75569"/>
                </a:solidFill>
                <a:latin typeface="Times New Roman"/>
              </a:rPr>
              <a:t>Trường: TH &amp; THCS UNIGO   |   Giáo viên: Đậu Đình Nguyên   |   Năm học: 2026 - 2027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7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I. MỤC TIÊU TIẾT HỌC (YÊU CẦU CẦN ĐẠT)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1. Năng lực môn học &amp; Kỹ năng số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Nắm vững cấu trúc môn Tin học 7 theo chuẩn GDPT 2018.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Hiểu rõ quy trình sử dụng thiết bị máy tính an toàn và đúng cách.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Hình thành thói quen thao tác đúng quy chuẩn phòng thực hành Tin học.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Ứng dụng Khung năng lực số (CV 3456) vào quá trình học tập.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2. Phẩm chất &amp; Năng lực chung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Chăm chỉ: Tích cực khám phá kiến thức và chủ động chuẩn bị bài.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Trách nhiệm: Bảo vệ tài sản công cộng, giữ gìn phòng máy sạch sẽ.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Trung thực: Tự giác làm việc nhóm, tôn trọng sản phẩm số của bạn.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Hợp tác: Phối hợp hiệu quả với bạn cùng bàn trong giờ thực hành.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7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II. HOẠT ĐỘNG 1: KHỞI ĐỘNG — CHÀO MỪNG &amp; KẾT NỐI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192024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284C7"/>
                </a:solidFill>
                <a:latin typeface="Times New Roman"/>
              </a:rPr>
              <a:t>🎮 Trò chơi khởi động: 'Thế giới số xung quanh em'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Quan sát hình ảnh các thiết bị công nghệ quen thuộc trong cuộc sống (Máy tính, Máy tính bảng, Robot...).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Thảo luận nhanh: Em đã từng dùng máy tính để làm những công việc gì?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Báo cáo: 3-4 bạn học sinh đại diện giơ tay chia sẻ trải nghiệm cá nhân.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106070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840479"/>
            <a:ext cx="137160" cy="21031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86199"/>
            <a:ext cx="10195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Times New Roman"/>
              </a:rPr>
              <a:t>💡 Gợi mở thông điệp kết nối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Môn Tin học 7 sẽ giúp các em chuyển từ người 'sử dụng máy tính' thành 'nhà sáng tạo số' thông minh!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Chúng ta sẽ cùng nhau khám phá tri thức mới, rèn luyện kỹ năng thực hành và tạo ra các sản phẩm công nghệ ấn tượng.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7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III. HOẠT ĐỘNG 2: TỔNG QUAN CHƯƠNG TRÌNH TIN HỌC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20116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Chủ đề 1: Máy tính &amp; Xã hội tri thức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Lịch sử phát triển máy tính, hệ điều hành và thiết bị vào/ra.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137160" cy="20116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Chủ đề 2: Mạng máy tính &amp; Internet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Mạng cục bộ (LAN), Internet, dịch vụ đám mây và tìm kiếm nâng cao.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37160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1463040"/>
            <a:ext cx="137160" cy="20116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5087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Chủ đề 3: Đạo đức, pháp luật &amp; văn hóa số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An toàn số, bản quyền tác giả, phòng chống lừa đảo trên mạng.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4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137160" cy="201168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88620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Chủ đề 4: Ứng dụng tin học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Soạn thảo nâng cao, Bảng tính Excel, Biên tập ảnh &amp; Video số.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74904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3840480"/>
            <a:ext cx="137160" cy="201168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88620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Chủ đề 5: Giải thuật &amp; Lập trình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Tư duy máy tính (Computational Thinking), lập trình ngôn ngữ bậc cao.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7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IV. PHƯƠNG PHÁP HỌC TẬP &amp; TƯ DUY CÔNG NGHỆ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284C7"/>
                </a:solidFill>
                <a:latin typeface="Times New Roman"/>
              </a:rPr>
              <a:t>🚀 4 Phương pháp học tập chủ đạo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Học qua trải nghiệm (Hands-on Practice): Tăng thời lượng thực hành trực tiếp trên máy tính.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Học qua dự án (Project-based Learning): Thực hiện bài tập nhóm và tạo ra sản phẩm thực tế.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Học qua giải quyết vấn đề: Tìm lỗi sai (Debug) và tối ưu quy trình xử lý công việc.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4. Tự học &amp; Đọc tài liệu: Khai thác học liệu số và sách giáo khoa hiệu quả.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Times New Roman"/>
              </a:rPr>
              <a:t>🧠 Tư duy máy tính (Computational Thinking)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Phân rã bài toán (Decomposition): Chia nhỏ vấn đề lớn thành các phần dễ xử lý.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Nhận diện mẫu (Pattern Recognition): Tìm điểm chung giữa các nhiệm vụ.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Trừu tượng hóa (Abstraction): Tập trung vào chi tiết quan trọng nhất.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Thuật toán (Algorithm): Thiết kế các bước thực hiện tuần tự chính xác.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7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V. HOẠT ĐỘNG 3: NỘI QUY &amp; AN TOÀN PHÒNG MÁY TÍNH UNIGO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⚠️ 5 NGUYÊN TẮC VÀNG PHÒNG THỰC HÀNH TIN HỌC UNIGO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Xếp hàng trật tự trước khi vào phòng máy. Để giày dép đúng nơi quy định.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TUYỆT ĐỐI KHÔNG mang đồ ăn, nước uống vào phòng thực hành máy tính.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Thao tác bật/tắt máy đúng quy trình. Không tự ý tháo dỡ, cắm rút dây điện.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4. Ngồi đúng vị trí máy được phân công. Giữ vệ sinh chung ngăn nắp.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5. Khi gặp sự cố máy tính hoặc nguồn điện: BÁO NGAY CHO GIÁO VIÊN HỖ TRỢ.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7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VI. AN TOÀN SỐ &amp; ĐẠO ĐỨC SỐ (DIGITAL SAFETY &amp; ETHICS)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🛡️ An toàn thông tin cá nhân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Giữ bí mật mật khẩu tài khoản cá nhân và tài khoản trường cấp.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Không tự ý cung cấp họ tên, số điện thoại, địa chỉ cho người lạ trên mạng.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Cảnh giác với các đường link lạ, file tải về không rõ nguồn gốc.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Đăng xuất tài khoản sau khi hoàn thành giờ học trên máy tính dùng chung.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9E0B"/>
                </a:solidFill>
                <a:latin typeface="Times New Roman"/>
              </a:rPr>
              <a:t>🌐 Văn hóa &amp; Đạo đức số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Tôn trọng bạn bè: Không sử dụng ngôn từ thiếu văn hóa trên môi trường số.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Tôn trọng bản quyền: Tải tài liệu, hình ảnh phải ghi rõ nguồn trích dẫn.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Sử dụng thời gian hợp lý: Cân bằng thời gian dùng máy tính và vận động.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Chia sẻ năng lượng tích cực: Lan tỏa các nội dung học tập hữu ích.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7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VII. CÁCH THỨC ĐÁNH GIÁ &amp; ĐỒ DÙNG HỌC TẬP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284C7"/>
                </a:solidFill>
                <a:latin typeface="Times New Roman"/>
              </a:rPr>
              <a:t>📊 Hình thức đánh giá môn học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thường xuyên: Nhận xét thái độ học tập, bài thực hành cá nhân.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sản phẩm nhóm: Tiêu chí sáng tạo, kỹ năng làm việc nhóm.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định kỳ 1 &amp; 2 (Học kỳ 1): Bài kiểm tra lý thuyết &amp; thực hành.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định kỳ 3 &amp; 4 (Học kỳ 2): Bài kiểm tra &amp; Sản phẩm dự án cuối năm.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Times New Roman"/>
              </a:rPr>
              <a:t>📚 Đồ dùng &amp; Học liệu cần chuẩn bị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Sách giáo khoa Tin học 7 (Bộ sách GDPT 2018).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Vở ghi bài &amp; Sổ tay ghi chép cá nhân.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Tài khoản học tập trực tuyến UNIGO (Office 365 / LMS).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4. Thẻ nhớ / USB cá nhân (dùng cho các khối lớp THCS).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7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VIII. HOẠT ĐỘNG 4: NHIỆM VỤ MỞ RỘNG &amp; KẾ HOẠCH CÁ NHÂN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📝 Nhiệm vụ thiết lập mục tiêu cá nhân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Thảo luận nhóm 2 bạn cùng bàn: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Viết ra 2 mục tiêu em mong muốn đạt được nhất trong môn Tin học năm học này.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Đề xuất 1 ý tưởng sản phẩm số em muốn tự tay tạo ra (Ví dụ: Tranh vẽ, Bài trình chiếu, Trò chơi Scratch...).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Cam kết thực hiện đúng 5 nguyên tắc vàng phòng máy tính UNIGO.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7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IX. TỔNG KẾT &amp; DẶN DÒ NHIỆM VỤ VỀ NHÀ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📌 3 Điểm ghi nhớ quan trọng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Môn Tin học 7 mang lại kiến thức công nghệ hiện đại và kỹ năng thực hành thiết thực.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Luôn tuân thủ tuyệt đối quy định an toàn phòng máy và nguyên tắc ứng xử văn minh số.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Dặn dò nhiệm vụ về nhà: Xem trước Bài 1 trong SGK, chuẩn bị đầy đủ vở ghi và đồ dùng học tập cho tiết sau.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9E0B"/>
                </a:solidFill>
                <a:latin typeface="Times New Roman"/>
              </a:rPr>
              <a:t>CHÚC CÁC EM CÓ MỘT NĂM HỌC THÀNH CÔNG VÀ NHIỀU NIỀM VUI SÁNG TẠO SỐ!
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