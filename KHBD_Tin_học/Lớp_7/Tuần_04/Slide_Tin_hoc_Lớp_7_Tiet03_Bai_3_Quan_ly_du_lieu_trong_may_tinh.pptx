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0" r:id="rId10"/>
    <p:sldId id="261" r:id="rId11"/>
    <p:sldId id="262" r:id="rId12"/>
    <p:sldId id="263" r:id="rId13"/>
    <p:sldId id="264" r:id="rId14"/>
    <p:sldId id="26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>
            <a:extLst>
              <a:ext uri="{FF2B5EF4-FFF2-40B4-BE49-F238E27FC236}">
                <a16:creationId xmlns:a16="http://schemas.microsoft.com/office/drawing/2014/main" id="{261CADFC-E468-A9CF-CA9D-3603C11068A9}"/>
              </a:ext>
            </a:extLst>
          </p:cNvPr>
          <p:cNvSpPr txBox="1"/>
          <p:nvPr/>
        </p:nvSpPr>
        <p:spPr>
          <a:xfrm>
            <a:off x="844216" y="471493"/>
            <a:ext cx="10503568" cy="11287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360"/>
              </a:lnSpc>
            </a:pPr>
            <a:r>
              <a:rPr lang="en-US" sz="4400" b="1" dirty="0">
                <a:solidFill>
                  <a:srgbClr val="244498"/>
                </a:solidFill>
                <a:latin typeface="Arial" panose="020B0604020202020204" pitchFamily="34" charset="0"/>
                <a:ea typeface="Crimson Pro Bold"/>
                <a:cs typeface="Arial" panose="020B0604020202020204" pitchFamily="34" charset="0"/>
                <a:sym typeface="Crimson Pro Bold"/>
              </a:rPr>
              <a:t>TRƯỜNG TIỂU HỌC VÀ THCS UNIGO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CCC6F9-9D0B-8FA1-C7A3-6C656AB9CDE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780673"/>
            <a:ext cx="11887200" cy="3764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6245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0AB71-A960-5C29-67C4-E061282DF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0315" y="215531"/>
            <a:ext cx="3826042" cy="86154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Môn Tin </a:t>
            </a:r>
            <a:r>
              <a:rPr lang="en-US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học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lớp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146585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3F47A-2A03-62D2-8A5D-F03932A437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E052A-67C4-3C30-0BE8-A144FDC57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5463" y="335847"/>
            <a:ext cx="3826042" cy="86154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Môn Tin </a:t>
            </a:r>
            <a:r>
              <a:rPr lang="en-US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học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  <a:r>
              <a:rPr lang="en-US" dirty="0" err="1">
                <a:solidFill>
                  <a:schemeClr val="tx2">
                    <a:lumMod val="75000"/>
                    <a:lumOff val="25000"/>
                  </a:schemeClr>
                </a:solidFill>
              </a:rPr>
              <a:t>lớp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04304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39">
            <a:extLst>
              <a:ext uri="{FF2B5EF4-FFF2-40B4-BE49-F238E27FC236}">
                <a16:creationId xmlns:a16="http://schemas.microsoft.com/office/drawing/2014/main" id="{9F8C78EA-1C6B-6C35-6191-129F37672DA8}"/>
              </a:ext>
            </a:extLst>
          </p:cNvPr>
          <p:cNvSpPr txBox="1"/>
          <p:nvPr/>
        </p:nvSpPr>
        <p:spPr>
          <a:xfrm>
            <a:off x="320174" y="2413337"/>
            <a:ext cx="11551651" cy="1015663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6600" dirty="0">
                <a:solidFill>
                  <a:schemeClr val="tx2">
                    <a:lumMod val="75000"/>
                    <a:lumOff val="25000"/>
                  </a:schemeClr>
                </a:solidFill>
                <a:latin typeface="Monotype Corsiva" panose="03010101010201010101" pitchFamily="66" charset="0"/>
                <a:ea typeface="Monggirella script"/>
                <a:cs typeface="Monggirella script"/>
                <a:sym typeface="Monggirella script"/>
              </a:rPr>
              <a:t>Thanks for listening</a:t>
            </a:r>
          </a:p>
        </p:txBody>
      </p:sp>
    </p:spTree>
    <p:extLst>
      <p:ext uri="{BB962C8B-B14F-4D97-AF65-F5344CB8AC3E}">
        <p14:creationId xmlns:p14="http://schemas.microsoft.com/office/powerpoint/2010/main" val="1292696729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Quản lý dữ liệu trong máy tính 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1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Tin học • Lớp 7 • Tiết 3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LỚP 7 • VÍ DỤ MINH HỌA TRỰC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600" b="1">
                <a:solidFill>
                  <a:srgbClr val="0C4A6E"/>
                </a:solidFill>
                <a:latin typeface="Arial"/>
              </a:defRPr>
            </a:pPr>
            <a:r>
              <a:t>Sao lưu &amp; Bảo vệ dữ liệu an toàn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4206240" cy="338327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09728" cy="3383279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3749039" cy="283463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• Sao lưu dữ liệu định kỳ (Backup)</a:t>
            </a:r>
          </a:p>
          <a:p>
            <a:pPr algn="l">
              <a:spcAft>
                <a:spcPts val="6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• Lưu trữ đám mây: Google Drive, OneDrive</a:t>
            </a:r>
          </a:p>
          <a:p>
            <a:pPr algn="l">
              <a:spcAft>
                <a:spcPts val="6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• Nén tệp giảm dung lượng: .zip, .rar</a:t>
            </a:r>
          </a:p>
          <a:p>
            <a:pPr algn="l">
              <a:spcAft>
                <a:spcPts val="6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• Đặt mật khẩu bảo vệ tài liệu quan trọng</a:t>
            </a:r>
          </a:p>
        </p:txBody>
      </p:sp>
      <p:pic>
        <p:nvPicPr>
          <p:cNvPr id="9" name="Picture 8" descr="learn1_car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2286000"/>
            <a:ext cx="6793992" cy="3383279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LỚP 7 • QUY CHUẨN TRỰC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600" b="1">
                <a:solidFill>
                  <a:srgbClr val="0C4A6E"/>
                </a:solidFill>
                <a:latin typeface="Arial"/>
              </a:defRPr>
            </a:pPr>
            <a:r>
              <a:t>Quy trình nén và giải nén tệp tin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82880" cy="640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95728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Chọn tệp cần nén -&gt; Nhấp chuột phải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054096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054096"/>
            <a:ext cx="18288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63824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Chọn Send to -&gt; Compressed (zipped) folder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822191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822191"/>
            <a:ext cx="182880" cy="640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931920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Tệp .zip giúp gửi thư điện tử nhanh chóng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590288"/>
            <a:ext cx="5669280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590288"/>
            <a:ext cx="182880" cy="6400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700016"/>
            <a:ext cx="5120640" cy="420623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rial"/>
              </a:defRPr>
            </a:pPr>
            <a:r>
              <a:t>Nhấp chuột phải -&gt; Extract All để giải nén</a:t>
            </a:r>
          </a:p>
        </p:txBody>
      </p:sp>
      <p:pic>
        <p:nvPicPr>
          <p:cNvPr id="18" name="Picture 17" descr="learn1_car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30952" cy="3383279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LỚP 7 • BÀI HỌC VÀ KẾT LUẬN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19"/>
            <a:ext cx="7772400" cy="822959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83079"/>
            <a:ext cx="7315200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000" b="1">
                <a:solidFill>
                  <a:srgbClr val="0369A1"/>
                </a:solidFill>
                <a:latin typeface="Arial"/>
              </a:defRPr>
            </a:pPr>
            <a:r>
              <a:t>💬 Tại sao phải sao lưu dữ liệu sang nhiều nơi?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7315200" cy="11887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👉 Đề phòng máy tính bị hỏng ổ cứng hoặc nhiễm virus.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👉 Có thể khôi phục lại dữ liệu học tập bất cứ lúc nào.</a:t>
            </a:r>
          </a:p>
        </p:txBody>
      </p:sp>
      <p:pic>
        <p:nvPicPr>
          <p:cNvPr id="8" name="Picture 7" descr="learn1_car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645919"/>
            <a:ext cx="2926080" cy="21031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4526279"/>
            <a:ext cx="11091672" cy="114300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526279"/>
            <a:ext cx="182880" cy="1143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709159"/>
            <a:ext cx="10543032" cy="77723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000" b="1">
                <a:solidFill>
                  <a:srgbClr val="9A3412"/>
                </a:solidFill>
                <a:latin typeface="Arial"/>
              </a:defRPr>
            </a:pPr>
            <a:r>
              <a:t>💡 KẾT LUẬN: Chủ động sao lưu và bảo mật dữ liệu là thói quen quan trọng của công dân số thông minh!</a:t>
            </a:r>
          </a:p>
        </p:txBody>
      </p:sp>
    </p:spTree>
  </p:cSld>
  <p:clrMapOvr>
    <a:masterClrMapping/>
  </p:clrMapOvr>
  <p:transition spd="med">
    <p:cover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59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rial"/>
              </a:defRPr>
            </a:pPr>
            <a:r>
              <a:t>  LỚP 7 • THỬ THÁCH TRẮC NGHIỆM VUI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6400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2200" b="1">
                <a:solidFill>
                  <a:srgbClr val="1E293B"/>
                </a:solidFill>
                <a:latin typeface="Arial"/>
              </a:defRPr>
            </a:pPr>
            <a:r>
              <a:t>❓ Định dạng tệp nào sau đây là tệp nén dữ liệu?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7744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A. .docx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237744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4496" y="237744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260604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B. .zip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06908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406908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29768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C. .pptx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4069080"/>
            <a:ext cx="5477256" cy="146304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54496" y="4069080"/>
            <a:ext cx="137160" cy="14630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4297680"/>
            <a:ext cx="5020056" cy="10058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defRPr sz="1900" b="1">
                <a:solidFill>
                  <a:srgbClr val="78350F"/>
                </a:solidFill>
                <a:latin typeface="Arial"/>
              </a:defRPr>
            </a:pPr>
            <a:r>
              <a:t>D. .mp3</a:t>
            </a:r>
          </a:p>
        </p:txBody>
      </p:sp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t>Hoàn thành Tiết 3! 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0152" cy="9144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Arial"/>
              </a:defRPr>
            </a:pPr>
            <a:r>
              <a:t>Chuẩn bị bài tiếp theo: Mạng xã hội (Tiết 4) nhé!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