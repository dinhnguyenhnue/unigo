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Quản lý dữ liệu &amp; Mạng xã hội 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7 • Tiết 3 &amp; 4</a:t>
            </a:r>
          </a:p>
        </p:txBody>
      </p:sp>
      <p:pic>
        <p:nvPicPr>
          <p:cNvPr id="6" name="Picture 5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3. QUẢN LÝ DỮ LIỆU &amp; BÀI 4. MẠNG XÃ HỘI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Bảo vệ thông tin cá nhân trên không gian mạng!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Mạng xã hội giúp em kết nối với bạn bè khắp nơi.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0C4A6E"/>
                </a:solidFill>
                <a:latin typeface="Arial"/>
              </a:rPr>
              <a:t>Nhưng làm sao để bảo vệ dữ liệu cá nhân không bị đánh cắp và lừa đảo?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KHÁM PHÁ VIDEO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Quản lý dữ liệu &amp; Văn hóa Mạng xã hội 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C4A6E"/>
                </a:solidFill>
                <a:latin typeface="Arial"/>
              </a:rPr>
              <a:t>Video chia sẻ kỹ năng quản lý tệp tin an toàn và các nguyên tắc ứng xử văn minh trên mạng xã hội!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C4A6E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C4A6E"/>
                </a:solidFill>
                <a:latin typeface="Arial"/>
              </a:rPr>
              <a:t>🔗 Đường link video tham khảo: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C4A6E"/>
                </a:solidFill>
                <a:latin typeface="Arial"/>
              </a:rPr>
              <a:t>https://www.youtube.com/watch?v=5Vj6m7k8n0P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C4A6E"/>
                </a:solidFill>
                <a:latin typeface="Arial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0C4A6E"/>
                </a:solidFill>
                <a:latin typeface="Arial"/>
              </a:rPr>
              <a:t>💡 Thầy/Cô sẽ chiếu video cho các em quan sát nhé!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3. QUẢN LÝ DỮ LIỆU &amp; BÀI 4. MẠNG XÃ HỘI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Tiết 3: Quản lý dữ liệu trong máy tính</a:t>
            </a:r>
          </a:p>
        </p:txBody>
      </p:sp>
      <p:pic>
        <p:nvPicPr>
          <p:cNvPr id="6" name="Picture 5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2194560" cy="7338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880360" y="2286000"/>
            <a:ext cx="8851392" cy="7338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2286000"/>
            <a:ext cx="91440" cy="7338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423160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Phần mềm quản lý tệp tin (File Explorer)</a:t>
            </a:r>
          </a:p>
        </p:txBody>
      </p:sp>
      <p:pic>
        <p:nvPicPr>
          <p:cNvPr id="10" name="Picture 9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4398"/>
            <a:ext cx="2194560" cy="73380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880360" y="3184398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3184398"/>
            <a:ext cx="91440" cy="73380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321558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Sao lưu dữ liệu định kỳ (Backup) lên đám mây hoặc ổ cứng ngoài</a:t>
            </a:r>
          </a:p>
        </p:txBody>
      </p:sp>
      <p:pic>
        <p:nvPicPr>
          <p:cNvPr id="14" name="Picture 13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82796"/>
            <a:ext cx="2194560" cy="73380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880360" y="4082796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4082796"/>
            <a:ext cx="91440" cy="73380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219956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Đặt tên tệp và thư mục khoa học, dễ tìm kiếm</a:t>
            </a:r>
          </a:p>
        </p:txBody>
      </p:sp>
      <p:pic>
        <p:nvPicPr>
          <p:cNvPr id="18" name="Picture 17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81194"/>
            <a:ext cx="2194560" cy="73380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880360" y="4981194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4981194"/>
            <a:ext cx="91440" cy="73380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5118354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Các biện pháp bảo vệ dữ liệu: đặt mật khẩu, cài phần mềm diệt virus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BÀI 3. QUẢN LÝ DỮ LIỆU &amp; BÀI 4. MẠNG XÃ HỘI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Tiết 4: Mạng xã hội &amp; Kênh trao đổi thông tin</a:t>
            </a:r>
          </a:p>
        </p:txBody>
      </p:sp>
      <p:pic>
        <p:nvPicPr>
          <p:cNvPr id="6" name="Picture 5" descr="learn2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2194560" cy="73380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880360" y="2286000"/>
            <a:ext cx="8851392" cy="73380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360" y="2286000"/>
            <a:ext cx="91440" cy="733805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423160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Khái niệm Mạng xã hội: nền tảng kết nối, chia sẻ nội dung trực tuyến</a:t>
            </a:r>
          </a:p>
        </p:txBody>
      </p:sp>
      <p:pic>
        <p:nvPicPr>
          <p:cNvPr id="10" name="Picture 9" descr="learn2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84398"/>
            <a:ext cx="2194560" cy="73380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880360" y="3184398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3184398"/>
            <a:ext cx="91440" cy="73380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3321558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Các mạng xã hội phổ biến: Facebook, Zalo, YouTube, TikTok</a:t>
            </a:r>
          </a:p>
        </p:txBody>
      </p:sp>
      <p:pic>
        <p:nvPicPr>
          <p:cNvPr id="14" name="Picture 13" descr="learn2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82796"/>
            <a:ext cx="2194560" cy="73380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880360" y="4082796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80360" y="4082796"/>
            <a:ext cx="91440" cy="73380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4219956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Mặt tích cực: giao lưu, học tập, lan tỏa giá trị nhân văn</a:t>
            </a:r>
          </a:p>
        </p:txBody>
      </p:sp>
      <p:pic>
        <p:nvPicPr>
          <p:cNvPr id="18" name="Picture 17" descr="learn2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81194"/>
            <a:ext cx="2194560" cy="73380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880360" y="4981194"/>
            <a:ext cx="8851392" cy="7338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80360" y="4981194"/>
            <a:ext cx="91440" cy="73380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5118354"/>
            <a:ext cx="8485632" cy="459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rial"/>
              </a:rPr>
              <a:t>Mặt tiêu cực: nguy cơ lộ lọt thông tin, bạo lực mạng, tin giả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LUYỆN TẬP TƯƠNG TÁC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Thực hành ứng xử an toàn trên mạng!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C4A6E"/>
                </a:solidFill>
                <a:latin typeface="Arial"/>
              </a:rPr>
              <a:t>Xử lý các tình huống thực tế: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Nhận được tin nhắn trúng thưởng lạ ↔ Không nhấn vào link!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earn1_car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Người lạ hỏi địa chỉ nhà, số điện thoại ↔ Tuyệt đối không cung cấp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car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Bắt gặp thông tin xấu độc ↔ Báo cáo (Report) và chặn tài khoản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1_card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C4A6E"/>
                </a:solidFill>
                <a:latin typeface="Arial"/>
              </a:rPr>
              <a:t>Sao lưu ảnh học tập ↔ Tải lên Google Drive hoặc OneDrive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7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C4A6E"/>
                </a:solidFill>
                <a:latin typeface="Arial"/>
              </a:rPr>
              <a:t>Thảo luận: Nguyên tắc 5K trên không gian số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C4A6E"/>
                </a:solidFill>
                <a:latin typeface="Arial"/>
              </a:rPr>
              <a:t>Thảo luận nhóm 4 học sinh (5 phút):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C4A6E"/>
                </a:solidFill>
                <a:latin typeface="Arial"/>
              </a:rPr>
              <a:t>Không tin ngay các thông tin giật gân chưa kiểm chứng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C4A6E"/>
                </a:solidFill>
                <a:latin typeface="Arial"/>
              </a:rPr>
              <a:t>Không chia sẻ thông tin cá nhân, mật khẩu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C4A6E"/>
                </a:solidFill>
                <a:latin typeface="Arial"/>
              </a:rPr>
              <a:t>Không bình luận, công kích thô bạo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0C4A6E"/>
                </a:solidFill>
                <a:latin typeface="Arial"/>
              </a:rPr>
              <a:t>Không tải phần mềm từ các nguồn không rõ ràng</a:t>
            </a:r>
          </a:p>
        </p:txBody>
      </p:sp>
      <p:pic>
        <p:nvPicPr>
          <p:cNvPr id="9" name="Picture 8" descr="learn1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1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C4A6E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3331464" cy="3291839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2240279"/>
            <a:ext cx="411480" cy="41148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Quản lý và sao lưu dữ liệu an toàn, khoa học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8744" y="2103120"/>
            <a:ext cx="3331464" cy="3291839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65904" y="2240279"/>
            <a:ext cx="411480" cy="41148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5904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5904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Hiểu rõ 2 mặt của Mạng xã hội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43088" y="2103120"/>
            <a:ext cx="3331464" cy="3291839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080248" y="2240279"/>
            <a:ext cx="411480" cy="411480"/>
          </a:xfrm>
          <a:prstGeom prst="ellipse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0248" y="2240279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0248" y="2743200"/>
            <a:ext cx="3057144" cy="2514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C4A6E"/>
                </a:solidFill>
                <a:latin typeface="Arial"/>
              </a:rPr>
              <a:t>Thực hiện ứng xử văn minh và bảo vệ danh tính số</a:t>
            </a:r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Bài học kết thúc! 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BTVN: Kiểm tra và thiết lập bảo mật 2 lớp cho tài khoản mạng xã hội của em!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