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Quản lý dữ liệu &amp; Mạng xã hội 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Tin học • Lớp 7 • Tiết 3 &amp; 4</a:t>
            </a:r>
          </a:p>
        </p:txBody>
      </p:sp>
      <p:pic>
        <p:nvPicPr>
          <p:cNvPr id="6" name="Picture 5" descr="p10_img1_1140x160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7 • BÀI 3. QUẢN LÝ DỮ LIỆU &amp; BÀI 4. MẠNG XÃ HỘI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4A6E"/>
                </a:solidFill>
                <a:latin typeface="Arial"/>
              </a:rPr>
              <a:t>Bảo vệ thông tin cá nhân trên không gian mạng!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0C4A6E"/>
                </a:solidFill>
                <a:latin typeface="Arial"/>
              </a:rPr>
              <a:t>Mạng xã hội giúp em kết nối với bạn bè khắp nơi.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0C4A6E"/>
                </a:solidFill>
                <a:latin typeface="Arial"/>
              </a:rPr>
              <a:t>Nhưng làm sao để bảo vệ dữ liệu cá nhân không bị đánh cắp và lừa đảo?</a:t>
            </a:r>
          </a:p>
        </p:txBody>
      </p:sp>
      <p:pic>
        <p:nvPicPr>
          <p:cNvPr id="9" name="Picture 8" descr="p10_img1_1140x160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7 • KHÁM PHÁ VIDEO BÀI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4A6E"/>
                </a:solidFill>
                <a:latin typeface="Arial"/>
              </a:rPr>
              <a:t>Quản lý dữ liệu &amp; Văn hóa Mạng xã hội 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0C4A6E"/>
                </a:solidFill>
                <a:latin typeface="Arial"/>
              </a:rPr>
              <a:t>Video chia sẻ kỹ năng quản lý tệp tin an toàn và các nguyên tắc ứng xử văn minh trên mạng xã hội!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C4A6E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C4A6E"/>
                </a:solidFill>
                <a:latin typeface="Arial"/>
              </a:rPr>
              <a:t>🔗 Đường link video tham khảo: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C4A6E"/>
                </a:solidFill>
                <a:latin typeface="Arial"/>
              </a:rPr>
              <a:t>https://www.youtube.com/watch?v=5Vj6m7k8n0P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C4A6E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C4A6E"/>
                </a:solidFill>
                <a:latin typeface="Arial"/>
              </a:rPr>
              <a:t>💡 Thầy/Cô sẽ chiếu video cho các em quan sát nhé!</a:t>
            </a:r>
          </a:p>
        </p:txBody>
      </p:sp>
      <p:pic>
        <p:nvPicPr>
          <p:cNvPr id="9" name="Picture 8" descr="p10_img1_1140x160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7 • BÀI 3. QUẢN LÝ DỮ LIỆU &amp; BÀI 4. MẠNG XÃ HỘI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4A6E"/>
                </a:solidFill>
                <a:latin typeface="Arial"/>
              </a:rPr>
              <a:t>Tiết 3: Quản lý dữ liệu trong máy tính</a:t>
            </a:r>
          </a:p>
        </p:txBody>
      </p:sp>
      <p:pic>
        <p:nvPicPr>
          <p:cNvPr id="6" name="Picture 5" descr="p10_img1_1140x160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6000"/>
            <a:ext cx="1828800" cy="7543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468880" y="2286000"/>
            <a:ext cx="9262872" cy="7543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68880" y="2286000"/>
            <a:ext cx="73152" cy="7543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2423160"/>
            <a:ext cx="8897111" cy="48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C4A6E"/>
                </a:solidFill>
                <a:latin typeface="Arial"/>
              </a:rPr>
              <a:t>Phần mềm quản lý tệp tin (File Explorer)</a:t>
            </a:r>
          </a:p>
        </p:txBody>
      </p:sp>
      <p:pic>
        <p:nvPicPr>
          <p:cNvPr id="10" name="Picture 9" descr="p11_img1_1140x160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177540"/>
            <a:ext cx="1828800" cy="75437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468880" y="3177540"/>
            <a:ext cx="9262872" cy="7543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68880" y="3177540"/>
            <a:ext cx="73152" cy="75437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3314700"/>
            <a:ext cx="8897111" cy="48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C4A6E"/>
                </a:solidFill>
                <a:latin typeface="Arial"/>
              </a:rPr>
              <a:t>Sao lưu dữ liệu định kỳ (Backup) lên đám mây hoặc ổ cứng ngoài</a:t>
            </a:r>
          </a:p>
        </p:txBody>
      </p:sp>
      <p:pic>
        <p:nvPicPr>
          <p:cNvPr id="14" name="Picture 13" descr="p12_img1_1140x1600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069080"/>
            <a:ext cx="1828800" cy="7543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468880" y="4069080"/>
            <a:ext cx="9262872" cy="7543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68880" y="4069080"/>
            <a:ext cx="73152" cy="7543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97480" y="4206240"/>
            <a:ext cx="8897111" cy="48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C4A6E"/>
                </a:solidFill>
                <a:latin typeface="Arial"/>
              </a:rPr>
              <a:t>Đặt tên tệp và thư mục khoa học, dễ tìm kiếm</a:t>
            </a:r>
          </a:p>
        </p:txBody>
      </p:sp>
      <p:pic>
        <p:nvPicPr>
          <p:cNvPr id="18" name="Picture 17" descr="p13_img1_1140x1600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960620"/>
            <a:ext cx="1828800" cy="75438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2468880" y="4960620"/>
            <a:ext cx="9262872" cy="7543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68880" y="4960620"/>
            <a:ext cx="73152" cy="7543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97480" y="5097780"/>
            <a:ext cx="8897111" cy="48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C4A6E"/>
                </a:solidFill>
                <a:latin typeface="Arial"/>
              </a:rPr>
              <a:t>Các biện pháp bảo vệ dữ liệu: đặt mật khẩu, cài phần mềm diệt virus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7 • BÀI 3. QUẢN LÝ DỮ LIỆU &amp; BÀI 4. MẠNG XÃ HỘI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4A6E"/>
                </a:solidFill>
                <a:latin typeface="Arial"/>
              </a:rPr>
              <a:t>Tiết 4: Mạng xã hội &amp; Kênh trao đổi thông tin</a:t>
            </a:r>
          </a:p>
        </p:txBody>
      </p:sp>
      <p:pic>
        <p:nvPicPr>
          <p:cNvPr id="6" name="Picture 5" descr="p13_img1_1140x160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6000"/>
            <a:ext cx="1828800" cy="7543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468880" y="2286000"/>
            <a:ext cx="9262872" cy="7543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68880" y="2286000"/>
            <a:ext cx="73152" cy="7543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2423160"/>
            <a:ext cx="8897111" cy="48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C4A6E"/>
                </a:solidFill>
                <a:latin typeface="Arial"/>
              </a:rPr>
              <a:t>Khái niệm Mạng xã hội: nền tảng kết nối, chia sẻ nội dung trực tuyến</a:t>
            </a:r>
          </a:p>
        </p:txBody>
      </p:sp>
      <p:pic>
        <p:nvPicPr>
          <p:cNvPr id="10" name="Picture 9" descr="p14_img1_1140x160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177540"/>
            <a:ext cx="1828800" cy="75437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468880" y="3177540"/>
            <a:ext cx="9262872" cy="7543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68880" y="3177540"/>
            <a:ext cx="73152" cy="75437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3314700"/>
            <a:ext cx="8897111" cy="48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C4A6E"/>
                </a:solidFill>
                <a:latin typeface="Arial"/>
              </a:rPr>
              <a:t>Các mạng xã hội phổ biến: Facebook, Zalo, YouTube, TikTok</a:t>
            </a:r>
          </a:p>
        </p:txBody>
      </p:sp>
      <p:pic>
        <p:nvPicPr>
          <p:cNvPr id="14" name="Picture 13" descr="p15_img1_1140x1600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069080"/>
            <a:ext cx="1828800" cy="7543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468880" y="4069080"/>
            <a:ext cx="9262872" cy="7543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68880" y="4069080"/>
            <a:ext cx="73152" cy="7543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97480" y="4206240"/>
            <a:ext cx="8897111" cy="48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C4A6E"/>
                </a:solidFill>
                <a:latin typeface="Arial"/>
              </a:rPr>
              <a:t>Mặt tích cực: giao lưu, học tập, lan tỏa giá trị nhân văn</a:t>
            </a:r>
          </a:p>
        </p:txBody>
      </p:sp>
      <p:pic>
        <p:nvPicPr>
          <p:cNvPr id="18" name="Picture 17" descr="p16_img1_1140x1600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960620"/>
            <a:ext cx="1828800" cy="75438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2468880" y="4960620"/>
            <a:ext cx="9262872" cy="7543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68880" y="4960620"/>
            <a:ext cx="73152" cy="7543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97480" y="5097780"/>
            <a:ext cx="8897111" cy="48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C4A6E"/>
                </a:solidFill>
                <a:latin typeface="Arial"/>
              </a:rPr>
              <a:t>Mặt tiêu cực: nguy cơ lộ lọt thông tin, bạo lực mạng, tin giả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7 • LUYỆN TẬP TƯƠNG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4A6E"/>
                </a:solidFill>
                <a:latin typeface="Arial"/>
              </a:rPr>
              <a:t>Thực hành ứng xử an toàn trên mạng!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Xử lý các tình huống thực tế: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10_img1_1140x160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79"/>
            <a:ext cx="128016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C4A6E"/>
                </a:solidFill>
                <a:latin typeface="Arial"/>
              </a:rPr>
              <a:t>Nhận được tin nhắn trúng thưởng lạ ↔ Không nhấn vào link!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11_img1_1140x160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3154679"/>
            <a:ext cx="128016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54696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C4A6E"/>
                </a:solidFill>
                <a:latin typeface="Arial"/>
              </a:rPr>
              <a:t>Người lạ hỏi địa chỉ nhà, số điện thoại ↔ Tuyệt đối không cung cấp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12_img1_1140x1600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663440"/>
            <a:ext cx="1280160" cy="10058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3120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C4A6E"/>
                </a:solidFill>
                <a:latin typeface="Arial"/>
              </a:rPr>
              <a:t>Bắt gặp thông tin xấu độc ↔ Báo cáo (Report) và chặn tài khoản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13_img1_1140x1600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656" y="4663440"/>
            <a:ext cx="1280160" cy="10058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54696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C4A6E"/>
                </a:solidFill>
                <a:latin typeface="Arial"/>
              </a:rPr>
              <a:t>Sao lưu ảnh học tập ↔ Tải lên Google Drive hoặc OneDrive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3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9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7 • THỬ THÁCH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4A6E"/>
                </a:solidFill>
                <a:latin typeface="Arial"/>
              </a:rPr>
              <a:t>Thảo luận: Nguyên tắc 5K trên không gian số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4008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852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Thảo luận nhóm 4 học sinh (5 phút):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Không tin ngay các thông tin giật gân chưa kiểm chứng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Không chia sẻ thông tin cá nhân, mật khẩu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Không bình luận, công kích thô bạo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Không tải phần mềm từ các nguồn không rõ ràng</a:t>
            </a:r>
          </a:p>
        </p:txBody>
      </p:sp>
      <p:pic>
        <p:nvPicPr>
          <p:cNvPr id="9" name="Picture 8" descr="p10_img1_1140x160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77440"/>
            <a:ext cx="4572000" cy="320039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19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C4A6E"/>
                </a:solidFill>
                <a:latin typeface="Arial"/>
              </a:rPr>
              <a:t>Tóm tắt bài học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03120"/>
            <a:ext cx="3331464" cy="3291839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240279"/>
            <a:ext cx="411480" cy="411480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C4A6E"/>
                </a:solidFill>
                <a:latin typeface="Arial"/>
              </a:rPr>
              <a:t>Quản lý và sao lưu dữ liệu an toàn, khoa học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8744" y="2103120"/>
            <a:ext cx="3331464" cy="3291839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65904" y="2240279"/>
            <a:ext cx="411480" cy="411480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5904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5904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C4A6E"/>
                </a:solidFill>
                <a:latin typeface="Arial"/>
              </a:rPr>
              <a:t>Hiểu rõ 2 mặt của Mạng xã hội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43088" y="2103120"/>
            <a:ext cx="3331464" cy="3291839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80248" y="2240279"/>
            <a:ext cx="411480" cy="411480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248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248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C4A6E"/>
                </a:solidFill>
                <a:latin typeface="Arial"/>
              </a:rPr>
              <a:t>Thực hiện ứng xử văn minh và bảo vệ danh tính số</a:t>
            </a:r>
          </a:p>
        </p:txBody>
      </p:sp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Bài học kết thúc! 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BTVN: Kiểm tra và thiết lập bảo mật 2 lớp cho tài khoản mạng xã hội của em!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