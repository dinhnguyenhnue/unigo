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Lược sử công cụ tính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57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Arial"/>
              </a:rPr>
              <a:t>Tin học • Lớp 8 • Bài 1</a:t>
            </a:r>
          </a:p>
        </p:txBody>
      </p:sp>
      <p:pic>
        <p:nvPicPr>
          <p:cNvPr id="6" name="Picture 5" descr="bai1_pag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BÀI 1. LƯỢC SỬ CÔNG CỤ TÍNH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Quan sát và so sánh!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Hãy nhìn 2 hình ảnh: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Chiếc bàn tính Abacus cổ đại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Siêu máy tính hiện đại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Có điểm gì GIỐNG và KHÁC nhau?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2 phút thảo luận cặp đôi</a:t>
            </a:r>
          </a:p>
        </p:txBody>
      </p:sp>
      <p:pic>
        <p:nvPicPr>
          <p:cNvPr id="9" name="Picture 8" descr="bai1_pag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BÀI 1. LƯỢC SỬ CÔNG CỤ TÍNH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Hành trình từ Abacus đến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Dòng thời gian lược sử: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~2400 TCN — Bàn tính Abacus (Lưỡng Hà)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1642 — Máy Pascaline (Blaise Pascal)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1834 — Máy phân tích (Charles Babbage)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1946 — ENIAC (máy tính điện tử đầu tiên)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1971 — Microprocessor (Intel 4004)</a:t>
            </a:r>
          </a:p>
        </p:txBody>
      </p:sp>
      <p:pic>
        <p:nvPicPr>
          <p:cNvPr id="9" name="Picture 8" descr="bai1_p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BÀI 1. LƯỢC SỬ CÔNG CỤ TÍNH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5 thế hệ máy tính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Thế hệ 1 (1940-1956): Đèn chân không, rất lớn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Thế hệ 2 (1956-1963): Transistor, nhỏ hơn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Thế hệ 3 (1964-1971): Mạch tích hợp (IC)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Thế hệ 4 (1971-nay): Vi xử lý, PC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Thế hệ 5 (tương lai): Trí tuệ nhân tạo (AI)</a:t>
            </a:r>
          </a:p>
        </p:txBody>
      </p:sp>
      <p:pic>
        <p:nvPicPr>
          <p:cNvPr id="9" name="Picture 8" descr="bai1_p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BÀI 1. LƯỢC SỬ CÔNG CỤ TÍNH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Xu hướng phát triển hiện nay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Máy tính ngày càng NHỎ hơn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Tốc độ xử lý ngày càng NHANH hơn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Trí tuệ nhân tạo (AI) — máy biết "suy nghĩ"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Điện toán đám mây (Cloud Computing)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Internet vạn vật (IoT)</a:t>
            </a:r>
          </a:p>
        </p:txBody>
      </p:sp>
      <p:pic>
        <p:nvPicPr>
          <p:cNvPr id="9" name="Picture 8" descr="bai1_p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Sắp xếp theo thời gian!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78350F"/>
                </a:solidFill>
                <a:latin typeface="Arial"/>
              </a:rPr>
              <a:t>Hãy sắp xếp đúng thứ tự lịch sử: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51A03"/>
                </a:solidFill>
                <a:latin typeface="Arial"/>
              </a:rPr>
              <a:t>ENIAC (1946)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4516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51A03"/>
                </a:solidFill>
                <a:latin typeface="Arial"/>
              </a:rPr>
              <a:t>Abacus (~2400 TCN)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51A03"/>
                </a:solidFill>
                <a:latin typeface="Arial"/>
              </a:rPr>
              <a:t>Microprocessor (1971)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51A03"/>
                </a:solidFill>
                <a:latin typeface="Arial"/>
              </a:rPr>
              <a:t>Pascaline (1642)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5720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6634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51A03"/>
                </a:solidFill>
                <a:latin typeface="Arial"/>
              </a:rPr>
              <a:t>Smartphone (2007)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Thảo luận: Tương lai?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78350F"/>
                </a:solidFill>
                <a:latin typeface="Arial"/>
              </a:rPr>
              <a:t>Nhóm 4 em, thảo luận (5 phút):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78350F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78350F"/>
                </a:solidFill>
                <a:latin typeface="Arial"/>
              </a:rPr>
              <a:t>"Máy tính thế hệ 5 (AI) sẽ thay đổi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78350F"/>
                </a:solidFill>
                <a:latin typeface="Arial"/>
              </a:rPr>
              <a:t>cuộc sống như thế nào?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78350F"/>
                </a:solidFill>
                <a:latin typeface="Arial"/>
              </a:rPr>
              <a:t>Em nghĩ 20 năm nữa máy tính sẽ ra sao?"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78350F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78350F"/>
                </a:solidFill>
                <a:latin typeface="Arial"/>
              </a:rPr>
              <a:t>Trình bày 2 phút/nhóm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599"/>
            <a:ext cx="10543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B45309"/>
                </a:solidFill>
                <a:latin typeface="Arial"/>
              </a:rPr>
              <a:t>Tóm tắt bài học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057400"/>
            <a:ext cx="7434072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73152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9994392" cy="64008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3774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8350F"/>
                </a:solidFill>
                <a:latin typeface="Arial"/>
              </a:rPr>
              <a:t>Công cụ tính toán phát triển hàng nghìn năm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00400"/>
            <a:ext cx="73152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200400"/>
            <a:ext cx="9994392" cy="64008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918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8350F"/>
                </a:solidFill>
                <a:latin typeface="Arial"/>
              </a:rPr>
              <a:t>5 thế hệ: Đèn CK → Transistor → IC → Vi xử lý →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14800"/>
            <a:ext cx="73152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114800"/>
            <a:ext cx="9994392" cy="64008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2062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8350F"/>
                </a:solidFill>
                <a:latin typeface="Arial"/>
              </a:rPr>
              <a:t>Xu hướng: nhỏ hơn, nhanh hơn, thông minh hơn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Bài học kết thúc!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6876" y="3063240"/>
            <a:ext cx="7315200" cy="228599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4076" y="3337560"/>
            <a:ext cx="6400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BTVN: Vẽ dòng thời gian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5 mốc lịch sử quan trọng nhất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của công cụ tính toán.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