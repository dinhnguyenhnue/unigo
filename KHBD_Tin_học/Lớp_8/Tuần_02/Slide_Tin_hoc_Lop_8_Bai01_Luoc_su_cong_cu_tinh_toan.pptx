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5"/>
    <p:sldId id="257" r:id="rId4"/>
    <p:sldId id="258" r:id="rId3"/>
    <p:sldId id="259" r:id="rId2"/>
    <p:sldId id="260" r:id="rId10"/>
    <p:sldId id="261" r:id="rId11"/>
    <p:sldId id="262" r:id="rId12"/>
    <p:sldId id="263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4" d="100"/>
          <a:sy n="64" d="100"/>
        </p:scale>
        <p:origin x="96" y="1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4.xml"/><Relationship Id="rId3" Type="http://schemas.openxmlformats.org/officeDocument/2006/relationships/slide" Target="slides/slide3.xml"/><Relationship Id="rId4" Type="http://schemas.openxmlformats.org/officeDocument/2006/relationships/slide" Target="slides/slide2.xml"/><Relationship Id="rId5" Type="http://schemas.openxmlformats.org/officeDocument/2006/relationships/slide" Target="slides/slide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B2D0BA-FBE9-6E44-691F-000C693EA2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CE97D33-3B98-BBDE-4334-263FB7EE47C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0CF0E5-ADF7-8470-3B9F-91C48728E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04DA-4D4F-4EDC-F344-F03CE86DB4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549F38-FA9E-B600-327E-9BDCCF1020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0410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BFD97-87FB-631E-EEF8-6E51DCB457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4DE0B9-02FF-4F72-ED16-1FB31B569E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7B87DC-AA2C-EDEA-982F-36A5FDC6D2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6E27A9-4B0A-C4FB-C65C-DD407FABC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47FF0C-E183-66BE-709C-448A4AC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60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744FD-7E48-FCDF-CF0B-2B23DE132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94DECC-CB72-B397-C02A-C5108354BF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31C495-26F5-512C-E243-F8AA335A8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8E351D-6FC7-D545-DF8A-EB162F5B4D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B95763-201D-C4E1-EB65-4B88B137B0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0148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5217B-8EC9-4EA4-9045-0C817687E4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88FE9A-0D5F-7AE0-E7C8-A53EE8AF7E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4AE5D0-63E8-DCD8-D6B8-306243F3FCD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859FF46-C6D8-B70D-34CC-F0BBD2514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5A21F2-0257-6653-C1B4-BE4271B70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888B2D-A696-926B-CB00-30CB39A210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59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2D1804-FC72-EA87-B283-0ED24BD9CD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D6F214-B860-807F-5D59-775C2C3CD3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872204-513C-7EE5-A63F-ACD7E6F1F0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089B82-4A6B-0A50-33A8-F57C641AA40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7602B8-966B-D55B-DF46-EF8FE962A89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35D0A2-DDAB-2DEB-1654-64E2CF135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F526C51-F9C1-C9F7-E325-9857444134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9CD2BB8-A738-B00D-CD4F-1E516729DC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551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5058C7-EC99-CA69-69A1-B71A2EE1FB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A82FDDE-258E-65C9-5E9B-059B5310B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688222D-5913-69EE-C0A1-2115B6A3B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364462-4379-23E8-5042-4188F2424E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80956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2B39AE-76E9-53E8-5AC2-AD6E83AE5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8A39721-3A37-FE8B-936D-3225F2B6F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6383E3-5325-C6DD-4FD0-655FEA72A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7331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99B1C8-88D4-EB75-0A5A-DBF764E94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FB7FCE-F57B-B919-56DD-5EDF6227BA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BC4E80-42F9-68B4-89A4-09F4B2E311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2E4884-0004-05C1-9162-12837C41B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10837C-4E57-5E0F-EC87-6499BA034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A4D633-7171-8A0D-E4C6-6D53E0859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1106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0E132-6996-68E8-4F29-37C27BB8EB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0434507-83A3-0D3E-B631-5AA2974E08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62259C-71C9-5E4F-343E-C0E87D750FE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B081087-DD77-D63D-A0AB-E7DF40F551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55EC71-8A66-0F0A-B040-0930D31AA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32627-5E94-EEB1-7186-47F0D5C6F5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5566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121772-A9B5-C630-07CA-DECD42CD7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2DBB18D-FEE1-0190-5A10-2B09E03977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CD711D-A70F-EF10-8E36-12C26924E8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F3B26D-7C72-7CF5-91E5-6B9F5303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AE76EA-4D7B-99B2-4676-A289DD637D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96339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1B24F8F-8C52-E27E-05DE-AD92E136AB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CCC27E-F320-1CAF-FC80-1F7384CA5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5A3655-F6DA-384A-BCB5-A32BD9B555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496872-344F-98B4-6458-BAACD263E5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A6A315-6909-97E2-34A8-B9CB86B9CF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549293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78B8C0F-9B11-4065-AE8C-7637290FB1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5032" y="829142"/>
            <a:ext cx="10198768" cy="861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5FE732-1FF5-3147-A7B1-F7E2E0778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77A1F-9F08-BD8F-DAF3-65DDCDFC4F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EA7EFA5-8E37-463D-AE92-97FC5095B482}" type="datetimeFigureOut">
              <a:rPr lang="en-US" smtClean="0"/>
              <a:t>8/4/2026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665A47-83AD-EE80-1199-0CCBE3548BC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F62C6C-6174-7774-F45D-8725FE4A3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8CEFBC2-8C04-4402-ABC4-7D77DEA1AF45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D2C332A-3D9A-458F-2703-2BC4602A665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940" y="136525"/>
            <a:ext cx="867744" cy="86154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10712185-E163-EB6D-9E42-C99AF00858F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81" t="23826" r="6770" b="30087"/>
          <a:stretch>
            <a:fillRect/>
          </a:stretch>
        </p:blipFill>
        <p:spPr>
          <a:xfrm>
            <a:off x="0" y="5883441"/>
            <a:ext cx="12252960" cy="11269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3477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1051560"/>
            <a:ext cx="12188952" cy="1645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6858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Arial"/>
              </a:rPr>
              <a:t>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0"/>
            <a:ext cx="6858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Arial"/>
              </a:rPr>
              <a:t>Tin học • Lớp 8 • Bài 1</a:t>
            </a:r>
          </a:p>
        </p:txBody>
      </p:sp>
      <p:pic>
        <p:nvPicPr>
          <p:cNvPr id="6" name="Picture 5" descr="bai1_p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4152" y="1325880"/>
            <a:ext cx="3474720" cy="34747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7315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Quan sát và so sánh!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8580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6309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So sánh hai hình ảnh: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● Chiếc bàn tính Abacus cổ đại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● Siêu máy tính hiện đại ngày nay</a:t>
            </a:r>
          </a:p>
          <a:p>
            <a:pPr algn="l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Điểm giống và khác nhau cốt lõi là gì?</a:t>
            </a:r>
          </a:p>
        </p:txBody>
      </p:sp>
      <p:pic>
        <p:nvPicPr>
          <p:cNvPr id="9" name="Picture 8" descr="bai1_p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2286000"/>
            <a:ext cx="4114799" cy="3383279"/>
          </a:xfrm>
          <a:prstGeom prst="rect">
            <a:avLst/>
          </a:prstGeom>
        </p:spPr>
      </p:pic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Từ bàn tính cổ đại đến máy tính cơ học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00583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822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51A03"/>
                </a:solidFill>
                <a:latin typeface="Arial"/>
              </a:rPr>
              <a:t>● Bàn tính Abacus (~2400 TCN) — công cụ tính toán đầu tiên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3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20439"/>
            <a:ext cx="109728" cy="100583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79"/>
            <a:ext cx="1645920" cy="82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65759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51A03"/>
                </a:solidFill>
                <a:latin typeface="Arial"/>
              </a:rPr>
              <a:t>● Máy tính Pascaline (1642 - Blaise Pascal) — máy tính cơ học dùng bánh răng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5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09159"/>
            <a:ext cx="109728" cy="100583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ag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0599"/>
            <a:ext cx="1645920" cy="8229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846320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51A03"/>
                </a:solidFill>
                <a:latin typeface="Arial"/>
              </a:rPr>
              <a:t>● Máy phân tích (1834 - Charles Babbage) — ý tưởng máy tính tự động đầu tiên</a:t>
            </a:r>
          </a:p>
        </p:txBody>
      </p:sp>
    </p:spTree>
  </p:cSld>
  <p:clrMapOvr>
    <a:masterClrMapping/>
  </p:clrMapOvr>
  <p:transition spd="med">
    <p:wip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Kỷ nguyên máy tính điện tử (ENIAC -&gt; PC)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00583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age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822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51A03"/>
                </a:solidFill>
                <a:latin typeface="Arial"/>
              </a:rPr>
              <a:t>● ENIAC (1946) — máy tính điện tử đầu tiên, dùng đèn chân không, nặng 30 tấn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3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20439"/>
            <a:ext cx="109728" cy="100583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age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79"/>
            <a:ext cx="1645920" cy="82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65759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51A03"/>
                </a:solidFill>
                <a:latin typeface="Arial"/>
              </a:rPr>
              <a:t>● Transistor &amp; Mạch tích hợp (IC) — giúp máy tính nhỏ gọn và nhanh hơn gấp ngàn lần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5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09159"/>
            <a:ext cx="109728" cy="100583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age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0599"/>
            <a:ext cx="1645920" cy="8229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846320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51A03"/>
                </a:solidFill>
                <a:latin typeface="Arial"/>
              </a:rPr>
              <a:t>● Microprocessor (1971) — sự ra đời của Máy tính cá nhân (PC)</a:t>
            </a:r>
          </a:p>
        </p:txBody>
      </p:sp>
    </p:spTree>
  </p:cSld>
  <p:clrMapOvr>
    <a:masterClrMapping/>
  </p:clrMapOvr>
  <p:transition spd="med">
    <p:wip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BÀI 1. LƯỢC SỬ CÔNG CỤ TÍNH TOÁN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Máy tính thế hệ mới &amp; Trí tuệ nhân tạo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331720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2331720"/>
            <a:ext cx="109728" cy="100583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ag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423160"/>
            <a:ext cx="1645920" cy="8229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51760" y="246887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51A03"/>
                </a:solidFill>
                <a:latin typeface="Arial"/>
              </a:rPr>
              <a:t>● Máy tính ngày càng nhỏ gọn, tốc độ siêu nhanh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52043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520439"/>
            <a:ext cx="109728" cy="100583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bai1_page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611879"/>
            <a:ext cx="1645920" cy="82295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651760" y="3657599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51A03"/>
                </a:solidFill>
                <a:latin typeface="Arial"/>
              </a:rPr>
              <a:t>● Điện toán đám mây &amp; Internet vạn vật (IoT)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709159"/>
            <a:ext cx="11274552" cy="100583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0D5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709159"/>
            <a:ext cx="109728" cy="100583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bai1_page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4800599"/>
            <a:ext cx="1645920" cy="82295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2651760" y="4846320"/>
            <a:ext cx="8897112" cy="73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451A03"/>
                </a:solidFill>
                <a:latin typeface="Arial"/>
              </a:rPr>
              <a:t>● Trí tuệ nhân tạo (AI) — máy tính biết học hỏi và suy luận</a:t>
            </a:r>
          </a:p>
        </p:txBody>
      </p:sp>
    </p:spTree>
  </p:cSld>
  <p:clrMapOvr>
    <a:masterClrMapping/>
  </p:clrMapOvr>
  <p:transition spd="med">
    <p:wip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LUYỆN TẬP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Sắp xếp mốc lịch sử!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28600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78350F"/>
                </a:solidFill>
                <a:latin typeface="Arial"/>
              </a:rPr>
              <a:t>Sắp xếp theo đúng tiến trình thời gian: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ai1_p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79"/>
            <a:ext cx="1280160" cy="1005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03120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Bàn tính Abacus (~2400 TCN) ↔ Công cụ đầu tiên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08776" y="3017520"/>
            <a:ext cx="5522976" cy="1280159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ai1_page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3154679"/>
            <a:ext cx="1280160" cy="10058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54696" y="3154679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Máy tính Pascaline (1642) ↔ Bánh răng cơ học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bai1_page1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4663440"/>
            <a:ext cx="1280160" cy="100583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03120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Máy tính ENIAC (1946) ↔ Đèn chân không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4526279"/>
            <a:ext cx="5522976" cy="12801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bai1_page1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91656" y="4663440"/>
            <a:ext cx="1280160" cy="100583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854696" y="4663440"/>
            <a:ext cx="3785616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451A03"/>
                </a:solidFill>
                <a:latin typeface="Arial"/>
              </a:rPr>
              <a:t>Vi xử lý Intel (1971) ↔ Máy tính cá nhân (PC)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6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0"/>
                      </p:stCondLst>
                      <p:childTnLst>
                        <p:par>
                          <p:cTn id="11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3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1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0"/>
                      </p:stCondLst>
                      <p:childTnLst>
                        <p:par>
                          <p:cTn id="18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0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2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0"/>
                      </p:stCondLst>
                      <p:childTnLst>
                        <p:par>
                          <p:cTn id="25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7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  <p:par>
                          <p:cTn id="29" presetID="1" presetClass="entr" presetSubtype="0" fill="hold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  <p:transition spd="med">
    <p:wip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97280"/>
            <a:ext cx="12188952" cy="4114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124712"/>
            <a:ext cx="1164031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Arial"/>
              </a:rPr>
              <a:t>  LỚP 8 • THỬ THÁCH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60020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78350F"/>
                </a:solidFill>
                <a:latin typeface="Arial"/>
              </a:rPr>
              <a:t>Thảo luận tương lai AI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2286000"/>
            <a:ext cx="6400800" cy="338327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2286000"/>
            <a:ext cx="109728" cy="33832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58521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Thảo luận nhóm 4 học sinh (5 phút):</a:t>
            </a:r>
          </a:p>
        </p:txBody>
      </p:sp>
      <p:pic>
        <p:nvPicPr>
          <p:cNvPr id="9" name="Picture 8" descr="bai1_page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77440"/>
            <a:ext cx="4572000" cy="3200399"/>
          </a:xfrm>
          <a:prstGeom prst="rect">
            <a:avLst/>
          </a:prstGeom>
        </p:spPr>
      </p:pic>
    </p:spTree>
  </p:cSld>
  <p:clrMapOvr>
    <a:masterClrMapping/>
  </p:clrMapOvr>
  <p:transition spd="med">
    <p:cover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1188719"/>
            <a:ext cx="11091672" cy="44805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1188719"/>
            <a:ext cx="11091672" cy="9144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371599"/>
            <a:ext cx="105430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B45309"/>
                </a:solidFill>
                <a:latin typeface="Arial"/>
              </a:rPr>
              <a:t>Tóm tắt bài học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2057400"/>
            <a:ext cx="7434072" cy="9144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73152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2286000"/>
            <a:ext cx="9994392" cy="6400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42316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8350F"/>
                </a:solidFill>
                <a:latin typeface="Arial"/>
              </a:rPr>
              <a:t>Lịch sử tính toán trải qua hàng nghìn năm phát triển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3291840"/>
            <a:ext cx="73152" cy="64007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097280" y="3291840"/>
            <a:ext cx="9994392" cy="640079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42900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8350F"/>
                </a:solidFill>
                <a:latin typeface="Arial"/>
              </a:rPr>
              <a:t>5 thế hệ: Đèn chân không -&gt; Transistor -&gt; IC -&gt; Vi xử lý -&gt; AI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297680"/>
            <a:ext cx="73152" cy="6400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297680"/>
            <a:ext cx="9994392" cy="640080"/>
          </a:xfrm>
          <a:prstGeom prst="roundRect">
            <a:avLst/>
          </a:prstGeom>
          <a:solidFill>
            <a:srgbClr val="FFF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434840"/>
            <a:ext cx="944575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78350F"/>
                </a:solidFill>
                <a:latin typeface="Arial"/>
              </a:rPr>
              <a:t>Xu hướng: Nhỏ gọn hơn, Nhanh hơn, Thông minh hơn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051560"/>
            <a:ext cx="12188952" cy="4754879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783080"/>
            <a:ext cx="1036015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Arial"/>
              </a:rPr>
              <a:t>Bài học kết thúc!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436876" y="3337560"/>
            <a:ext cx="7315200" cy="18288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94076" y="3611879"/>
            <a:ext cx="6400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BTVN: Vẽ dòng thời gian 5 mốc quan trọng</a:t>
            </a:r>
          </a:p>
          <a:p>
            <a:pPr algn="ctr">
              <a:spcAft>
                <a:spcPts val="600"/>
              </a:spcAft>
            </a:pPr>
            <a:r>
              <a:rPr sz="2000" b="0">
                <a:solidFill>
                  <a:srgbClr val="451A03"/>
                </a:solidFill>
                <a:latin typeface="Arial"/>
              </a:rPr>
              <a:t>trong lịch sử công cụ tính toán!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17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Monotype Corsiva</vt:lpstr>
      <vt:lpstr>Office Theme</vt:lpstr>
      <vt:lpstr>PowerPoint Presentation</vt:lpstr>
      <vt:lpstr>Môn Tin học lớp </vt:lpstr>
      <vt:lpstr>Môn Tin học lớp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Nguyên Đậu</dc:creator>
  <cp:lastModifiedBy>Nguyên Đậu</cp:lastModifiedBy>
  <cp:revision>4</cp:revision>
  <dcterms:created xsi:type="dcterms:W3CDTF">2026-08-04T15:56:52Z</dcterms:created>
  <dcterms:modified xsi:type="dcterms:W3CDTF">2026-08-04T16:29:42Z</dcterms:modified>
</cp:coreProperties>
</file>