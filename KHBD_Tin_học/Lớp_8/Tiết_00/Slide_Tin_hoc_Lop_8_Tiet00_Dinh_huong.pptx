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lassroom_computer_lab_17858619194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120640" cy="420624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548640" y="1188720"/>
            <a:ext cx="5486400" cy="4206240"/>
            <a:chOff x="548640" y="1188720"/>
            <a:chExt cx="5486400" cy="420624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1188720"/>
              <a:ext cx="5486400" cy="420624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548640" y="1188720"/>
              <a:ext cx="137160" cy="4206240"/>
            </a:xfrm>
            <a:prstGeom prst="roundRect">
              <a:avLst>
                <a:gd name="adj" fmla="val 50000"/>
              </a:avLst>
            </a:prstGeom>
            <a:solidFill>
              <a:srgbClr val="7C3A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Rounded Rectangle 5"/>
          <p:cNvSpPr/>
          <p:nvPr/>
        </p:nvSpPr>
        <p:spPr>
          <a:xfrm>
            <a:off x="1005840" y="1371600"/>
            <a:ext cx="4114800" cy="4572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TIN HỌC 8  •  NĂM HỌC 2026 –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293B"/>
                </a:solidFill>
                <a:latin typeface="Times New Roman"/>
              </a:rPr>
              <a:t>Tiết 0 — Định hướng</a:t>
            </a:r>
          </a:p>
          <a:p>
            <a:pPr>
              <a:spcBef>
                <a:spcPts val="600"/>
              </a:spcBef>
            </a:pPr>
            <a:r>
              <a:rPr sz="2000" b="1" i="0">
                <a:solidFill>
                  <a:srgbClr val="7C3AED"/>
                </a:solidFill>
                <a:latin typeface="Times New Roman"/>
              </a:rPr>
              <a:t>Tu duy may tinh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0233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475569"/>
                </a:solidFill>
                <a:latin typeface="Times New Roman"/>
              </a:rPr>
              <a:t>Trường TH &amp; THCS UNIGO</a:t>
            </a:r>
          </a:p>
          <a:p>
            <a:pPr>
              <a:spcBef>
                <a:spcPts val="400"/>
              </a:spcBef>
            </a:pPr>
            <a:r>
              <a:rPr sz="1500" b="0" i="1">
                <a:solidFill>
                  <a:srgbClr val="64748B"/>
                </a:solidFill>
                <a:latin typeface="Times New Roman"/>
              </a:rPr>
              <a:t>Giáo viên: Đậu Đình Nguyên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tudent_learning_goals_17858619614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3840480" cy="420624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0" y="1188720"/>
            <a:ext cx="6949440" cy="4389120"/>
            <a:chOff x="4572000" y="1188720"/>
            <a:chExt cx="694944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0" y="1188720"/>
              <a:ext cx="694944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1E29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4937760" y="1371600"/>
            <a:ext cx="6309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1E293B"/>
                </a:solidFill>
                <a:latin typeface="Times New Roman"/>
              </a:rPr>
              <a:t>🎯  Mục tiêu tiết học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7C3AED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Tổng quan chương trình Tin học 8.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7C3AED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Nội quy an toàn phòng máy tính UNIGO.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7C3AED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Ứng xử văn minh trên môi trường số (Digital Citizenship).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igital_devices_around_17858619293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188720"/>
            <a:ext cx="4846320" cy="438912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548640" y="1188720"/>
            <a:ext cx="5852160" cy="4389120"/>
            <a:chOff x="548640" y="1188720"/>
            <a:chExt cx="585216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1188720"/>
              <a:ext cx="58521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54864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47556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914400" y="137160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475569"/>
                </a:solidFill>
                <a:latin typeface="Times New Roman"/>
              </a:rPr>
              <a:t>🎮  Thế giới số quanh em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475569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Thiết bị nào quanh em? (máy tính, tablet...)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475569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Em đã dùng máy tính để làm gì?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475569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Tin học 8: "người dùng" → "nhà sáng tạo số"!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n_hoc_mindmap_17858619804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4114800" cy="402336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754880" y="1188720"/>
            <a:ext cx="6766560" cy="4389120"/>
            <a:chOff x="4754880" y="1188720"/>
            <a:chExt cx="676656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754880" y="1188720"/>
              <a:ext cx="67665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75488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7C3A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5120640" y="1371600"/>
            <a:ext cx="6126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7C3AED"/>
                </a:solidFill>
                <a:latin typeface="Times New Roman"/>
              </a:rPr>
              <a:t>📚  Chương trình Tin học 8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1E293B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Máy tính &amp; Xã hội tri thức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1E293B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Mạng &amp; Internet (Networking)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1E293B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Đạo đức &amp; Pháp luật số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1E293B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Ứng dụng Tin học (IT Apps)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1E293B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Giải thuật &amp; Lập trình (Algorithms)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" name="Card Group 4"/>
          <p:cNvGrpSpPr/>
          <p:nvPr/>
        </p:nvGrpSpPr>
        <p:grpSpPr>
          <a:xfrm>
            <a:off x="457200" y="1188720"/>
            <a:ext cx="5394960" cy="4389120"/>
            <a:chOff x="457200" y="1188720"/>
            <a:chExt cx="5394960" cy="4389120"/>
          </a:xfrm>
        </p:grpSpPr>
        <p:sp>
          <p:nvSpPr>
            <p:cNvPr id="2" name="Rounded Rectangle 1"/>
            <p:cNvSpPr/>
            <p:nvPr/>
          </p:nvSpPr>
          <p:spPr>
            <a:xfrm>
              <a:off x="45720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1E29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82296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1E293B"/>
                </a:solidFill>
                <a:latin typeface="Times New Roman"/>
              </a:rPr>
              <a:t>🚀  Cách học hiệu quả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E293B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Trải nghiệm (Hands-on)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E293B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Dự án (Project-based)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E293B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Tìm lỗi (Debugging)</a:t>
            </a:r>
          </a:p>
        </p:txBody>
      </p:sp>
      <p:grpSp>
        <p:nvGrpSpPr>
          <p:cNvPr id="8" name="Card Group 8"/>
          <p:cNvGrpSpPr/>
          <p:nvPr/>
        </p:nvGrpSpPr>
        <p:grpSpPr>
          <a:xfrm>
            <a:off x="6217920" y="1188720"/>
            <a:ext cx="5394960" cy="4389120"/>
            <a:chOff x="6217920" y="1188720"/>
            <a:chExt cx="5394960" cy="4389120"/>
          </a:xfrm>
        </p:grpSpPr>
        <p:sp>
          <p:nvSpPr>
            <p:cNvPr id="6" name="Rounded Rectangle 5"/>
            <p:cNvSpPr/>
            <p:nvPr/>
          </p:nvSpPr>
          <p:spPr>
            <a:xfrm>
              <a:off x="621792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21792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7C3A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58368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7C3AED"/>
                </a:solidFill>
                <a:latin typeface="Times New Roman"/>
              </a:rPr>
              <a:t>🧠  Tư duy máy tính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7C3AED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Phân rã (Decomposition)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7C3AED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Nhận mẫu (Pattern)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7C3AED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Thuật toán (Algorithm)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mputer_room_rules_17858619711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4937760" cy="438912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" y="1188720"/>
            <a:ext cx="5760720" cy="4389120"/>
            <a:chOff x="457200" y="1188720"/>
            <a:chExt cx="57607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576072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EA580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822960" y="13716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EA580C"/>
                </a:solidFill>
                <a:latin typeface="Times New Roman"/>
              </a:rPr>
              <a:t>⚠️  Nội quy phòng máy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Xếp hàng, để giày dép đúng nơi.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KHÔNG mang đồ ăn, nước uống vào.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Bật/tắt máy đúng quy trình.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Gặp sự cố → BÁO NGAY giáo viên.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rnet_safety_kids_17858619417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3931920" cy="411480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0" y="1188720"/>
            <a:ext cx="6949440" cy="4389120"/>
            <a:chOff x="4572000" y="1188720"/>
            <a:chExt cx="694944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0" y="1188720"/>
              <a:ext cx="694944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47556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4937760" y="1371600"/>
            <a:ext cx="6309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475569"/>
                </a:solidFill>
                <a:latin typeface="Times New Roman"/>
              </a:rPr>
              <a:t>🛡️  An toàn số (Digital Safety)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475569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Giữ bí mật mật khẩu (password).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475569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Không chia sẻ thông tin cá nhân.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475569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Cảnh giác link lạ, file lạ.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475569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Ứng xử văn minh, không bắt nạt mạng.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" name="Card Group 4"/>
          <p:cNvGrpSpPr/>
          <p:nvPr/>
        </p:nvGrpSpPr>
        <p:grpSpPr>
          <a:xfrm>
            <a:off x="457200" y="1188720"/>
            <a:ext cx="5394960" cy="4389120"/>
            <a:chOff x="457200" y="1188720"/>
            <a:chExt cx="5394960" cy="4389120"/>
          </a:xfrm>
        </p:grpSpPr>
        <p:sp>
          <p:nvSpPr>
            <p:cNvPr id="2" name="Rounded Rectangle 1"/>
            <p:cNvSpPr/>
            <p:nvPr/>
          </p:nvSpPr>
          <p:spPr>
            <a:xfrm>
              <a:off x="45720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1E29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82296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1E293B"/>
                </a:solidFill>
                <a:latin typeface="Times New Roman"/>
              </a:rPr>
              <a:t>📊  Cách đánh giá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E293B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Đánh giá thường xuyên (ĐGTX).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E293B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Đánh giá định kỳ (4 lần/năm).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E293B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Sản phẩm dự án nhóm.</a:t>
            </a:r>
          </a:p>
        </p:txBody>
      </p:sp>
      <p:grpSp>
        <p:nvGrpSpPr>
          <p:cNvPr id="8" name="Card Group 8"/>
          <p:cNvGrpSpPr/>
          <p:nvPr/>
        </p:nvGrpSpPr>
        <p:grpSpPr>
          <a:xfrm>
            <a:off x="6217920" y="1188720"/>
            <a:ext cx="5394960" cy="4389120"/>
            <a:chOff x="6217920" y="1188720"/>
            <a:chExt cx="5394960" cy="4389120"/>
          </a:xfrm>
        </p:grpSpPr>
        <p:sp>
          <p:nvSpPr>
            <p:cNvPr id="6" name="Rounded Rectangle 5"/>
            <p:cNvSpPr/>
            <p:nvPr/>
          </p:nvSpPr>
          <p:spPr>
            <a:xfrm>
              <a:off x="621792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21792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47556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58368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475569"/>
                </a:solidFill>
                <a:latin typeface="Times New Roman"/>
              </a:rPr>
              <a:t>📚  Đồ dùng cần có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475569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SGK Tin học 8.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475569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Vở ghi &amp; sổ tay cá nhân.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475569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USB / thẻ nhớ (THCS).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" name="Card Group 4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2" name="Rounded Rectangle 1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7C3A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7C3AED"/>
                </a:solidFill>
                <a:latin typeface="Times New Roman"/>
              </a:rPr>
              <a:t>📝  Nhiệm vụ mở rộng (Homework)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7C3AED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Viết 2 mục tiêu em muốn đạt trong năm học.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7C3AED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Đề xuất 1 sản phẩm số muốn tự tạo.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7C3AED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Cam kết thực hiện nội quy phòng máy.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7C3AED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Về nhà: Xem trước Bài 1 trong SGK.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09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" name="Card Group 5"/>
          <p:cNvGrpSpPr/>
          <p:nvPr/>
        </p:nvGrpSpPr>
        <p:grpSpPr>
          <a:xfrm>
            <a:off x="1097280" y="1371600"/>
            <a:ext cx="9966960" cy="4114800"/>
            <a:chOff x="1097280" y="1371600"/>
            <a:chExt cx="9966960" cy="4114800"/>
          </a:xfrm>
        </p:grpSpPr>
        <p:sp>
          <p:nvSpPr>
            <p:cNvPr id="3" name="Rounded Rectangle 2"/>
            <p:cNvSpPr/>
            <p:nvPr/>
          </p:nvSpPr>
          <p:spPr>
            <a:xfrm>
              <a:off x="1097280" y="1371600"/>
              <a:ext cx="9966960" cy="411480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1097280" y="1371600"/>
              <a:ext cx="164592" cy="4114800"/>
            </a:xfrm>
            <a:prstGeom prst="roundRect">
              <a:avLst>
                <a:gd name="adj" fmla="val 50000"/>
              </a:avLst>
            </a:prstGeom>
            <a:solidFill>
              <a:srgbClr val="7C3A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554480" y="155448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1E293B"/>
                </a:solidFill>
                <a:latin typeface="Times New Roman"/>
              </a:rPr>
              <a:t>📌  Ghi nhớ — Tin học 8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7C3AED"/>
                </a:solidFill>
                <a:latin typeface="Times New Roman"/>
              </a:rPr>
              <a:t>●  </a:t>
            </a:r>
            <a:r>
              <a:rPr sz="2000" b="0" i="0">
                <a:solidFill>
                  <a:srgbClr val="1E293B"/>
                </a:solidFill>
                <a:latin typeface="Times New Roman"/>
              </a:rPr>
              <a:t>Tin học mang đến kỹ năng số thiết thực.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7C3AED"/>
                </a:solidFill>
                <a:latin typeface="Times New Roman"/>
              </a:rPr>
              <a:t>●  </a:t>
            </a:r>
            <a:r>
              <a:rPr sz="2000" b="0" i="0">
                <a:solidFill>
                  <a:srgbClr val="1E293B"/>
                </a:solidFill>
                <a:latin typeface="Times New Roman"/>
              </a:rPr>
              <a:t>Tuân thủ nội quy &amp; ứng xử văn minh.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7C3AED"/>
                </a:solidFill>
                <a:latin typeface="Times New Roman"/>
              </a:rPr>
              <a:t>●  </a:t>
            </a:r>
            <a:r>
              <a:rPr sz="2000" b="0" i="0">
                <a:solidFill>
                  <a:srgbClr val="1E293B"/>
                </a:solidFill>
                <a:latin typeface="Times New Roman"/>
              </a:rPr>
              <a:t>Tự tin khám phá, sáng tạo!</a:t>
            </a:r>
          </a:p>
          <a:p>
            <a:pPr algn="ctr">
              <a:spcBef>
                <a:spcPts val="2000"/>
              </a:spcBef>
            </a:pPr>
            <a:r>
              <a:rPr sz="2200" b="1" i="0">
                <a:solidFill>
                  <a:srgbClr val="475569"/>
                </a:solidFill>
                <a:latin typeface="Times New Roman"/>
              </a:rPr>
              <a:t>Chúc các em năm học tuyệt vời! 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