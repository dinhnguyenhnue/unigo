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8 • TUẦN 8 • TIẾT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6A0"/>
                </a:solidFill>
                <a:latin typeface="Arial"/>
              </a:defRPr>
            </a:pPr>
            <a:r>
              <a:t>BÀI 4: ĐẠO ĐỨC VÀ VĂN HÓA</a:t>
            </a:r>
            <a:br/>
            <a:r>
              <a:t>TRONG THẾ GIỚI SỐ ⚖️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4646"/>
                </a:solidFill>
                <a:latin typeface="Arial"/>
              </a:defRPr>
            </a:pPr>
            <a:r>
              <a:t>Quyền tác giả • Trích dẫn hợp pháp • Ứng xử văn hóa</a:t>
            </a:r>
          </a:p>
        </p:txBody>
      </p:sp>
      <p:pic>
        <p:nvPicPr>
          <p:cNvPr id="6" name="Picture 5" descr="lop8_digital_eth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⚖️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Copy bài trên mạng nộp cho cô — Đúng hay Sai?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🤔 Tình huống thảo luận:</a:t>
            </a:r>
            <a:br/>
            <a:br/>
            <a:r>
              <a:t>• Sao chép nguyên văn một bài văn hoặc tải phần mềm bẻ khóa (crack) về dùng có vi phạm pháp luật không?</a:t>
            </a:r>
            <a:br/>
            <a:br/>
            <a:r>
              <a:t>• Tác giả mất nhiều năm nghiên cứu sáng tạo sản phẩm, nếu ai cũng dùng lậu thì ai sẽ tiếp tục sáng tạo?</a:t>
            </a:r>
            <a:br/>
            <a:br/>
            <a:r>
              <a:t>👉 Tìm hiểu QUYỀN TÁC GIẢ VÀ ĐẠO ĐỨC SỐ ngay sau đây!</a:t>
            </a:r>
          </a:p>
        </p:txBody>
      </p:sp>
      <p:pic>
        <p:nvPicPr>
          <p:cNvPr id="6" name="Picture 5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937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BẢN QUYỀN 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Quyền tác giả và Quy tắc trích dẫn hợp pháp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F5F8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© QUYỀN TÁC GIẢ:</a:t>
            </a:r>
            <a:br/>
            <a:br/>
            <a:r>
              <a:t>• Quyền độc quyền của người sáng tạo đối với tác phẩm (văn bản, tranh vẽ, phần mềm, âm nhạc).</a:t>
            </a:r>
            <a:br/>
            <a:r>
              <a:t>• Không tự ý phát tán, kinh doanh, sao chép khi chưa được tác giả cho phép.</a:t>
            </a:r>
            <a:br/>
            <a:r>
              <a:t>• Tôn trọng bản quyền phần mềm, hạn chế dùng phần mềm bẻ khóa.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474720"/>
          </a:xfrm>
          <a:prstGeom prst="roundRect">
            <a:avLst>
              <a:gd name="adj" fmla="val 4000"/>
            </a:avLst>
          </a:prstGeom>
          <a:solidFill>
            <a:srgbClr val="EBFFF0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📖 TRÍCH DẪN HỢP PHÁP:</a:t>
            </a:r>
            <a:br/>
            <a:br/>
            <a:r>
              <a:t>• Phục vụ mục đích học tập, nghiên cứu phi thương mại.</a:t>
            </a:r>
            <a:br/>
            <a:r>
              <a:t>• Chỉ trích dẫn một phần ngắn gọn, không chép toàn bộ.</a:t>
            </a:r>
            <a:br/>
            <a:r>
              <a:t>• BẮT BUỘC ghi rõ tên Tác giả và Nguồn tài liệu tham khảo.</a:t>
            </a:r>
            <a:br/>
            <a:r>
              <a:t>👉 Thể hiện sự trung thực và lòng tự trọng!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Những kiến thức trọng tâm em cần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ĐẠO ĐỨC SỐ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Quyền tác giả bảo vệ quyền lợi chính đáng của người sáng tạo nội dung số.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Tuân thủ luật bản quyền: không dùng phần mềm bẻ khóa, không phát tán lậu.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Luôn ghi rõ nguồn trích dẫn tác giả khi sử dụng tài liệu phục vụ học tập.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Tôn trọng người khác trên môi trường số, kiên quyết nói không với bắt nạt trên mạng!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46A0"/>
                </a:solidFill>
                <a:latin typeface="Arial"/>
              </a:defRPr>
            </a:pPr>
            <a:r>
              <a:t>BẠN LÀ CÔNG DÂN SỐ TRÁCH NHIỆM! ⚖️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Tiết sau chúng ta sẽ bước sang bài học Bảng tính Excel thú vị nhé!</a:t>
            </a:r>
            <a:br/>
            <a:br/>
            <a:r>
              <a:t>Hẹn gặp lại các em ở Tiết 8! 🌟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