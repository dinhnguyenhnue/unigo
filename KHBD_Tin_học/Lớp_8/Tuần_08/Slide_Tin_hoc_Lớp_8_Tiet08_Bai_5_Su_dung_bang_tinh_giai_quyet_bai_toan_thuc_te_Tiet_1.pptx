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EB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474720" cy="365760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TIN HỌC LỚP 8 • TUẦN 8 • TIẾT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782D"/>
                </a:solidFill>
                <a:latin typeface="Arial"/>
              </a:defRPr>
            </a:pPr>
            <a:r>
              <a:t>BÀI 5: BẢNG TÍNH GIẢI BÀI</a:t>
            </a:r>
            <a:br/>
            <a:r>
              <a:t>TOÁN THỰC TẾ (T1) 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64646"/>
                </a:solidFill>
                <a:latin typeface="Arial"/>
              </a:defRPr>
            </a:pPr>
            <a:r>
              <a:t>Cấu trúc bảng dự án • Kiểu dữ liệu • Định dạng ô tính chuyên nghiệp</a:t>
            </a:r>
          </a:p>
        </p:txBody>
      </p:sp>
      <p:pic>
        <p:nvPicPr>
          <p:cNvPr id="6" name="Picture 5" descr="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7548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Lập dự toán kinh phí Hội chợ từ thiện lớp 8A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48640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82828"/>
                </a:solidFill>
                <a:latin typeface="Arial"/>
              </a:defRPr>
            </a:pPr>
            <a:r>
              <a:t>🎪 Bài toán thực tế:</a:t>
            </a:r>
            <a:br/>
            <a:br/>
            <a:r>
              <a:t>• Lớp 8A cần lập bảng dự trù kinh phí cho 15 mặt hàng tại Hội chợ từ thiện: số lượng, đơn giá, thành tiền.</a:t>
            </a:r>
            <a:br/>
            <a:br/>
            <a:r>
              <a:t>• Tính tay rất lâu và dễ nhầm lẫn khi thay đổi giá.</a:t>
            </a:r>
            <a:br/>
            <a:br/>
            <a:r>
              <a:t>• Làm sao để máy tính tự động tính toán tổng số tiền chỉ trong 1 giây?</a:t>
            </a:r>
            <a:br/>
            <a:r>
              <a:t>👉 Sức mạnh của phần mềm bảng tính EXCEL!</a:t>
            </a:r>
          </a:p>
        </p:txBody>
      </p:sp>
      <p:pic>
        <p:nvPicPr>
          <p:cNvPr id="6" name="Picture 5" descr="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11680"/>
            <a:ext cx="49377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ĐỊNH DẠNG Ô 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Quy tắc kiểu dữ liệu và định dạng chuyên nghiệp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KIỂU VĂN BẢN (TEXT)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• Tên mặt hàng, họ tên học sinh, địa chỉ.</a:t>
            </a:r>
            <a:br/>
            <a:r>
              <a:t>• Mặc định tự động CĂN LỀ TRÁI.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KIỂU SỐ (NUMBER)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• Số lượng, đơn giá, điểm số, ngày tháng.</a:t>
            </a:r>
            <a:br/>
            <a:r>
              <a:t>• Mặc định tự động CĂN LỀ PHẢI.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011680"/>
            <a:ext cx="3474720" cy="3474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55280" y="2011680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ĐỊNH DẠNG TIỀN TỆ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1752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23232"/>
                </a:solidFill>
                <a:latin typeface="Arial"/>
              </a:defRPr>
            </a:pPr>
            <a:r>
              <a:t>• Thiết lập dấu phân cách hàng nghìn (1.000.000).</a:t>
            </a:r>
            <a:br/>
            <a:r>
              <a:t>• Kẻ viền ô (Borders) và tô màu tiêu đề nổi bật.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15568"/>
            <a:ext cx="2926080" cy="320040"/>
          </a:xfrm>
          <a:prstGeom prst="roundRect">
            <a:avLst>
              <a:gd name="adj" fmla="val 50000"/>
            </a:avLst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GHI NHỚ 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A2744"/>
                </a:solidFill>
                <a:latin typeface="Arial"/>
              </a:defRPr>
            </a:pPr>
            <a:r>
              <a:t>Những kiến thức trọng tâm em cần nhớ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966960" cy="3474720"/>
          </a:xfrm>
          <a:prstGeom prst="roundRect">
            <a:avLst>
              <a:gd name="adj" fmla="val 4000"/>
            </a:avLst>
          </a:prstGeom>
          <a:solidFill>
            <a:srgbClr val="FFF3CD"/>
          </a:solidFill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2148840"/>
            <a:ext cx="9601200" cy="411480"/>
          </a:xfrm>
          <a:prstGeom prst="roundRect">
            <a:avLst>
              <a:gd name="adj" fmla="val 8000"/>
            </a:avLst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67128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HỘP KẾT LUẬN — BẢNG TÍNH THỰC TẾ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235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Bảng tính Excel là công cụ mạnh mẽ giúp tự động hóa tính toán bài toán thực tế.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Quy ước chuẩn: Dữ liệu văn bản căn trái, dữ liệu số căn phải.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Sử dụng định dạng phân cách hàng nghìn giúp bảng số liệu rõ ràng, dễ đọc.</a:t>
            </a:r>
          </a:p>
          <a:p>
            <a:pPr>
              <a:spcAft>
                <a:spcPts val="800"/>
              </a:spcAft>
              <a:defRPr sz="1700" b="1">
                <a:solidFill>
                  <a:srgbClr val="B45000"/>
                </a:solidFill>
                <a:latin typeface="Arial"/>
              </a:defRPr>
            </a:pPr>
            <a:r>
              <a:t>⭐  Tiết sau chúng ta sẽ học viết công thức tính toán và tạo biểu đồ trực quan!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91695" cy="4754880"/>
          </a:xfrm>
          <a:prstGeom prst="rect">
            <a:avLst/>
          </a:prstGeom>
          <a:solidFill>
            <a:srgbClr val="EB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4782D"/>
                </a:solidFill>
                <a:latin typeface="Arial"/>
              </a:defRPr>
            </a:pPr>
            <a:r>
              <a:t>BẠN LÀ CHUYÊN GIA DỮ LIỆU! 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C3C3C"/>
                </a:solidFill>
                <a:latin typeface="Arial"/>
              </a:defRPr>
            </a:pPr>
            <a:r>
              <a:t>Chúc các em hoàn thành xuất sắc bảng dự án kinh phí cá nhân!</a:t>
            </a:r>
            <a:br/>
            <a:br/>
            <a:r>
              <a:t>Hẹn gặp lại các em ở bài học tuần sau! 🌟</a:t>
            </a:r>
          </a:p>
        </p:txBody>
      </p:sp>
      <p:pic>
        <p:nvPicPr>
          <p:cNvPr id="5" name="Picture 4" descr="mascot_celebrate_troph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