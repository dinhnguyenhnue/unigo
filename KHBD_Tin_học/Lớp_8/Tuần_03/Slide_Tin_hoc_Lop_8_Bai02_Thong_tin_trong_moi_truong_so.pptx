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Thông tin trong môi trường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Tin học • Lớp 8 • Bài 2</a:t>
            </a:r>
          </a:p>
        </p:txBody>
      </p:sp>
      <p:pic>
        <p:nvPicPr>
          <p:cNvPr id="6" name="Picture 5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2. THÔNG TIN TRONG MÔI TRƯỜNG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Thông tin trên Internet đáng tin đến đâu?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6309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Mỗi ngày có hàng tỷ thông tin được đăng lên mạng: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Làm sao em phân biệt được thông tin ĐÚNG và tin GIẢ (Fake news)?</a:t>
            </a:r>
          </a:p>
        </p:txBody>
      </p:sp>
      <p:pic>
        <p:nvPicPr>
          <p:cNvPr id="9" name="Picture 8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2. THÔNG TIN TRONG MÔI TRƯỜNG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Đặc điểm thông tin trong môi trường số</a:t>
            </a:r>
          </a:p>
        </p:txBody>
      </p:sp>
      <p:pic>
        <p:nvPicPr>
          <p:cNvPr id="6" name="Picture 5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Khối lượng khổng lồ, cập nhật liên tục từng giây</a:t>
            </a:r>
          </a:p>
        </p:txBody>
      </p:sp>
      <p:pic>
        <p:nvPicPr>
          <p:cNvPr id="10" name="Picture 9" descr="cover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Đa dạng hình thức: văn bản, hình ảnh, âm thanh, video</a:t>
            </a:r>
          </a:p>
        </p:txBody>
      </p:sp>
      <p:pic>
        <p:nvPicPr>
          <p:cNvPr id="14" name="Picture 13" descr="learn1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Lan truyền nhanh chóng trên phạm vi toàn cầu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2. THÔNG TIN TRONG MÔI TRƯỜNG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Tác động của thông tin số</a:t>
            </a:r>
          </a:p>
        </p:txBody>
      </p:sp>
      <p:pic>
        <p:nvPicPr>
          <p:cNvPr id="6" name="Picture 5" descr="learn2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1051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Mặt tích cực: tiếp cận tri thức nhanh, học tập mọi lúc mọi nơi</a:t>
            </a:r>
          </a:p>
        </p:txBody>
      </p:sp>
      <p:pic>
        <p:nvPicPr>
          <p:cNvPr id="10" name="Picture 9" descr="learn3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74720"/>
            <a:ext cx="1828800" cy="105155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474720"/>
            <a:ext cx="9262872" cy="10515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474720"/>
            <a:ext cx="73152" cy="105155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611879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Mặt tiêu cực: nguy cơ tin giả, lừa đảo trực tuyến, nghiện mạng</a:t>
            </a:r>
          </a:p>
        </p:txBody>
      </p:sp>
      <p:pic>
        <p:nvPicPr>
          <p:cNvPr id="14" name="Picture 13" descr="warmup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663440"/>
            <a:ext cx="1828800" cy="105156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663440"/>
            <a:ext cx="926287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663440"/>
            <a:ext cx="73152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800600"/>
            <a:ext cx="8897111" cy="77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Thông tin xấu độc ảnh hưởng tâm lý và tư duy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BÀI 2. THÔNG TIN TRONG MÔI TRƯỜNG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Tiêu chí đánh giá độ tin cậy thông tin</a:t>
            </a:r>
          </a:p>
        </p:txBody>
      </p:sp>
      <p:pic>
        <p:nvPicPr>
          <p:cNvPr id="6" name="Picture 5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1828800" cy="7543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468880" y="228600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242316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1. Nguồn tin: tác giả, cơ quan xuất bản uy tín</a:t>
            </a:r>
          </a:p>
        </p:txBody>
      </p:sp>
      <p:pic>
        <p:nvPicPr>
          <p:cNvPr id="10" name="Picture 9" descr="cover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77540"/>
            <a:ext cx="1828800" cy="75437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468880" y="3177540"/>
            <a:ext cx="9262872" cy="7543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68880" y="3177540"/>
            <a:ext cx="73152" cy="7543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31470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2. Tính cập nhật: thời điểm đăng tải thông tin</a:t>
            </a:r>
          </a:p>
        </p:txBody>
      </p:sp>
      <p:pic>
        <p:nvPicPr>
          <p:cNvPr id="14" name="Picture 13" descr="learn1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69080"/>
            <a:ext cx="1828800" cy="7543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468880" y="406908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68880" y="406908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420624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3. Tính mục đích: thông tin nhằm cung cấp tri thức hay quảng cáo, giật gân</a:t>
            </a:r>
          </a:p>
        </p:txBody>
      </p:sp>
      <p:pic>
        <p:nvPicPr>
          <p:cNvPr id="18" name="Picture 17" descr="learn2_lop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960620"/>
            <a:ext cx="1828800" cy="75438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468880" y="4960620"/>
            <a:ext cx="9262872" cy="7543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68880" y="4960620"/>
            <a:ext cx="73152" cy="7543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97480" y="5097780"/>
            <a:ext cx="8897111" cy="480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51A03"/>
                </a:solidFill>
                <a:latin typeface="Arial"/>
              </a:rPr>
              <a:t>4. Kiểm chứng chéo: so sánh với các nguồn báo chí chính thống</a:t>
            </a:r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Thực hành đánh giá nguồn tin!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78350F"/>
                </a:solidFill>
                <a:latin typeface="Arial"/>
              </a:rPr>
              <a:t>Đánh giá độ tin cậy của các nguồn: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154679"/>
            <a:ext cx="1280160" cy="1005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Cổng thông tin Chinhphu.vn ↔ Rất tin cậy (Chính thống)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3017520"/>
            <a:ext cx="5522976" cy="128015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ver_lop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3154679"/>
            <a:ext cx="1280160" cy="1005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54696" y="3154679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Tài khoản cá nhân lạ trên TikTok ↔ Cần kiểm chứng cậy!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earn1_lop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663440"/>
            <a:ext cx="1280160" cy="10058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Website của Bộ Giáo dục và Đào tạo ↔ Rất tin cậy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4526279"/>
            <a:ext cx="5522976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earn2_lop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4663440"/>
            <a:ext cx="1280160" cy="100583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854696" y="4663440"/>
            <a:ext cx="3785616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51A03"/>
                </a:solidFill>
                <a:latin typeface="Arial"/>
              </a:rPr>
              <a:t>Bài viết không có tác giả trên blog cá nhân ↔ Độ tin cậy thấp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6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3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1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0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2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7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  <p:par>
                          <p:cTn id="29" presetID="1" presetClass="entr" presetSubtype="0" fill="hold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LỚP 8 • THỬ THÁCH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78350F"/>
                </a:solidFill>
                <a:latin typeface="Arial"/>
              </a:rPr>
              <a:t>Thảo luận: Phòng chống Tin giả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4008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5852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Thảo luận nhóm 4 học sinh (5 phút):</a:t>
            </a:r>
          </a:p>
        </p:txBody>
      </p:sp>
      <p:pic>
        <p:nvPicPr>
          <p:cNvPr id="9" name="Picture 8" descr="activity_lop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377440"/>
            <a:ext cx="4572000" cy="3200399"/>
          </a:xfrm>
          <a:prstGeom prst="rect">
            <a:avLst/>
          </a:prstGeom>
        </p:spPr>
      </p:pic>
    </p:spTree>
  </p:cSld>
  <p:clrMapOvr>
    <a:masterClrMapping/>
  </p:clrMapOvr>
  <p:transition spd="med">
    <p:cover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45309"/>
                </a:solidFill>
                <a:latin typeface="Arial"/>
              </a:rPr>
              <a:t>Tóm tắt bài học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42316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Thông tin số phong phú nhưng cần chọn lọc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40"/>
            <a:ext cx="73152" cy="64007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91840"/>
            <a:ext cx="9994392" cy="640079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Đánh giá nguồn tin theo 4 tiêu chí chuẩn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97680"/>
            <a:ext cx="73152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97680"/>
            <a:ext cx="9994392" cy="640080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434840"/>
            <a:ext cx="94457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78350F"/>
                </a:solidFill>
                <a:latin typeface="Arial"/>
              </a:rPr>
              <a:t>Trở thành người tiêu dùng thông tin thông minh trên Internet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78308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Bài học kết thúc!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337560"/>
            <a:ext cx="731520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611879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BTVN: Tìm 1 ví dụ tin giả gần đây</a:t>
            </a:r>
          </a:p>
          <a:p>
            <a:pPr algn="ctr">
              <a:spcAft>
                <a:spcPts val="600"/>
              </a:spcAft>
            </a:pPr>
            <a:r>
              <a:rPr sz="2000" b="0">
                <a:solidFill>
                  <a:srgbClr val="451A03"/>
                </a:solidFill>
                <a:latin typeface="Arial"/>
              </a:rPr>
              <a:t>và phân tích nguyên nhân vì sao nó sai!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