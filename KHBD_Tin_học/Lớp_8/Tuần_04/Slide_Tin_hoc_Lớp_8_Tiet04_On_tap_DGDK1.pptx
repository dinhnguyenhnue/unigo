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61CADFC-E468-A9CF-CA9D-3603C11068A9}"/>
              </a:ext>
            </a:extLst>
          </p:cNvPr>
          <p:cNvSpPr txBox="1"/>
          <p:nvPr/>
        </p:nvSpPr>
        <p:spPr>
          <a:xfrm>
            <a:off x="844216" y="471493"/>
            <a:ext cx="10503568" cy="1128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4400" b="1" dirty="0">
                <a:solidFill>
                  <a:srgbClr val="244498"/>
                </a:solidFill>
                <a:latin typeface="Arial" panose="020B0604020202020204" pitchFamily="34" charset="0"/>
                <a:ea typeface="Crimson Pro Bold"/>
                <a:cs typeface="Arial" panose="020B0604020202020204" pitchFamily="34" charset="0"/>
                <a:sym typeface="Crimson Pro Bold"/>
              </a:rPr>
              <a:t>TRƯỜNG TIỂU HỌC VÀ THCS UNIGO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CCC6F9-9D0B-8FA1-C7A3-6C656AB9CD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80673"/>
            <a:ext cx="11887200" cy="376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AB71-A960-5C29-67C4-E061282D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315" y="215531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465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F47A-2A03-62D2-8A5D-F03932A4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052A-67C4-3C30-0BE8-A144FDC5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463" y="335847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30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9">
            <a:extLst>
              <a:ext uri="{FF2B5EF4-FFF2-40B4-BE49-F238E27FC236}">
                <a16:creationId xmlns:a16="http://schemas.microsoft.com/office/drawing/2014/main" id="{9F8C78EA-1C6B-6C35-6191-129F37672DA8}"/>
              </a:ext>
            </a:extLst>
          </p:cNvPr>
          <p:cNvSpPr txBox="1"/>
          <p:nvPr/>
        </p:nvSpPr>
        <p:spPr>
          <a:xfrm>
            <a:off x="320174" y="2413337"/>
            <a:ext cx="11551651" cy="10156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dirty="0">
                <a:solidFill>
                  <a:schemeClr val="tx2">
                    <a:lumMod val="75000"/>
                    <a:lumOff val="25000"/>
                  </a:schemeClr>
                </a:solidFill>
                <a:latin typeface="Monotype Corsiva" panose="03010101010201010101" pitchFamily="66" charset="0"/>
                <a:ea typeface="Monggirella script"/>
                <a:cs typeface="Monggirella script"/>
                <a:sym typeface="Monggirella script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29269672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Ôn tập Đánh giá định kỳ 1 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rial"/>
              </a:defRPr>
            </a:pPr>
            <a:r>
              <a:t>Tin học • Lớp 8 • Tiết 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8 • VÍ DỤ MINH HỌA TRỰC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600" b="1">
                <a:solidFill>
                  <a:srgbClr val="4C1D95"/>
                </a:solidFill>
                <a:latin typeface="Arial"/>
              </a:defRPr>
            </a:pPr>
            <a:r>
              <a:t>Hệ thống hóa kiến thức trọng tâm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4206240" cy="33832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09728" cy="3383279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749039" cy="2834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1. Lịch sử phát triển 5 thế hệ máy tính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2. Thông tin trong môi trường số &amp; Độ tin cậy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3. Cú pháp khai thác thông tin nâng cao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4. Đạo đức và bản quyền công nghệ số</a:t>
            </a:r>
          </a:p>
        </p:txBody>
      </p:sp>
      <p:pic>
        <p:nvPicPr>
          <p:cNvPr id="9" name="Picture 8" descr="learn2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286000"/>
            <a:ext cx="6793992" cy="3383279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8 • THỬ THÁCH TRẮC NGHIỆM VUI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Arial"/>
              </a:defRPr>
            </a:pPr>
            <a:r>
              <a:t>❓ Máy tính thế hệ thứ nhất sử dụng linh kiện điện tử nào?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A. Đèn điện tử chân không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237744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54496" y="237744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260604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B. Bóng bán dẫn (Transistor)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8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6908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C. Mạch tích hợp (IC)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406908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406908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429768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D. Bộ vi xử lý (VLSI)</a:t>
            </a:r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8 • THỬ THÁCH TRẮC NGHIỆM VUI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Arial"/>
              </a:defRPr>
            </a:pPr>
            <a:r>
              <a:t>❓ Hành vi nào sau đây là VI PHẠM bản quyền phần mềm?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A. Mua bản quyền sử dụng chính hãng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237744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54496" y="237744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260604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B. Sử dụng phần mềm mã nguồn mở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8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6908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C. Bẻ khóa (Crack) phần mềm có phí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406908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406908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429768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D. Tự viết phần mềm phục vụ học tập</a:t>
            </a:r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8 • BÀI HỌC VÀ KẾT LUẬN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19"/>
            <a:ext cx="7772400" cy="8229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79"/>
            <a:ext cx="731520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6D28D9"/>
                </a:solidFill>
                <a:latin typeface="Arial"/>
              </a:defRPr>
            </a:pPr>
            <a:r>
              <a:t>💬 Bí quyết đạt điểm tối đa trong bài kiểm tra định kỳ là gì?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7315200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👉 Ôn lại các mốc lịch sử máy tính và đơn vị đo dữ liệu.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👉 Nắm vững quy tắc an toàn thông tin và trích dẫn bản quyền.</a:t>
            </a:r>
          </a:p>
        </p:txBody>
      </p:sp>
      <p:pic>
        <p:nvPicPr>
          <p:cNvPr id="8" name="Picture 7" descr="learn2_car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645919"/>
            <a:ext cx="2926080" cy="2103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526279"/>
            <a:ext cx="11091672" cy="11430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526279"/>
            <a:ext cx="182880" cy="1143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09159"/>
            <a:ext cx="10543032" cy="7772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9A3412"/>
                </a:solidFill>
                <a:latin typeface="Arial"/>
              </a:defRPr>
            </a:pPr>
            <a:r>
              <a:t>💡 KẾT LUẬN: Nắm chắc lý thuyết và vận dụng linh hoạt để tự tin đạt điểm 10 trong bài kiểm tra định kỳ 1!</a:t>
            </a:r>
          </a:p>
        </p:txBody>
      </p:sp>
    </p:spTree>
  </p:cSld>
  <p:clrMapOvr>
    <a:masterClrMapping/>
  </p:clrMapOvr>
  <p:transition spd="med">
    <p:cover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Chúc các em làm bài đạt điểm tối đa! 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t>Tự tin, bình tĩnh và hoàn thành xuất sắc bài kiểm tra nhé!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