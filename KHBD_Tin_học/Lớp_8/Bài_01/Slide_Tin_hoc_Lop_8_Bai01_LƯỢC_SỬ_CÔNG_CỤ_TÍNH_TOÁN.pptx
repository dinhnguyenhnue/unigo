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97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280160"/>
            <a:ext cx="9144000" cy="4206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981200" y="1554480"/>
            <a:ext cx="4114800" cy="457200"/>
          </a:xfrm>
          <a:prstGeom prst="roundRect">
            <a:avLst>
              <a:gd name="adj" fmla="val 30000"/>
            </a:avLst>
          </a:prstGeom>
          <a:solidFill>
            <a:srgbClr val="007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TIN HỌC LỚP 8  •  NĂM HỌC 2026 –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200" y="2286000"/>
            <a:ext cx="8229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797B"/>
                </a:solidFill>
                <a:latin typeface="Times New Roman"/>
              </a:rPr>
              <a:t>Bài 1</a:t>
            </a:r>
          </a:p>
          <a:p>
            <a:pPr>
              <a:spcBef>
                <a:spcPts val="400"/>
              </a:spcBef>
            </a:pPr>
            <a:r>
              <a:rPr sz="2800" b="1">
                <a:solidFill>
                  <a:srgbClr val="002B2C"/>
                </a:solidFill>
                <a:latin typeface="Times New Roman"/>
              </a:rPr>
              <a:t>LƯỢC SỬ CÔNG CỤ TÍNH TOÁN</a:t>
            </a:r>
          </a:p>
          <a:p>
            <a:pPr>
              <a:spcBef>
                <a:spcPts val="800"/>
              </a:spcBef>
            </a:pPr>
            <a:r>
              <a:rPr sz="1600" i="1">
                <a:solidFill>
                  <a:srgbClr val="666666"/>
                </a:solidFill>
                <a:latin typeface="Times New Roman"/>
              </a:rPr>
              <a:t>Chủ đề: 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43891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002B2C"/>
                </a:solidFill>
                <a:latin typeface="Times New Roman"/>
              </a:rPr>
              <a:t>Trường TH &amp; THCS UNIGO</a:t>
            </a:r>
          </a:p>
          <a:p>
            <a:r>
              <a:rPr sz="1600">
                <a:solidFill>
                  <a:srgbClr val="666666"/>
                </a:solidFill>
                <a:latin typeface="Times New Roman"/>
              </a:rPr>
              <a:t>Giáo viên: Đậu Đình Nguyên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1188720"/>
            <a:ext cx="105156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1188720"/>
            <a:ext cx="109728" cy="4389120"/>
          </a:xfrm>
          <a:prstGeom prst="rect">
            <a:avLst/>
          </a:prstGeom>
          <a:solidFill>
            <a:srgbClr val="007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797B"/>
                </a:solidFill>
                <a:latin typeface="Times New Roman"/>
              </a:defRPr>
            </a:pPr>
            <a:r>
              <a:t>🎯  Mục tiêu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5400" y="2011680"/>
            <a:ext cx="9601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Sự hiểu biết về các mốc lịch sử phát triển công cụ tính toán từ thủ công đến hiện đại.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Khả năng mô tả đặc điểm và vai trò của từng thế hệ máy tính (Thế hệ 1-5).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Sự nhận biết xu hướng phát triển công nghệ tính toán hiện nay và tương lai.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188720"/>
            <a:ext cx="68580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09728" cy="4389120"/>
          </a:xfrm>
          <a:prstGeom prst="rect">
            <a:avLst/>
          </a:prstGeom>
          <a:solidFill>
            <a:srgbClr val="007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97B"/>
                </a:solidFill>
                <a:latin typeface="Times New Roman"/>
              </a:defRPr>
            </a:pPr>
            <a:r>
              <a:t>🎮  Khởi động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126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Chiếu 2 hình ảnh (abacus và siêu máy tính) và đặt câu hỏi tư duy.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3 cặp HS trình bày. GV ghi ý kiến lên bảng.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📋 Sản phẩm: HS nêu được ít nhất 1 điểm chung (đều dùng để tính toán) và nêu được sự khá...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37120" y="1188720"/>
            <a:ext cx="4389120" cy="4389120"/>
          </a:xfrm>
          <a:prstGeom prst="roundRect">
            <a:avLst>
              <a:gd name="adj" fmla="val 4000"/>
            </a:avLst>
          </a:prstGeom>
          <a:solidFill>
            <a:srgbClr val="00797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480" y="292608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Times New Roman"/>
              </a:defRPr>
            </a:pPr>
            <a:r>
              <a:t>🎮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76800" y="1188720"/>
            <a:ext cx="68580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625072" y="1188720"/>
            <a:ext cx="109728" cy="4389120"/>
          </a:xfrm>
          <a:prstGeom prst="rect">
            <a:avLst/>
          </a:prstGeom>
          <a:solidFill>
            <a:srgbClr val="007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42560" y="137160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97B"/>
                </a:solidFill>
                <a:latin typeface="Times New Roman"/>
              </a:defRPr>
            </a:pPr>
            <a:r>
              <a:t>📖  Hình thành kiến thức mới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42560" y="2011680"/>
            <a:ext cx="6126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Chiếu timeline và video lược sử máy tính (2 phút). Phát phiếu dòng thời gian cho HS.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Chốt đáp án, giải thích thêm về ENIAC và chiếc máy tính đầu tiên dùng transistor. HS sử...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📋 Sản phẩm: Phiếu dòng thời gian hoàn chỉnh với 5 mốc lịch sử, đặc điểm và năm ra đời.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4389120" cy="4389120"/>
          </a:xfrm>
          <a:prstGeom prst="roundRect">
            <a:avLst>
              <a:gd name="adj" fmla="val 4000"/>
            </a:avLst>
          </a:prstGeom>
          <a:solidFill>
            <a:srgbClr val="00797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92608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Times New Roman"/>
              </a:defRPr>
            </a:pPr>
            <a:r>
              <a:t>📖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76800" y="1188720"/>
            <a:ext cx="68580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625072" y="1188720"/>
            <a:ext cx="109728" cy="4389120"/>
          </a:xfrm>
          <a:prstGeom prst="rect">
            <a:avLst/>
          </a:prstGeom>
          <a:solidFill>
            <a:srgbClr val="007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42560" y="137160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97B"/>
                </a:solidFill>
                <a:latin typeface="Times New Roman"/>
              </a:defRPr>
            </a:pPr>
            <a:r>
              <a:t>✏️ 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42560" y="2011680"/>
            <a:ext cx="6126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HS thực hành bài tập sắp xếp thứ tự thời gian và câu hỏi liên hệ về công nghệ hiện đại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Phát phiếu bài tập: Sắp xếp 10 sự kiện theo đúng thứ tự lịch sử; 2 câu liên hệ.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Đại diện 2 nhóm trình bày dự đoán. GV nhận xét, giới thiệu xu hướng AI và Quantum Compu...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📋 Sản phẩm: Phiếu bài tập hoàn chỉnh và đoạn văn ngắn liên hệ thực tế.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4389120" cy="4389120"/>
          </a:xfrm>
          <a:prstGeom prst="roundRect">
            <a:avLst>
              <a:gd name="adj" fmla="val 4000"/>
            </a:avLst>
          </a:prstGeom>
          <a:solidFill>
            <a:srgbClr val="00797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92608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Times New Roman"/>
              </a:defRPr>
            </a:pPr>
            <a:r>
              <a:t>✏️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188720"/>
            <a:ext cx="68580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09728" cy="4389120"/>
          </a:xfrm>
          <a:prstGeom prst="rect">
            <a:avLst/>
          </a:prstGeom>
          <a:solidFill>
            <a:srgbClr val="007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97B"/>
                </a:solidFill>
                <a:latin typeface="Times New Roman"/>
              </a:defRPr>
            </a:pPr>
            <a:r>
              <a:t>🚀  Vận dụng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126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HS chọn 1 trong số: Alan Turing, Grace Hopper, Steve Jobs, hay sự ra đời của Internet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Viết đoạn thuyết trình 7-10 câu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Giới thiệu 4 chủ đề lựa chọn và giao nhiệm vụ.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Tuần sau HS nộp bài, GV chọn 3-4 bài hay đọc trước lớp.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37120" y="1188720"/>
            <a:ext cx="4389120" cy="4389120"/>
          </a:xfrm>
          <a:prstGeom prst="roundRect">
            <a:avLst>
              <a:gd name="adj" fmla="val 4000"/>
            </a:avLst>
          </a:prstGeom>
          <a:solidFill>
            <a:srgbClr val="00797B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480" y="292608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Times New Roman"/>
              </a:defRPr>
            </a:pPr>
            <a:r>
              <a:t>🚀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2440" y="1188720"/>
            <a:ext cx="1124712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2440" y="1188720"/>
            <a:ext cx="109728" cy="4389120"/>
          </a:xfrm>
          <a:prstGeom prst="rect">
            <a:avLst/>
          </a:prstGeom>
          <a:solidFill>
            <a:srgbClr val="007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96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797B"/>
                </a:solidFill>
                <a:latin typeface="Times New Roman"/>
              </a:defRPr>
            </a:pPr>
            <a:r>
              <a:t>📌  Ghi nhớ — 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640" y="2011680"/>
            <a:ext cx="10058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Sự hiểu biết về các mốc lịch sử phát triển công cụ tính toán từ thủ công đến hiện đại.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Khả năng mô tả đặc điểm và vai trò của từng thế hệ máy tính (Thế hệ 1-5).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Sự nhận biết xu hướng phát triển công nghệ tính toán hiện nay và tương lai.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00797B"/>
                </a:solidFill>
                <a:latin typeface="Times New Roman"/>
              </a:rPr>
              <a:t>●  </a:t>
            </a:r>
            <a:r>
              <a:rPr sz="1800">
                <a:solidFill>
                  <a:srgbClr val="002B2C"/>
                </a:solidFill>
                <a:latin typeface="Times New Roman"/>
              </a:rPr>
              <a:t>📚 Bài tập về nhà: Xem lại nội dung bài học và chuẩn bị bài tiếp theo.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97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38400" y="1828800"/>
            <a:ext cx="73152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95600" y="228600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797B"/>
                </a:solidFill>
                <a:latin typeface="Times New Roman"/>
              </a:rPr>
              <a:t>CẢM ƠN CÁC EM! 🎉</a:t>
            </a:r>
          </a:p>
          <a:p>
            <a:pPr algn="ctr">
              <a:spcBef>
                <a:spcPts val="1200"/>
              </a:spcBef>
            </a:pPr>
            <a:r>
              <a:rPr sz="2000">
                <a:solidFill>
                  <a:srgbClr val="002B2C"/>
                </a:solidFill>
                <a:latin typeface="Times New Roman"/>
              </a:rPr>
              <a:t>Hẹn gặp lại ở tiết học sau!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95600" y="38404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99999"/>
                </a:solidFill>
                <a:latin typeface="Times New Roman"/>
              </a:rPr>
              <a:t>Trường TH &amp; THCS UNIGO  •  GV: Đậu Đình Nguyên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