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797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ai1_page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6558" y="1188720"/>
            <a:ext cx="3233043" cy="4572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797040" y="1097280"/>
            <a:ext cx="5212080" cy="4754880"/>
          </a:xfrm>
          <a:prstGeom prst="roundRect">
            <a:avLst>
              <a:gd name="adj" fmla="val 3000"/>
            </a:avLst>
          </a:prstGeom>
          <a:noFill/>
          <a:ln w="38100">
            <a:solidFill>
              <a:srgbClr val="FFB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1280160"/>
            <a:ext cx="6858000" cy="42062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554480"/>
            <a:ext cx="4114800" cy="457200"/>
          </a:xfrm>
          <a:prstGeom prst="roundRect">
            <a:avLst>
              <a:gd name="adj" fmla="val 30000"/>
            </a:avLst>
          </a:prstGeom>
          <a:solidFill>
            <a:srgbClr val="007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Times New Roman"/>
              </a:rPr>
              <a:t>TIN HỌC LỚP 8  •  NĂM HỌC 2026 – 2027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5943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0797B"/>
                </a:solidFill>
                <a:latin typeface="Times New Roman"/>
              </a:rPr>
              <a:t>Bài 1</a:t>
            </a:r>
          </a:p>
          <a:p>
            <a:pPr>
              <a:spcBef>
                <a:spcPts val="400"/>
              </a:spcBef>
            </a:pPr>
            <a:r>
              <a:rPr sz="2800" b="1">
                <a:solidFill>
                  <a:srgbClr val="002B2C"/>
                </a:solidFill>
                <a:latin typeface="Times New Roman"/>
              </a:rPr>
              <a:t>LƯỢC SỬ CÔNG CỤ TÍNH TOÁN</a:t>
            </a:r>
          </a:p>
          <a:p>
            <a:pPr>
              <a:spcBef>
                <a:spcPts val="800"/>
              </a:spcBef>
            </a:pPr>
            <a:r>
              <a:rPr sz="1600" i="1">
                <a:solidFill>
                  <a:srgbClr val="666666"/>
                </a:solidFill>
                <a:latin typeface="Times New Roman"/>
              </a:rPr>
              <a:t>Chủ đề: Lược sử công cụ tính toán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389120"/>
            <a:ext cx="5943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002B2C"/>
                </a:solidFill>
                <a:latin typeface="Times New Roman"/>
              </a:rPr>
              <a:t>Trường TH &amp; THCS UNIGO</a:t>
            </a:r>
          </a:p>
          <a:p>
            <a:r>
              <a:rPr sz="1600">
                <a:solidFill>
                  <a:srgbClr val="666666"/>
                </a:solidFill>
                <a:latin typeface="Times New Roman"/>
              </a:rPr>
              <a:t>Giáo viên: Đậu Đình Nguyên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400800"/>
            <a:ext cx="1164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TRƯỜNG TIỂU HỌC VÀ THCS UNIGO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0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20040" y="1188720"/>
            <a:ext cx="7132320" cy="43891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  <a:effectLst>
            <a:outerShdw blurRad="50800" dist="25400" dir="5400000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1188720"/>
            <a:ext cx="109728" cy="4389120"/>
          </a:xfrm>
          <a:prstGeom prst="rect">
            <a:avLst/>
          </a:prstGeom>
          <a:solidFill>
            <a:srgbClr val="007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3716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797B"/>
                </a:solidFill>
                <a:latin typeface="Times New Roman"/>
              </a:defRPr>
            </a:pPr>
            <a:r>
              <a:t>🎯  Mục tiêu bài học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011680"/>
            <a:ext cx="64008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00797B"/>
                </a:solidFill>
                <a:latin typeface="Times New Roman"/>
              </a:rPr>
              <a:t>●  </a:t>
            </a:r>
            <a:r>
              <a:rPr sz="1800">
                <a:solidFill>
                  <a:srgbClr val="002B2C"/>
                </a:solidFill>
                <a:latin typeface="Times New Roman"/>
              </a:rPr>
              <a:t>Sự hiểu biết về các mốc lịch sử phát triển công cụ tính toán từ thủ công đến hiện đại.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00797B"/>
                </a:solidFill>
                <a:latin typeface="Times New Roman"/>
              </a:rPr>
              <a:t>●  </a:t>
            </a:r>
            <a:r>
              <a:rPr sz="1800">
                <a:solidFill>
                  <a:srgbClr val="002B2C"/>
                </a:solidFill>
                <a:latin typeface="Times New Roman"/>
              </a:rPr>
              <a:t>Khả năng mô tả đặc điểm và vai trò của từng thế hệ máy tính (Thế hệ 1-5).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00797B"/>
                </a:solidFill>
                <a:latin typeface="Times New Roman"/>
              </a:rPr>
              <a:t>●  </a:t>
            </a:r>
            <a:r>
              <a:rPr sz="1800">
                <a:solidFill>
                  <a:srgbClr val="002B2C"/>
                </a:solidFill>
                <a:latin typeface="Times New Roman"/>
              </a:rPr>
              <a:t>Sự nhận biết xu hướng phát triển công nghệ tính toán hiện nay và tương lai.</a:t>
            </a:r>
          </a:p>
        </p:txBody>
      </p:sp>
      <p:pic>
        <p:nvPicPr>
          <p:cNvPr id="6" name="Picture 5" descr="bai1_page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4599" y="1188720"/>
            <a:ext cx="3103721" cy="43891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1164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TRƯỜNG TIỂU HỌC VÀ THCS UNIGO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0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20040" y="1188720"/>
            <a:ext cx="6400800" cy="43891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  <a:effectLst>
            <a:outerShdw blurRad="50800" dist="25400" dir="5400000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1188720"/>
            <a:ext cx="109728" cy="4389120"/>
          </a:xfrm>
          <a:prstGeom prst="rect">
            <a:avLst/>
          </a:prstGeom>
          <a:solidFill>
            <a:srgbClr val="007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797B"/>
                </a:solidFill>
                <a:latin typeface="Times New Roman"/>
              </a:defRPr>
            </a:pPr>
            <a:r>
              <a:t>🎮  Khởi động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011680"/>
            <a:ext cx="56692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00797B"/>
                </a:solidFill>
                <a:latin typeface="Times New Roman"/>
              </a:rPr>
              <a:t>●  </a:t>
            </a:r>
            <a:r>
              <a:rPr sz="1800">
                <a:solidFill>
                  <a:srgbClr val="002B2C"/>
                </a:solidFill>
                <a:latin typeface="Times New Roman"/>
              </a:rPr>
              <a:t>Chiếu 2 hình ảnh (abacus và siêu máy tính) và đặt câu hỏi tư duy.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00797B"/>
                </a:solidFill>
                <a:latin typeface="Times New Roman"/>
              </a:rPr>
              <a:t>●  </a:t>
            </a:r>
            <a:r>
              <a:rPr sz="1800">
                <a:solidFill>
                  <a:srgbClr val="002B2C"/>
                </a:solidFill>
                <a:latin typeface="Times New Roman"/>
              </a:rPr>
              <a:t>3 cặp HS trình bày. GV ghi ý kiến lên bảng.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00797B"/>
                </a:solidFill>
                <a:latin typeface="Times New Roman"/>
              </a:rPr>
              <a:t>●  </a:t>
            </a:r>
            <a:r>
              <a:rPr sz="1800">
                <a:solidFill>
                  <a:srgbClr val="002B2C"/>
                </a:solidFill>
                <a:latin typeface="Times New Roman"/>
              </a:rPr>
              <a:t>📋 Sản phẩm: HS nêu được ít nhất 1 điểm chung (đều dùng để tính toán) và nêu được sự khá...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49440" y="1188720"/>
            <a:ext cx="4922520" cy="4389120"/>
          </a:xfrm>
          <a:prstGeom prst="roundRect">
            <a:avLst>
              <a:gd name="adj" fmla="val 3000"/>
            </a:avLst>
          </a:prstGeom>
          <a:solidFill>
            <a:srgbClr val="F8F8F8"/>
          </a:solidFill>
          <a:ln w="19050">
            <a:solidFill>
              <a:srgbClr val="007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bai1_page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831" y="1325880"/>
            <a:ext cx="2909738" cy="41148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10683240" y="1280160"/>
            <a:ext cx="1097280" cy="274320"/>
          </a:xfrm>
          <a:prstGeom prst="roundRect">
            <a:avLst>
              <a:gd name="adj" fmla="val 30000"/>
            </a:avLst>
          </a:prstGeom>
          <a:solidFill>
            <a:srgbClr val="007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Times New Roman"/>
              </a:rPr>
              <a:t>📚 SGK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400800"/>
            <a:ext cx="1164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TRƯỜNG TIỂU HỌC VÀ THCS UNIGO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0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577840" y="1188720"/>
            <a:ext cx="6400800" cy="43891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  <a:effectLst>
            <a:outerShdw blurRad="50800" dist="25400" dir="5400000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68912" y="1188720"/>
            <a:ext cx="109728" cy="4389120"/>
          </a:xfrm>
          <a:prstGeom prst="rect">
            <a:avLst/>
          </a:prstGeom>
          <a:solidFill>
            <a:srgbClr val="007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0" y="1371600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797B"/>
                </a:solidFill>
                <a:latin typeface="Times New Roman"/>
              </a:defRPr>
            </a:pPr>
            <a:r>
              <a:t>📖  Hình thành kiến thức mới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2011680"/>
            <a:ext cx="56692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00797B"/>
                </a:solidFill>
                <a:latin typeface="Times New Roman"/>
              </a:rPr>
              <a:t>●  </a:t>
            </a:r>
            <a:r>
              <a:rPr sz="1800">
                <a:solidFill>
                  <a:srgbClr val="002B2C"/>
                </a:solidFill>
                <a:latin typeface="Times New Roman"/>
              </a:rPr>
              <a:t>Chiếu timeline và video lược sử máy tính (2 phút). Phát phiếu dòng thời gian cho HS.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00797B"/>
                </a:solidFill>
                <a:latin typeface="Times New Roman"/>
              </a:rPr>
              <a:t>●  </a:t>
            </a:r>
            <a:r>
              <a:rPr sz="1800">
                <a:solidFill>
                  <a:srgbClr val="002B2C"/>
                </a:solidFill>
                <a:latin typeface="Times New Roman"/>
              </a:rPr>
              <a:t>Chốt đáp án, giải thích thêm về ENIAC và chiếc máy tính đầu tiên dùng transistor. HS sử...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00797B"/>
                </a:solidFill>
                <a:latin typeface="Times New Roman"/>
              </a:rPr>
              <a:t>●  </a:t>
            </a:r>
            <a:r>
              <a:rPr sz="1800">
                <a:solidFill>
                  <a:srgbClr val="002B2C"/>
                </a:solidFill>
                <a:latin typeface="Times New Roman"/>
              </a:rPr>
              <a:t>📋 Sản phẩm: Phiếu dòng thời gian hoàn chỉnh với 5 mốc lịch sử, đặc điểm và năm ra đời.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1188720"/>
            <a:ext cx="5029200" cy="4389120"/>
          </a:xfrm>
          <a:prstGeom prst="roundRect">
            <a:avLst>
              <a:gd name="adj" fmla="val 3000"/>
            </a:avLst>
          </a:prstGeom>
          <a:solidFill>
            <a:srgbClr val="F8F8F8"/>
          </a:solidFill>
          <a:ln w="19050">
            <a:solidFill>
              <a:srgbClr val="007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bai1_page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9771" y="1325880"/>
            <a:ext cx="2909738" cy="41148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160520" y="1280160"/>
            <a:ext cx="1097280" cy="274320"/>
          </a:xfrm>
          <a:prstGeom prst="roundRect">
            <a:avLst>
              <a:gd name="adj" fmla="val 30000"/>
            </a:avLst>
          </a:prstGeom>
          <a:solidFill>
            <a:srgbClr val="007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Times New Roman"/>
              </a:rPr>
              <a:t>📚 SGK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400800"/>
            <a:ext cx="1164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TRƯỜNG TIỂU HỌC VÀ THCS UNIGO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0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577840" y="1188720"/>
            <a:ext cx="6400800" cy="43891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  <a:effectLst>
            <a:outerShdw blurRad="50800" dist="25400" dir="5400000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68912" y="1188720"/>
            <a:ext cx="109728" cy="4389120"/>
          </a:xfrm>
          <a:prstGeom prst="rect">
            <a:avLst/>
          </a:prstGeom>
          <a:solidFill>
            <a:srgbClr val="007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0" y="1371600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797B"/>
                </a:solidFill>
                <a:latin typeface="Times New Roman"/>
              </a:defRPr>
            </a:pPr>
            <a:r>
              <a:t>✏️  Luyện tập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2011680"/>
            <a:ext cx="56692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00797B"/>
                </a:solidFill>
                <a:latin typeface="Times New Roman"/>
              </a:rPr>
              <a:t>●  </a:t>
            </a:r>
            <a:r>
              <a:rPr sz="1800">
                <a:solidFill>
                  <a:srgbClr val="002B2C"/>
                </a:solidFill>
                <a:latin typeface="Times New Roman"/>
              </a:rPr>
              <a:t>HS thực hành bài tập sắp xếp thứ tự thời gian và câu hỏi liên hệ về công nghệ hiện đại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00797B"/>
                </a:solidFill>
                <a:latin typeface="Times New Roman"/>
              </a:rPr>
              <a:t>●  </a:t>
            </a:r>
            <a:r>
              <a:rPr sz="1800">
                <a:solidFill>
                  <a:srgbClr val="002B2C"/>
                </a:solidFill>
                <a:latin typeface="Times New Roman"/>
              </a:rPr>
              <a:t>Phát phiếu bài tập: Sắp xếp 10 sự kiện theo đúng thứ tự lịch sử; 2 câu liên hệ.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00797B"/>
                </a:solidFill>
                <a:latin typeface="Times New Roman"/>
              </a:rPr>
              <a:t>●  </a:t>
            </a:r>
            <a:r>
              <a:rPr sz="1800">
                <a:solidFill>
                  <a:srgbClr val="002B2C"/>
                </a:solidFill>
                <a:latin typeface="Times New Roman"/>
              </a:rPr>
              <a:t>Đại diện 2 nhóm trình bày dự đoán. GV nhận xét, giới thiệu xu hướng AI và Quantum Compu...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00797B"/>
                </a:solidFill>
                <a:latin typeface="Times New Roman"/>
              </a:rPr>
              <a:t>●  </a:t>
            </a:r>
            <a:r>
              <a:rPr sz="1800">
                <a:solidFill>
                  <a:srgbClr val="002B2C"/>
                </a:solidFill>
                <a:latin typeface="Times New Roman"/>
              </a:rPr>
              <a:t>📋 Sản phẩm: Phiếu bài tập hoàn chỉnh và đoạn văn ngắn liên hệ thực tế.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1188720"/>
            <a:ext cx="5029200" cy="4389120"/>
          </a:xfrm>
          <a:prstGeom prst="roundRect">
            <a:avLst>
              <a:gd name="adj" fmla="val 3000"/>
            </a:avLst>
          </a:prstGeom>
          <a:solidFill>
            <a:srgbClr val="F8F8F8"/>
          </a:solidFill>
          <a:ln w="19050">
            <a:solidFill>
              <a:srgbClr val="007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bai1_page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9771" y="1325880"/>
            <a:ext cx="2909738" cy="41148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160520" y="1280160"/>
            <a:ext cx="1097280" cy="274320"/>
          </a:xfrm>
          <a:prstGeom prst="roundRect">
            <a:avLst>
              <a:gd name="adj" fmla="val 30000"/>
            </a:avLst>
          </a:prstGeom>
          <a:solidFill>
            <a:srgbClr val="007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Times New Roman"/>
              </a:rPr>
              <a:t>📚 SGK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400800"/>
            <a:ext cx="1164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TRƯỜNG TIỂU HỌC VÀ THCS UNIGO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0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20040" y="1188720"/>
            <a:ext cx="6400800" cy="43891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  <a:effectLst>
            <a:outerShdw blurRad="50800" dist="25400" dir="5400000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1188720"/>
            <a:ext cx="109728" cy="4389120"/>
          </a:xfrm>
          <a:prstGeom prst="rect">
            <a:avLst/>
          </a:prstGeom>
          <a:solidFill>
            <a:srgbClr val="007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797B"/>
                </a:solidFill>
                <a:latin typeface="Times New Roman"/>
              </a:defRPr>
            </a:pPr>
            <a:r>
              <a:t>🚀  Vận dụng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011680"/>
            <a:ext cx="56692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00797B"/>
                </a:solidFill>
                <a:latin typeface="Times New Roman"/>
              </a:rPr>
              <a:t>●  </a:t>
            </a:r>
            <a:r>
              <a:rPr sz="1800">
                <a:solidFill>
                  <a:srgbClr val="002B2C"/>
                </a:solidFill>
                <a:latin typeface="Times New Roman"/>
              </a:rPr>
              <a:t>HS chọn 1 trong số: Alan Turing, Grace Hopper, Steve Jobs, hay sự ra đời của Internet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00797B"/>
                </a:solidFill>
                <a:latin typeface="Times New Roman"/>
              </a:rPr>
              <a:t>●  </a:t>
            </a:r>
            <a:r>
              <a:rPr sz="1800">
                <a:solidFill>
                  <a:srgbClr val="002B2C"/>
                </a:solidFill>
                <a:latin typeface="Times New Roman"/>
              </a:rPr>
              <a:t>Viết đoạn thuyết trình 7-10 câu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00797B"/>
                </a:solidFill>
                <a:latin typeface="Times New Roman"/>
              </a:rPr>
              <a:t>●  </a:t>
            </a:r>
            <a:r>
              <a:rPr sz="1800">
                <a:solidFill>
                  <a:srgbClr val="002B2C"/>
                </a:solidFill>
                <a:latin typeface="Times New Roman"/>
              </a:rPr>
              <a:t>Giới thiệu 4 chủ đề lựa chọn và giao nhiệm vụ.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00797B"/>
                </a:solidFill>
                <a:latin typeface="Times New Roman"/>
              </a:rPr>
              <a:t>●  </a:t>
            </a:r>
            <a:r>
              <a:rPr sz="1800">
                <a:solidFill>
                  <a:srgbClr val="002B2C"/>
                </a:solidFill>
                <a:latin typeface="Times New Roman"/>
              </a:rPr>
              <a:t>Tuần sau HS nộp bài, GV chọn 3-4 bài hay đọc trước lớp.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49440" y="1188720"/>
            <a:ext cx="4922520" cy="4389120"/>
          </a:xfrm>
          <a:prstGeom prst="roundRect">
            <a:avLst>
              <a:gd name="adj" fmla="val 3000"/>
            </a:avLst>
          </a:prstGeom>
          <a:solidFill>
            <a:srgbClr val="F8F8F8"/>
          </a:solidFill>
          <a:ln w="19050">
            <a:solidFill>
              <a:srgbClr val="007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bai1_page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831" y="1325880"/>
            <a:ext cx="2909738" cy="41148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10683240" y="1280160"/>
            <a:ext cx="1097280" cy="274320"/>
          </a:xfrm>
          <a:prstGeom prst="roundRect">
            <a:avLst>
              <a:gd name="adj" fmla="val 30000"/>
            </a:avLst>
          </a:prstGeom>
          <a:solidFill>
            <a:srgbClr val="007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Times New Roman"/>
              </a:rPr>
              <a:t>📚 SGK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400800"/>
            <a:ext cx="1164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TRƯỜNG TIỂU HỌC VÀ THCS UNIGO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0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20040" y="1188720"/>
            <a:ext cx="7315200" cy="43891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  <a:effectLst>
            <a:outerShdw blurRad="50800" dist="25400" dir="5400000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1188720"/>
            <a:ext cx="109728" cy="4389120"/>
          </a:xfrm>
          <a:prstGeom prst="rect">
            <a:avLst/>
          </a:prstGeom>
          <a:solidFill>
            <a:srgbClr val="007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3716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797B"/>
                </a:solidFill>
                <a:latin typeface="Times New Roman"/>
              </a:defRPr>
            </a:pPr>
            <a:r>
              <a:t>📌  Ghi nhớ — LƯỢC SỬ CÔNG CỤ TÍNH TOÁN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011680"/>
            <a:ext cx="64008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00797B"/>
                </a:solidFill>
                <a:latin typeface="Times New Roman"/>
              </a:rPr>
              <a:t>●  </a:t>
            </a:r>
            <a:r>
              <a:rPr sz="1800">
                <a:solidFill>
                  <a:srgbClr val="002B2C"/>
                </a:solidFill>
                <a:latin typeface="Times New Roman"/>
              </a:rPr>
              <a:t>Sự hiểu biết về các mốc lịch sử phát triển công cụ tính toán từ thủ công đến hiện đại.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00797B"/>
                </a:solidFill>
                <a:latin typeface="Times New Roman"/>
              </a:rPr>
              <a:t>●  </a:t>
            </a:r>
            <a:r>
              <a:rPr sz="1800">
                <a:solidFill>
                  <a:srgbClr val="002B2C"/>
                </a:solidFill>
                <a:latin typeface="Times New Roman"/>
              </a:rPr>
              <a:t>Khả năng mô tả đặc điểm và vai trò của từng thế hệ máy tính (Thế hệ 1-5).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00797B"/>
                </a:solidFill>
                <a:latin typeface="Times New Roman"/>
              </a:rPr>
              <a:t>●  </a:t>
            </a:r>
            <a:r>
              <a:rPr sz="1800">
                <a:solidFill>
                  <a:srgbClr val="002B2C"/>
                </a:solidFill>
                <a:latin typeface="Times New Roman"/>
              </a:rPr>
              <a:t>Sự nhận biết xu hướng phát triển công nghệ tính toán hiện nay và tương lai.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00797B"/>
                </a:solidFill>
                <a:latin typeface="Times New Roman"/>
              </a:rPr>
              <a:t>●  </a:t>
            </a:r>
            <a:r>
              <a:rPr sz="1800">
                <a:solidFill>
                  <a:srgbClr val="002B2C"/>
                </a:solidFill>
                <a:latin typeface="Times New Roman"/>
              </a:rPr>
              <a:t>📚 Bài tập về nhà: Xem lại nội dung bài học và chuẩn bị bài tiếp theo.</a:t>
            </a:r>
          </a:p>
        </p:txBody>
      </p:sp>
      <p:pic>
        <p:nvPicPr>
          <p:cNvPr id="6" name="Picture 5" descr="bai1_page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16039" y="1188720"/>
            <a:ext cx="3103721" cy="43891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1164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TRƯỜNG TIỂU HỌC VÀ THCS UNIGO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797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ai1_page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3931" y="1371600"/>
            <a:ext cx="2909738" cy="41148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7162800" y="1371600"/>
            <a:ext cx="4572000" cy="4114800"/>
          </a:xfrm>
          <a:prstGeom prst="rect">
            <a:avLst/>
          </a:prstGeom>
          <a:solidFill>
            <a:srgbClr val="00797B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438400" y="1828800"/>
            <a:ext cx="7315200" cy="3200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895600" y="2286000"/>
            <a:ext cx="6400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0797B"/>
                </a:solidFill>
                <a:latin typeface="Times New Roman"/>
              </a:rPr>
              <a:t>CẢM ƠN CÁC EM! 🎉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
                  <a:srgbClr val="002B2C"/>
                </a:solidFill>
                <a:latin typeface="Times New Roman"/>
              </a:rPr>
              <a:t>Hẹn gặp lại ở tiết học sau!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95600" y="384048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>
                <a:solidFill>
                  <a:srgbClr val="999999"/>
                </a:solidFill>
                <a:latin typeface="Times New Roman"/>
              </a:rPr>
              <a:t>Trường TH &amp; THCS UNIGO  •  GV: Đậu Đình Nguyên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1164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TRƯỜNG TIỂU HỌC VÀ THCS UNIGO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