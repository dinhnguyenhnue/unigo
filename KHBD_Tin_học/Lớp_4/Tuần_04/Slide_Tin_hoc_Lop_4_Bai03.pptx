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51560"/>
            <a:ext cx="12188952" cy="16459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373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Thông tin trên trang Web 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Tin học • Lớp 4 • Bài 3</a:t>
            </a:r>
          </a:p>
        </p:txBody>
      </p:sp>
      <p:pic>
        <p:nvPicPr>
          <p:cNvPr id="6" name="Picture 5" descr="learn1_c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1325880"/>
            <a:ext cx="3474720" cy="34747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373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4 • BÀI 3. THÔNG TIN TRÊN TRANG 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1B4B"/>
                </a:solidFill>
                <a:latin typeface="Arial"/>
              </a:rPr>
              <a:t>Website hoạt động như thế nào?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63093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E1B4B"/>
                </a:solidFill>
                <a:latin typeface="Arial"/>
              </a:rPr>
              <a:t>Khi em mở một trang web đọc báo hoặc xem phim hoạt hình: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1E1B4B"/>
                </a:solidFill>
                <a:latin typeface="Arial"/>
              </a:rPr>
              <a:t>Trang web đó chứa những dạng thông tin nào?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1E1B4B"/>
                </a:solidFill>
                <a:latin typeface="Arial"/>
              </a:rPr>
              <a:t>Làm sao để chuyển từ trang này sang trang khác?</a:t>
            </a:r>
          </a:p>
        </p:txBody>
      </p:sp>
      <p:pic>
        <p:nvPicPr>
          <p:cNvPr id="9" name="Picture 8" descr="learn1_c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4 • KHÁM PHÁ VIDEO BÀI HỌC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1B4B"/>
                </a:solidFill>
                <a:latin typeface="Arial"/>
              </a:rPr>
              <a:t>Khám phá: Thế giới Website &amp; Siêu liên kết 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63093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E1B4B"/>
                </a:solidFill>
                <a:latin typeface="Arial"/>
              </a:rPr>
              <a:t>Xem video để hiểu cấu trúc trang web và cách thức hoạt động của siêu văn bản (Hyperlink)!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E1B4B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E1B4B"/>
                </a:solidFill>
                <a:latin typeface="Arial"/>
              </a:rPr>
              <a:t>🔗 Đường link video tham khảo: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E1B4B"/>
                </a:solidFill>
                <a:latin typeface="Arial"/>
              </a:rPr>
              <a:t>https://www.youtube.com/watch?v=9o2_m2Jp4iA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E1B4B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E1B4B"/>
                </a:solidFill>
                <a:latin typeface="Arial"/>
              </a:rPr>
              <a:t>💡 Thầy/Cô sẽ chiếu video cho các em quan sát nhé!</a:t>
            </a:r>
          </a:p>
        </p:txBody>
      </p:sp>
      <p:pic>
        <p:nvPicPr>
          <p:cNvPr id="9" name="Picture 8" descr="learn1_c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cover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373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4 • BÀI 3. THÔNG TIN TRÊN TRANG 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1B4B"/>
                </a:solidFill>
                <a:latin typeface="Arial"/>
              </a:rPr>
              <a:t>Các dạng thông tin trên trang Web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286000"/>
            <a:ext cx="5477256" cy="161391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91440" cy="1613915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earn1_c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95728"/>
            <a:ext cx="2194560" cy="13944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17520" y="2423160"/>
            <a:ext cx="2825496" cy="1339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rial"/>
              </a:rPr>
              <a:t>Văn bản (Text): bài viết, tiêu đề, tin tức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4496" y="2286000"/>
            <a:ext cx="5477256" cy="161391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4496" y="2286000"/>
            <a:ext cx="91440" cy="1613915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earn1_car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2395728"/>
            <a:ext cx="2194560" cy="139445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14815" y="2423160"/>
            <a:ext cx="2825496" cy="1339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rial"/>
              </a:rPr>
              <a:t>Hình ảnh (Images): tranh vẽ, ảnh chụp, biểu đồ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101083"/>
            <a:ext cx="5477256" cy="161391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101083"/>
            <a:ext cx="91440" cy="1613915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earn1_card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210812"/>
            <a:ext cx="2194560" cy="139445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017520" y="4238244"/>
            <a:ext cx="2825496" cy="1339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rial"/>
              </a:rPr>
              <a:t>Âm thanh (Audio): bài hát, bản ghi âm, thuyết minh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4101083"/>
            <a:ext cx="5477256" cy="161391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54496" y="4101083"/>
            <a:ext cx="91440" cy="1613915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earn1_car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7376" y="4210812"/>
            <a:ext cx="2194560" cy="139445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814815" y="4238244"/>
            <a:ext cx="2825496" cy="1339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rial"/>
              </a:rPr>
              <a:t>Video: các đoạn phim hoạt hình, video bài giảng</a:t>
            </a:r>
          </a:p>
        </p:txBody>
      </p:sp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373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4 • BÀI 3. THÔNG TIN TRÊN TRANG 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1B4B"/>
                </a:solidFill>
                <a:latin typeface="Arial"/>
              </a:rPr>
              <a:t>Siêu liên kết (Hyperlink)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286000"/>
            <a:ext cx="5477256" cy="161391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91440" cy="1613915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earn2_c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95728"/>
            <a:ext cx="2194560" cy="13944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17520" y="2423160"/>
            <a:ext cx="2825496" cy="1339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rial"/>
              </a:rPr>
              <a:t>Là đoạn chữ hoặc hình ảnh liên kết đến trang khác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4496" y="2286000"/>
            <a:ext cx="5477256" cy="161391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4496" y="2286000"/>
            <a:ext cx="91440" cy="1613915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earn2_car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2395728"/>
            <a:ext cx="2194560" cy="139445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14815" y="2423160"/>
            <a:ext cx="2825496" cy="1339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rial"/>
              </a:rPr>
              <a:t>Khi trỏ chuột vào, con trỏ đổi thành hình BÀN TAY 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101083"/>
            <a:ext cx="5477256" cy="161391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101083"/>
            <a:ext cx="91440" cy="1613915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earn2_card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210812"/>
            <a:ext cx="2194560" cy="139445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017520" y="4238244"/>
            <a:ext cx="2825496" cy="1339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rial"/>
              </a:rPr>
              <a:t>Nháy chuột vào siêu liên kết để mở nội dung mới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4101083"/>
            <a:ext cx="5477256" cy="161391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54496" y="4101083"/>
            <a:ext cx="91440" cy="1613915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earn2_car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7376" y="4210812"/>
            <a:ext cx="2194560" cy="139445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814815" y="4238244"/>
            <a:ext cx="2825496" cy="1339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rial"/>
              </a:rPr>
              <a:t>Giúp duyệt web linh hoạt và nhanh chóng</a:t>
            </a:r>
          </a:p>
        </p:txBody>
      </p:sp>
    </p:spTree>
  </p:cSld>
  <p:clrMapOvr>
    <a:masterClrMapping/>
  </p:clrMapOvr>
  <p:transition spd="med">
    <p:wip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373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4 • LUYỆN TẬP TƯƠNG TÁC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1B4B"/>
                </a:solidFill>
                <a:latin typeface="Arial"/>
              </a:rPr>
              <a:t>Thực hành duyệt trang Web!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E1B4B"/>
                </a:solidFill>
                <a:latin typeface="Arial"/>
              </a:rPr>
              <a:t>Thao tác trên trình duyệt web: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017520"/>
            <a:ext cx="5522976" cy="12801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earn1_c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154679"/>
            <a:ext cx="1280160" cy="1005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03120" y="3154679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E1B4B"/>
                </a:solidFill>
                <a:latin typeface="Arial"/>
              </a:rPr>
              <a:t>Mở trình duyệt Google Chrome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3017520"/>
            <a:ext cx="5522976" cy="12801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earn1_car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3154679"/>
            <a:ext cx="1280160" cy="1005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54696" y="3154679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E1B4B"/>
                </a:solidFill>
                <a:latin typeface="Arial"/>
              </a:rPr>
              <a:t>Truy cập website học tập: thieunhi.vn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526279"/>
            <a:ext cx="5522976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earn1_card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663440"/>
            <a:ext cx="1280160" cy="100583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3120" y="4663440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E1B4B"/>
                </a:solidFill>
                <a:latin typeface="Arial"/>
              </a:rPr>
              <a:t>Tìm siêu liên kết có hình bàn tay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4526279"/>
            <a:ext cx="5522976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earn1_car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1656" y="4663440"/>
            <a:ext cx="1280160" cy="100583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54696" y="4663440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E1B4B"/>
                </a:solidFill>
                <a:latin typeface="Arial"/>
              </a:rPr>
              <a:t>Nháy chuột mở bài viết mới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6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par>
                          <p:cTn id="11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3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5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2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7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9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4 • THỬ THÁCH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1B4B"/>
                </a:solidFill>
                <a:latin typeface="Arial"/>
              </a:rPr>
              <a:t>Thử thách: Truy tìm siêu liên kết!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4008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58521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E1B4B"/>
                </a:solidFill>
                <a:latin typeface="Arial"/>
              </a:rPr>
              <a:t>Xác định các thành phần trên website: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E1B4B"/>
                </a:solidFill>
                <a:latin typeface="Arial"/>
              </a:rPr>
              <a:t>Dòng chữ có gạch chân màu xanh ↔ Siêu liên kết (Link)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E1B4B"/>
                </a:solidFill>
                <a:latin typeface="Arial"/>
              </a:rPr>
              <a:t>Con trỏ chuột biến thành hình bàn tay ↔ Đang chỉ vào Link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E1B4B"/>
                </a:solidFill>
                <a:latin typeface="Arial"/>
              </a:rPr>
              <a:t>Thanh nhập địa chỉ trên cùng ↔ Address Bar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E1B4B"/>
                </a:solidFill>
                <a:latin typeface="Arial"/>
              </a:rPr>
              <a:t>Nút mũi tên quay lại ↔ Nút Back</a:t>
            </a:r>
          </a:p>
        </p:txBody>
      </p:sp>
      <p:pic>
        <p:nvPicPr>
          <p:cNvPr id="9" name="Picture 8" descr="learn1_c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377440"/>
            <a:ext cx="4572000" cy="3200399"/>
          </a:xfrm>
          <a:prstGeom prst="rect">
            <a:avLst/>
          </a:prstGeom>
        </p:spPr>
      </p:pic>
    </p:spTree>
  </p:cSld>
  <p:clrMapOvr>
    <a:masterClrMapping/>
  </p:clrMapOvr>
  <p:transition spd="med">
    <p:cover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1188719"/>
            <a:ext cx="11091672" cy="448055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188719"/>
            <a:ext cx="11091672" cy="91440"/>
          </a:xfrm>
          <a:prstGeom prst="rect">
            <a:avLst/>
          </a:prstGeom>
          <a:solidFill>
            <a:srgbClr val="373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17319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E1B4B"/>
                </a:solidFill>
                <a:latin typeface="Arial"/>
              </a:rPr>
              <a:t>Hôm nay em đã học!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03120"/>
            <a:ext cx="3331464" cy="3291839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2240279"/>
            <a:ext cx="411480" cy="411480"/>
          </a:xfrm>
          <a:prstGeom prst="ellipse">
            <a:avLst/>
          </a:prstGeom>
          <a:solidFill>
            <a:srgbClr val="373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402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43200"/>
            <a:ext cx="3057144" cy="2514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E1B4B"/>
                </a:solidFill>
                <a:latin typeface="Arial"/>
              </a:rPr>
              <a:t>4 dạng thông tin đa phương tiện trên website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8744" y="2103120"/>
            <a:ext cx="3331464" cy="3291839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65904" y="2240279"/>
            <a:ext cx="411480" cy="411480"/>
          </a:xfrm>
          <a:prstGeom prst="ellipse">
            <a:avLst/>
          </a:prstGeom>
          <a:solidFill>
            <a:srgbClr val="373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5904" y="22402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5904" y="2743200"/>
            <a:ext cx="3057144" cy="2514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E1B4B"/>
                </a:solidFill>
                <a:latin typeface="Arial"/>
              </a:rPr>
              <a:t>Khái niệm và đặc điểm nhận biết Siêu liên kết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43088" y="2103120"/>
            <a:ext cx="3331464" cy="3291839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80248" y="2240279"/>
            <a:ext cx="411480" cy="411480"/>
          </a:xfrm>
          <a:prstGeom prst="ellipse">
            <a:avLst/>
          </a:prstGeom>
          <a:solidFill>
            <a:srgbClr val="373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80248" y="22402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0248" y="2743200"/>
            <a:ext cx="3057144" cy="2514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E1B4B"/>
                </a:solidFill>
                <a:latin typeface="Arial"/>
              </a:rPr>
              <a:t>Kỹ năng duyệt web an toàn và đúng mục đích</a:t>
            </a:r>
          </a:p>
        </p:txBody>
      </p:sp>
    </p:spTree>
  </p:cSld>
  <p:clrMapOvr>
    <a:masterClrMapping/>
  </p:clrMapOvr>
  <p:transition spd="med">
    <p:push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373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"/>
              </a:rPr>
              <a:t>Em giỏi lắm! 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BTVN: Tìm 3 trang web học tập bổ ích và ghi địa chỉ vào vở!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