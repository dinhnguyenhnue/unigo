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51560"/>
            <a:ext cx="12188952" cy="1645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Gõ bàn phím đúng cách ⌨️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Tin học • Lớp 4 • Bài 2</a:t>
            </a:r>
          </a:p>
        </p:txBody>
      </p:sp>
      <p:pic>
        <p:nvPicPr>
          <p:cNvPr id="6" name="Picture 5" descr="bai1_p10_img29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325880"/>
            <a:ext cx="3474720" cy="34747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4 • BÀI 2. GÕ BÀN PHÍM ĐÚNG CÁCH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1B4B"/>
                </a:solidFill>
                <a:latin typeface="Arial"/>
              </a:rPr>
              <a:t>10 ngón tay múa trên bàn phím!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6309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E1B4B"/>
                </a:solidFill>
                <a:latin typeface="Arial"/>
              </a:rPr>
              <a:t>Em gõ bàn phím bằng mấy ngón tay?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E1B4B"/>
                </a:solidFill>
                <a:latin typeface="Arial"/>
              </a:rPr>
              <a:t>Gõ bằng 10 ngón sẽ giúp em gõ nhanh gấp 5 lần đấy!</a:t>
            </a:r>
          </a:p>
        </p:txBody>
      </p:sp>
      <p:pic>
        <p:nvPicPr>
          <p:cNvPr id="9" name="Picture 8" descr="bai1_p10_img29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4 • BÀI 2. GÕ BÀN PHÍM ĐÚNG CÁCH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1B4B"/>
                </a:solidFill>
                <a:latin typeface="Arial"/>
              </a:rPr>
              <a:t>Hàng phím cơ sở (Home row)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628900"/>
            <a:ext cx="3605784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i1_p10_img29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132" y="2766060"/>
            <a:ext cx="164592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E1B4B"/>
                </a:solidFill>
                <a:latin typeface="Arial"/>
              </a:rPr>
              <a:t>Các phím: A S D F G H J K L 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1584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1584" y="2628900"/>
            <a:ext cx="3605784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ai1_p10_img3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1516" y="2766060"/>
            <a:ext cx="1645920" cy="1828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28744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E1B4B"/>
                </a:solidFill>
                <a:latin typeface="Arial"/>
              </a:rPr>
              <a:t>Hai phím có gờ: F và J (đặt ngón trỏ)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5968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5968" y="2628900"/>
            <a:ext cx="3605784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ai1_p10_img36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5900" y="2766060"/>
            <a:ext cx="1645920" cy="1828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63128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E1B4B"/>
                </a:solidFill>
                <a:latin typeface="Arial"/>
              </a:rPr>
              <a:t>Nơi 10 ngón tay luôn xuất phát và trở về</a:t>
            </a:r>
          </a:p>
        </p:txBody>
      </p:sp>
    </p:spTree>
  </p:cSld>
  <p:clrMapOvr>
    <a:masterClrMapping/>
  </p:clrMapOvr>
  <p:transition spd="med">
    <p:wip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4 • BÀI 2. GÕ BÀN PHÍM ĐÚNG CÁCH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1B4B"/>
                </a:solidFill>
                <a:latin typeface="Arial"/>
              </a:rPr>
              <a:t>Phân công 10 ngón tay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628900"/>
            <a:ext cx="3605784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i1_p10_img3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132" y="2766060"/>
            <a:ext cx="164592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E1B4B"/>
                </a:solidFill>
                <a:latin typeface="Arial"/>
              </a:rPr>
              <a:t>Ngón trỏ trái: F, V, B, R, T, 4,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1584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1584" y="2628900"/>
            <a:ext cx="3605784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ai1_p10_img3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1516" y="2766060"/>
            <a:ext cx="1645920" cy="1828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28744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E1B4B"/>
                </a:solidFill>
                <a:latin typeface="Arial"/>
              </a:rPr>
              <a:t>Ngón trỏ phải: J, N, M, U, Y, 7, 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5968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5968" y="2628900"/>
            <a:ext cx="3605784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ai1_p10_img3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5900" y="2766060"/>
            <a:ext cx="1645920" cy="1828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63128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E1B4B"/>
                </a:solidFill>
                <a:latin typeface="Arial"/>
              </a:rPr>
              <a:t>Hai ngón cái phụ trách phím cách (Spacebar)</a:t>
            </a:r>
          </a:p>
        </p:txBody>
      </p:sp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4 • BÀI 2. GÕ BÀN PHÍM ĐÚNG CÁCH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1B4B"/>
                </a:solidFill>
                <a:latin typeface="Arial"/>
              </a:rPr>
              <a:t>Quy tắc gõ mười ngón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628900"/>
            <a:ext cx="3605784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i1_p10_img3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132" y="2766060"/>
            <a:ext cx="164592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E1B4B"/>
                </a:solidFill>
                <a:latin typeface="Arial"/>
              </a:rPr>
              <a:t>Đặt ngón tay đúng vị trí xuất phát ở hàng cơ sở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1584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1584" y="2628900"/>
            <a:ext cx="3605784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ai1_p10_img3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1516" y="2766060"/>
            <a:ext cx="1645920" cy="1828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28744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E1B4B"/>
                </a:solidFill>
                <a:latin typeface="Arial"/>
              </a:rPr>
              <a:t>Mỗi ngón tay chỉ gõ các phím được phân công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5968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5968" y="2628900"/>
            <a:ext cx="3605784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ai1_p10_img3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5900" y="2766060"/>
            <a:ext cx="1645920" cy="1828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63128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E1B4B"/>
                </a:solidFill>
                <a:latin typeface="Arial"/>
              </a:rPr>
              <a:t>Gõ nhẹ nhàng, không nhìn bàn phím (Touch typing)</a:t>
            </a:r>
          </a:p>
        </p:txBody>
      </p:sp>
    </p:spTree>
  </p:cSld>
  <p:clrMapOvr>
    <a:masterClrMapping/>
  </p:clrMapOvr>
  <p:transition spd="med">
    <p:wip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4 • LUYỆN TẬP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1B4B"/>
                </a:solidFill>
                <a:latin typeface="Arial"/>
              </a:rPr>
              <a:t>Luyện đặt tay đúng cách!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E1B4B"/>
                </a:solidFill>
                <a:latin typeface="Arial"/>
              </a:rPr>
              <a:t>Thực hiện theo các bước: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i1_p10_img29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54679"/>
            <a:ext cx="128016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03120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1B4B"/>
                </a:solidFill>
                <a:latin typeface="Arial"/>
              </a:rPr>
              <a:t>Đặt ngón trỏ trái lên phím F (có gờ)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ai1_p10_img3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3154679"/>
            <a:ext cx="1280160" cy="1005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54696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1B4B"/>
                </a:solidFill>
                <a:latin typeface="Arial"/>
              </a:rPr>
              <a:t>Đặt ngón trỏ phải lên phím J (có gờ)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ai1_p10_img36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663440"/>
            <a:ext cx="1280160" cy="1005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03120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1B4B"/>
                </a:solidFill>
                <a:latin typeface="Arial"/>
              </a:rPr>
              <a:t>Đặt 6 ngón còn lại lên A,S,D và K,L,;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ai1_p10_img3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4663440"/>
            <a:ext cx="1280160" cy="100583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54696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1B4B"/>
                </a:solidFill>
                <a:latin typeface="Arial"/>
              </a:rPr>
              <a:t>Hai ngón cái đặt nhẹ lên phím cách (Space)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3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7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9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wip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4 • THỬ THÁCH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1B4B"/>
                </a:solidFill>
                <a:latin typeface="Arial"/>
              </a:rPr>
              <a:t>Luyện gõ trên RapidTyping!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4008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852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E1B4B"/>
                </a:solidFill>
                <a:latin typeface="Arial"/>
              </a:rPr>
              <a:t>Thực hành bài luyện gõ hàng phím cơ sở:</a:t>
            </a:r>
          </a:p>
        </p:txBody>
      </p:sp>
      <p:pic>
        <p:nvPicPr>
          <p:cNvPr id="9" name="Picture 8" descr="bai1_p10_img29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377440"/>
            <a:ext cx="4572000" cy="3200399"/>
          </a:xfrm>
          <a:prstGeom prst="rect">
            <a:avLst/>
          </a:prstGeom>
        </p:spPr>
      </p:pic>
    </p:spTree>
  </p:cSld>
  <p:clrMapOvr>
    <a:masterClrMapping/>
  </p:clrMapOvr>
  <p:transition spd="med">
    <p:cover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188719"/>
            <a:ext cx="11091672" cy="448055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19"/>
            <a:ext cx="11091672" cy="9144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371599"/>
            <a:ext cx="105430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3730A3"/>
                </a:solidFill>
                <a:latin typeface="Arial"/>
              </a:rPr>
              <a:t>Hôm nay em đã học!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2057400"/>
            <a:ext cx="7434072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73152" cy="640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286000"/>
            <a:ext cx="9994392" cy="64008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42316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B4B"/>
                </a:solidFill>
                <a:latin typeface="Arial"/>
              </a:rPr>
              <a:t>Hàng phím cơ sở và 2 phím có gờ F, J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291840"/>
            <a:ext cx="73152" cy="640079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3291840"/>
            <a:ext cx="9994392" cy="640079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42900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B4B"/>
                </a:solidFill>
                <a:latin typeface="Arial"/>
              </a:rPr>
              <a:t>Phân công vị trí 10 ngón tay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297680"/>
            <a:ext cx="73152" cy="640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4297680"/>
            <a:ext cx="9994392" cy="64008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43484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B4B"/>
                </a:solidFill>
                <a:latin typeface="Arial"/>
              </a:rPr>
              <a:t>Quy tắc gõ phím không cần nhìn (Touch typing)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78308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Tuyệt vời! 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36876" y="3337560"/>
            <a:ext cx="73152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94076" y="3611879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1E1B4B"/>
                </a:solidFill>
                <a:latin typeface="Arial"/>
              </a:rPr>
              <a:t>BTVN: Luyện gõ 10 ngón trên phần mềm</a:t>
            </a: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1E1B4B"/>
                </a:solidFill>
                <a:latin typeface="Arial"/>
              </a:rPr>
              <a:t>15 phút mỗi ngày!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