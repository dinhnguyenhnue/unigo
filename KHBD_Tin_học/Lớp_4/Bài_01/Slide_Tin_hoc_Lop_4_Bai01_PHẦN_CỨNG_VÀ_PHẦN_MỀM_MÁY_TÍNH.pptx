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98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24000" y="1280160"/>
            <a:ext cx="914400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981200" y="1554480"/>
            <a:ext cx="4114800" cy="457200"/>
          </a:xfrm>
          <a:prstGeom prst="roundRect">
            <a:avLst>
              <a:gd name="adj" fmla="val 30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TIN HỌC LỚP 4  •  NĂM HỌC 2026 – 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0" y="228600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9800"/>
                </a:solidFill>
                <a:latin typeface="Times New Roman"/>
              </a:rPr>
              <a:t>Bài 1</a:t>
            </a:r>
          </a:p>
          <a:p>
            <a:pPr>
              <a:spcBef>
                <a:spcPts val="400"/>
              </a:spcBef>
            </a:pPr>
            <a:r>
              <a:rPr sz="2800" b="1">
                <a:solidFill>
                  <a:srgbClr val="331A00"/>
                </a:solidFill>
                <a:latin typeface="Times New Roman"/>
              </a:rPr>
              <a:t>PHẦN CỨNG VÀ PHẦN MỀM MÁY TÍNH</a:t>
            </a:r>
          </a:p>
          <a:p>
            <a:pPr>
              <a:spcBef>
                <a:spcPts val="800"/>
              </a:spcBef>
            </a:pPr>
            <a:r>
              <a:rPr sz="1600" i="1">
                <a:solidFill>
                  <a:srgbClr val="666666"/>
                </a:solidFill>
                <a:latin typeface="Times New Roman"/>
              </a:rPr>
              <a:t>Chủ đề: Cấu tạo máy tính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200" y="43891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31A00"/>
                </a:solidFill>
                <a:latin typeface="Times New Roman"/>
              </a:rPr>
              <a:t>Trường TH &amp; THCS UNIGO</a:t>
            </a:r>
          </a:p>
          <a:p>
            <a:r>
              <a:rPr sz="1600">
                <a:solidFill>
                  <a:srgbClr val="666666"/>
                </a:solidFill>
                <a:latin typeface="Times New Roman"/>
              </a:rPr>
              <a:t>Giáo viên: Đậu Đình Nguyên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1188720"/>
            <a:ext cx="105156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8200" y="1188720"/>
            <a:ext cx="109728" cy="43891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54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9800"/>
                </a:solidFill>
                <a:latin typeface="Times New Roman"/>
              </a:defRPr>
            </a:pPr>
            <a:r>
              <a:t>🎯  Mục tiêu bài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5400" y="2011680"/>
            <a:ext cx="9601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Sau tiết học, học sinh sẽ: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Chăm chỉ: Tích cực tìm hiểu, ghi nhớ kiến thức về phần cứng và phần mềm.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Trách nhiệm: Sử dụng đúng cách, bảo quản thiết bị phần cứng.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Trung thực: Sử dụng phần mềm hợp pháp, không sao chép trái phép.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188720"/>
            <a:ext cx="68580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" cy="43891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800"/>
                </a:solidFill>
                <a:latin typeface="Times New Roman"/>
              </a:defRPr>
            </a:pPr>
            <a:r>
              <a:t>🎮  Khởi động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Đặt câu hỏi: "Máy tính gồm những gì? Em có thể cầm lấy phần mềm không?"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Dẫn vào bài: Hôm nay chúng ta tìm hiểu sự khác nhau giữa phần cứng và phần mềm.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7120" y="1188720"/>
            <a:ext cx="4389120" cy="4389120"/>
          </a:xfrm>
          <a:prstGeom prst="roundRect">
            <a:avLst>
              <a:gd name="adj" fmla="val 4000"/>
            </a:avLst>
          </a:prstGeom>
          <a:solidFill>
            <a:srgbClr val="FF98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4480" y="2926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Times New Roman"/>
              </a:defRPr>
            </a:pPr>
            <a:r>
              <a:t>🎮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76800" y="1188720"/>
            <a:ext cx="68580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25072" y="1188720"/>
            <a:ext cx="109728" cy="43891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42560" y="13716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800"/>
                </a:solidFill>
                <a:latin typeface="Times New Roman"/>
              </a:defRPr>
            </a:pPr>
            <a:r>
              <a:t>📖  Phần cứng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42560" y="2011680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Chiếu ảnh các thiết bị: CPU, RAM, ổ cứng, màn hình, bàn phím, chuột.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Hỏi: "Điểm chung của những thứ này là gì?"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Kết luận: Phần cứng là những bộ phận vật lí của máy tính — có thể nhìn thấy và chạm vào...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4389120" cy="4389120"/>
          </a:xfrm>
          <a:prstGeom prst="roundRect">
            <a:avLst>
              <a:gd name="adj" fmla="val 4000"/>
            </a:avLst>
          </a:prstGeom>
          <a:solidFill>
            <a:srgbClr val="FF98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2926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Times New Roman"/>
              </a:defRPr>
            </a:pPr>
            <a:r>
              <a:t>📖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188720"/>
            <a:ext cx="68580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" cy="43891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800"/>
                </a:solidFill>
                <a:latin typeface="Times New Roman"/>
              </a:defRPr>
            </a:pPr>
            <a:r>
              <a:t>📝  Phần mềm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Mở máy tính, giới thiệu: Word, Chrome, Paint, hệ điều hành Windows.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Hỏi: "Những thứ này khác phần cứng như thế nào?"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Kết luận: Phần mềm là các chương trình chạy trên máy tính — không thể chạm vào.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7120" y="1188720"/>
            <a:ext cx="4389120" cy="4389120"/>
          </a:xfrm>
          <a:prstGeom prst="roundRect">
            <a:avLst>
              <a:gd name="adj" fmla="val 4000"/>
            </a:avLst>
          </a:prstGeom>
          <a:solidFill>
            <a:srgbClr val="FF98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4480" y="2926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Times New Roman"/>
              </a:defRPr>
            </a:pPr>
            <a:r>
              <a:t>📖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76800" y="1188720"/>
            <a:ext cx="68580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25072" y="1188720"/>
            <a:ext cx="109728" cy="43891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42560" y="13716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800"/>
                </a:solidFill>
                <a:latin typeface="Times New Roman"/>
              </a:defRPr>
            </a:pPr>
            <a:r>
              <a:t>✏️  Phân loại phần cứng/phần mềm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42560" y="2011680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Chiếu danh sách 10 ví dụ, HS xếp vào bảng phân loại.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Chữa bài, giải thích các trường hợp khó.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4389120" cy="4389120"/>
          </a:xfrm>
          <a:prstGeom prst="roundRect">
            <a:avLst>
              <a:gd name="adj" fmla="val 4000"/>
            </a:avLst>
          </a:prstGeom>
          <a:solidFill>
            <a:srgbClr val="FF98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2926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Times New Roman"/>
              </a:defRPr>
            </a:pPr>
            <a:r>
              <a:t>✏️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188720"/>
            <a:ext cx="68580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" cy="43891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800"/>
                </a:solidFill>
                <a:latin typeface="Times New Roman"/>
              </a:defRPr>
            </a:pPr>
            <a:r>
              <a:t>🎯  Sơ đồ tư duy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Hướng dẫn HS vẽ sơ đồ Máy tính → Phần cứng / Phần mềm.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7120" y="1188720"/>
            <a:ext cx="4389120" cy="4389120"/>
          </a:xfrm>
          <a:prstGeom prst="roundRect">
            <a:avLst>
              <a:gd name="adj" fmla="val 4000"/>
            </a:avLst>
          </a:prstGeom>
          <a:solidFill>
            <a:srgbClr val="FF98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4480" y="2926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Times New Roman"/>
              </a:defRPr>
            </a:pPr>
            <a:r>
              <a:t>✏️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188720"/>
            <a:ext cx="68580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" cy="43891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800"/>
                </a:solidFill>
                <a:latin typeface="Times New Roman"/>
              </a:defRPr>
            </a:pPr>
            <a:r>
              <a:t>🚀  Vận dụng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4. HOẠT ĐỘNG VẬN DỤNG, TRẢI NGHIỆM (5 phút)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GV: "Về nhà, em hãy quan sát và liệt kê 5 phần cứng và 5 phần mềm."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Dặn dò: Chia sẻ danh sách với bố mẹ, giải thích sự khác nhau.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7120" y="1188720"/>
            <a:ext cx="4389120" cy="4389120"/>
          </a:xfrm>
          <a:prstGeom prst="roundRect">
            <a:avLst>
              <a:gd name="adj" fmla="val 4000"/>
            </a:avLst>
          </a:prstGeom>
          <a:solidFill>
            <a:srgbClr val="FF98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4480" y="2926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Times New Roman"/>
              </a:defRPr>
            </a:pPr>
            <a:r>
              <a:t>🚀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2440" y="1188720"/>
            <a:ext cx="1124712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2440" y="1188720"/>
            <a:ext cx="109728" cy="43891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964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9800"/>
                </a:solidFill>
                <a:latin typeface="Times New Roman"/>
              </a:defRPr>
            </a:pPr>
            <a:r>
              <a:t>📌  Ghi nhớ — PHẦN CỨNG VÀ PHẦN MỀM MÁY TÍNH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640" y="2011680"/>
            <a:ext cx="10058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Sau tiết học, học sinh sẽ: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Chăm chỉ: Tích cực tìm hiểu, ghi nhớ kiến thức về phần cứng và phần mềm.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Trách nhiệm: Sử dụng đúng cách, bảo quản thiết bị phần cứng.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FF9800"/>
                </a:solidFill>
                <a:latin typeface="Times New Roman"/>
              </a:rPr>
              <a:t>●  </a:t>
            </a:r>
            <a:r>
              <a:rPr sz="1800">
                <a:solidFill>
                  <a:srgbClr val="331A00"/>
                </a:solidFill>
                <a:latin typeface="Times New Roman"/>
              </a:rPr>
              <a:t>📚 Bài tập về nhà: Xem lại nội dung bài học và chuẩn bị bài tiếp theo.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98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38400" y="1828800"/>
            <a:ext cx="73152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95600" y="22860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9800"/>
                </a:solidFill>
                <a:latin typeface="Times New Roman"/>
              </a:rPr>
              <a:t>CẢM ƠN CÁC EM! 🎉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
                  <a:srgbClr val="331A00"/>
                </a:solidFill>
                <a:latin typeface="Times New Roman"/>
              </a:rPr>
              <a:t>Hẹn gặp lại ở tiết học sau!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95600" y="38404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999999"/>
                </a:solidFill>
                <a:latin typeface="Times New Roman"/>
              </a:rPr>
              <a:t>Trường TH &amp; THCS UNIGO  •  GV: Đậu Đình Nguyên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