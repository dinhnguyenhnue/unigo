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5"/>
    <p:sldId id="257" r:id="rId4"/>
    <p:sldId id="258" r:id="rId3"/>
    <p:sldId id="259" r:id="rId2"/>
    <p:sldId id="260" r:id="rId10"/>
    <p:sldId id="261" r:id="rId11"/>
    <p:sldId id="262" r:id="rId12"/>
    <p:sldId id="263" r:id="rId13"/>
    <p:sldId id="264" r:id="rId14"/>
    <p:sldId id="265" r:id="rId15"/>
    <p:sldId id="26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6" y="1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2D0BA-FBE9-6E44-691F-000C693EA27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CE97D33-3B98-BBDE-4334-263FB7EE47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0CF0E5-ADF7-8470-3B9F-91C48728E4FC}"/>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5" name="Footer Placeholder 4">
            <a:extLst>
              <a:ext uri="{FF2B5EF4-FFF2-40B4-BE49-F238E27FC236}">
                <a16:creationId xmlns:a16="http://schemas.microsoft.com/office/drawing/2014/main" id="{25E504DA-4D4F-4EDC-F344-F03CE86DB4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549F38-FA9E-B600-327E-9BDCCF102053}"/>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2170410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BFD97-87FB-631E-EEF8-6E51DCB457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24DE0B9-02FF-4F72-ED16-1FB31B569E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7B87DC-AA2C-EDEA-982F-36A5FDC6D238}"/>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5" name="Footer Placeholder 4">
            <a:extLst>
              <a:ext uri="{FF2B5EF4-FFF2-40B4-BE49-F238E27FC236}">
                <a16:creationId xmlns:a16="http://schemas.microsoft.com/office/drawing/2014/main" id="{B06E27A9-4B0A-C4FB-C65C-DD407FABC5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47FF0C-E183-66BE-709C-448A4AC57799}"/>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9466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744FD-7E48-FCDF-CF0B-2B23DE13270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94DECC-CB72-B397-C02A-C5108354BF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31C495-26F5-512C-E243-F8AA335A8E73}"/>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5" name="Footer Placeholder 4">
            <a:extLst>
              <a:ext uri="{FF2B5EF4-FFF2-40B4-BE49-F238E27FC236}">
                <a16:creationId xmlns:a16="http://schemas.microsoft.com/office/drawing/2014/main" id="{0D8E351D-6FC7-D545-DF8A-EB162F5B4D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B95763-201D-C4E1-EB65-4B88B137B0FC}"/>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3997014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5217B-8EC9-4EA4-9045-0C817687E48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88FE9A-0D5F-7AE0-E7C8-A53EE8AF7E3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4AE5D0-63E8-DCD8-D6B8-306243F3FCD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859FF46-C6D8-B70D-34CC-F0BBD2514635}"/>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6" name="Footer Placeholder 5">
            <a:extLst>
              <a:ext uri="{FF2B5EF4-FFF2-40B4-BE49-F238E27FC236}">
                <a16:creationId xmlns:a16="http://schemas.microsoft.com/office/drawing/2014/main" id="{AA5A21F2-0257-6653-C1B4-BE4271B70E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888B2D-A696-926B-CB00-30CB39A210CB}"/>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99590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D1804-FC72-EA87-B283-0ED24BD9CD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BD6F214-B860-807F-5D59-775C2C3CD3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872204-513C-7EE5-A63F-ACD7E6F1F0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8089B82-4A6B-0A50-33A8-F57C641AA4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57602B8-966B-D55B-DF46-EF8FE962A8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935D0A2-DDAB-2DEB-1654-64E2CF1352DA}"/>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8" name="Footer Placeholder 7">
            <a:extLst>
              <a:ext uri="{FF2B5EF4-FFF2-40B4-BE49-F238E27FC236}">
                <a16:creationId xmlns:a16="http://schemas.microsoft.com/office/drawing/2014/main" id="{5F526C51-F9C1-C9F7-E325-9857444134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CD2BB8-A738-B00D-CD4F-1E516729DC80}"/>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1429551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058C7-EC99-CA69-69A1-B71A2EE1FB0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82FDDE-258E-65C9-5E9B-059B5310B204}"/>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4" name="Footer Placeholder 3">
            <a:extLst>
              <a:ext uri="{FF2B5EF4-FFF2-40B4-BE49-F238E27FC236}">
                <a16:creationId xmlns:a16="http://schemas.microsoft.com/office/drawing/2014/main" id="{6688222D-5913-69EE-C0A1-2115B6A3BEF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364462-4379-23E8-5042-4188F2424E4F}"/>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2888095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2B39AE-76E9-53E8-5AC2-AD6E83AE5A33}"/>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3" name="Footer Placeholder 2">
            <a:extLst>
              <a:ext uri="{FF2B5EF4-FFF2-40B4-BE49-F238E27FC236}">
                <a16:creationId xmlns:a16="http://schemas.microsoft.com/office/drawing/2014/main" id="{38A39721-3A37-FE8B-936D-3225F2B6F92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6383E3-5325-C6DD-4FD0-655FEA72A2D9}"/>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30087331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9B1C8-88D4-EB75-0A5A-DBF764E9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DFB7FCE-F57B-B919-56DD-5EDF6227BA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1BC4E80-42F9-68B4-89A4-09F4B2E31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2E4884-0004-05C1-9162-12837C41B9AC}"/>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6" name="Footer Placeholder 5">
            <a:extLst>
              <a:ext uri="{FF2B5EF4-FFF2-40B4-BE49-F238E27FC236}">
                <a16:creationId xmlns:a16="http://schemas.microsoft.com/office/drawing/2014/main" id="{A110837C-4E57-5E0F-EC87-6499BA034A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A4D633-7171-8A0D-E4C6-6D53E0859A7E}"/>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2621106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0E132-6996-68E8-4F29-37C27BB8EB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434507-83A3-0D3E-B631-5AA2974E0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F62259C-71C9-5E4F-343E-C0E87D750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081087-DD77-D63D-A0AB-E7DF40F55162}"/>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6" name="Footer Placeholder 5">
            <a:extLst>
              <a:ext uri="{FF2B5EF4-FFF2-40B4-BE49-F238E27FC236}">
                <a16:creationId xmlns:a16="http://schemas.microsoft.com/office/drawing/2014/main" id="{2755EC71-8A66-0F0A-B040-0930D31AAA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332627-5E94-EEB1-7186-47F0D5C6F5B7}"/>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2129556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121772-A9B5-C630-07CA-DECD42CD77D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2DBB18D-FEE1-0190-5A10-2B09E039770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CD711D-A70F-EF10-8E36-12C26924E883}"/>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5" name="Footer Placeholder 4">
            <a:extLst>
              <a:ext uri="{FF2B5EF4-FFF2-40B4-BE49-F238E27FC236}">
                <a16:creationId xmlns:a16="http://schemas.microsoft.com/office/drawing/2014/main" id="{00F3B26D-7C72-7CF5-91E5-6B9F530321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AE76EA-4D7B-99B2-4676-A289DD637D51}"/>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20896339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B24F8F-8C52-E27E-05DE-AD92E136AB9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9CCC27E-F320-1CAF-FC80-1F7384CA5E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A3655-F6DA-384A-BCB5-A32BD9B555DA}"/>
              </a:ext>
            </a:extLst>
          </p:cNvPr>
          <p:cNvSpPr>
            <a:spLocks noGrp="1"/>
          </p:cNvSpPr>
          <p:nvPr>
            <p:ph type="dt" sz="half" idx="10"/>
          </p:nvPr>
        </p:nvSpPr>
        <p:spPr/>
        <p:txBody>
          <a:bodyPr/>
          <a:lstStyle/>
          <a:p>
            <a:fld id="{4EA7EFA5-8E37-463D-AE92-97FC5095B482}" type="datetimeFigureOut">
              <a:rPr lang="en-US" smtClean="0"/>
              <a:t>8/4/2026</a:t>
            </a:fld>
            <a:endParaRPr lang="en-US"/>
          </a:p>
        </p:txBody>
      </p:sp>
      <p:sp>
        <p:nvSpPr>
          <p:cNvPr id="5" name="Footer Placeholder 4">
            <a:extLst>
              <a:ext uri="{FF2B5EF4-FFF2-40B4-BE49-F238E27FC236}">
                <a16:creationId xmlns:a16="http://schemas.microsoft.com/office/drawing/2014/main" id="{91496872-344F-98B4-6458-BAACD263E5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A6A315-6909-97E2-34A8-B9CB86B9CF10}"/>
              </a:ext>
            </a:extLst>
          </p:cNvPr>
          <p:cNvSpPr>
            <a:spLocks noGrp="1"/>
          </p:cNvSpPr>
          <p:nvPr>
            <p:ph type="sldNum" sz="quarter" idx="12"/>
          </p:nvPr>
        </p:nvSpPr>
        <p:spPr/>
        <p:txBody>
          <a:bodyPr/>
          <a:lstStyle/>
          <a:p>
            <a:fld id="{18CEFBC2-8C04-4402-ABC4-7D77DEA1AF45}" type="slidenum">
              <a:rPr lang="en-US" smtClean="0"/>
              <a:t>‹#›</a:t>
            </a:fld>
            <a:endParaRPr lang="en-US"/>
          </a:p>
        </p:txBody>
      </p:sp>
    </p:spTree>
    <p:extLst>
      <p:ext uri="{BB962C8B-B14F-4D97-AF65-F5344CB8AC3E}">
        <p14:creationId xmlns:p14="http://schemas.microsoft.com/office/powerpoint/2010/main" val="254549293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8B8C0F-9B11-4065-AE8C-7637290FB1FD}"/>
              </a:ext>
            </a:extLst>
          </p:cNvPr>
          <p:cNvSpPr>
            <a:spLocks noGrp="1"/>
          </p:cNvSpPr>
          <p:nvPr>
            <p:ph type="title"/>
          </p:nvPr>
        </p:nvSpPr>
        <p:spPr>
          <a:xfrm>
            <a:off x="1155032" y="829142"/>
            <a:ext cx="10198768" cy="86154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C5FE732-1FF5-3147-A7B1-F7E2E0778B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D77A1F-9F08-BD8F-DAF3-65DDCDFC4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A7EFA5-8E37-463D-AE92-97FC5095B482}" type="datetimeFigureOut">
              <a:rPr lang="en-US" smtClean="0"/>
              <a:t>8/4/2026</a:t>
            </a:fld>
            <a:endParaRPr lang="en-US"/>
          </a:p>
        </p:txBody>
      </p:sp>
      <p:sp>
        <p:nvSpPr>
          <p:cNvPr id="5" name="Footer Placeholder 4">
            <a:extLst>
              <a:ext uri="{FF2B5EF4-FFF2-40B4-BE49-F238E27FC236}">
                <a16:creationId xmlns:a16="http://schemas.microsoft.com/office/drawing/2014/main" id="{56665A47-83AD-EE80-1199-0CCBE3548BC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4F62C6C-6174-7774-F45D-8725FE4A30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8CEFBC2-8C04-4402-ABC4-7D77DEA1AF45}" type="slidenum">
              <a:rPr lang="en-US" smtClean="0"/>
              <a:t>‹#›</a:t>
            </a:fld>
            <a:endParaRPr lang="en-US"/>
          </a:p>
        </p:txBody>
      </p:sp>
      <p:pic>
        <p:nvPicPr>
          <p:cNvPr id="8" name="Picture 7">
            <a:extLst>
              <a:ext uri="{FF2B5EF4-FFF2-40B4-BE49-F238E27FC236}">
                <a16:creationId xmlns:a16="http://schemas.microsoft.com/office/drawing/2014/main" id="{1D2C332A-3D9A-458F-2703-2BC4602A665E}"/>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54940" y="136525"/>
            <a:ext cx="867744" cy="861546"/>
          </a:xfrm>
          <a:prstGeom prst="rect">
            <a:avLst/>
          </a:prstGeom>
        </p:spPr>
      </p:pic>
      <p:pic>
        <p:nvPicPr>
          <p:cNvPr id="10" name="Picture 9">
            <a:extLst>
              <a:ext uri="{FF2B5EF4-FFF2-40B4-BE49-F238E27FC236}">
                <a16:creationId xmlns:a16="http://schemas.microsoft.com/office/drawing/2014/main" id="{10712185-E163-EB6D-9E42-C99AF00858F6}"/>
              </a:ext>
            </a:extLst>
          </p:cNvPr>
          <p:cNvPicPr>
            <a:picLocks noChangeAspect="1"/>
          </p:cNvPicPr>
          <p:nvPr userDrawn="1"/>
        </p:nvPicPr>
        <p:blipFill>
          <a:blip r:embed="rId14">
            <a:extLst>
              <a:ext uri="{28A0092B-C50C-407E-A947-70E740481C1C}">
                <a14:useLocalDpi xmlns:a14="http://schemas.microsoft.com/office/drawing/2010/main" val="0"/>
              </a:ext>
            </a:extLst>
          </a:blip>
          <a:srcRect l="6381" t="23826" r="6770" b="30087"/>
          <a:stretch>
            <a:fillRect/>
          </a:stretch>
        </p:blipFill>
        <p:spPr>
          <a:xfrm>
            <a:off x="0" y="5883441"/>
            <a:ext cx="12252960" cy="1126981"/>
          </a:xfrm>
          <a:prstGeom prst="rect">
            <a:avLst/>
          </a:prstGeom>
        </p:spPr>
      </p:pic>
    </p:spTree>
    <p:extLst>
      <p:ext uri="{BB962C8B-B14F-4D97-AF65-F5344CB8AC3E}">
        <p14:creationId xmlns:p14="http://schemas.microsoft.com/office/powerpoint/2010/main" val="3680347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143000"/>
            <a:ext cx="11365992" cy="45720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1463040"/>
            <a:ext cx="3108960" cy="365759"/>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63040"/>
            <a:ext cx="3108960" cy="365759"/>
          </a:xfrm>
          <a:prstGeom prst="rect">
            <a:avLst/>
          </a:prstGeom>
          <a:noFill/>
        </p:spPr>
        <p:txBody>
          <a:bodyPr wrap="square" tIns="36576" bIns="36576" lIns="54864" rIns="54864">
            <a:spAutoFit/>
          </a:bodyPr>
          <a:lstStyle/>
          <a:p>
            <a:pPr algn="ctr"/>
            <a:r>
              <a:rPr sz="1200" b="1">
                <a:solidFill>
                  <a:srgbClr val="FFFFFF"/>
                </a:solidFill>
                <a:latin typeface="Arial"/>
              </a:rPr>
              <a:t>TIN HỌC LỚP 4 • TUẦN 8 • TIẾT 7</a:t>
            </a:r>
          </a:p>
        </p:txBody>
      </p:sp>
      <p:sp>
        <p:nvSpPr>
          <p:cNvPr id="5" name="TextBox 4"/>
          <p:cNvSpPr txBox="1"/>
          <p:nvPr/>
        </p:nvSpPr>
        <p:spPr>
          <a:xfrm>
            <a:off x="777240" y="2057400"/>
            <a:ext cx="5486400" cy="1463040"/>
          </a:xfrm>
          <a:prstGeom prst="rect">
            <a:avLst/>
          </a:prstGeom>
          <a:noFill/>
        </p:spPr>
        <p:txBody>
          <a:bodyPr wrap="square" tIns="36576" bIns="36576" lIns="54864" rIns="54864">
            <a:spAutoFit/>
          </a:bodyPr>
          <a:lstStyle/>
          <a:p>
            <a:pPr algn="l"/>
            <a:r>
              <a:rPr sz="2800" b="1">
                <a:solidFill>
                  <a:srgbClr val="1E3A8A"/>
                </a:solidFill>
                <a:latin typeface="Arial"/>
              </a:rPr>
              <a:t>TÌM KIẾM THÔNG TIN
TRÊN INTERNET</a:t>
            </a:r>
          </a:p>
        </p:txBody>
      </p:sp>
      <p:sp>
        <p:nvSpPr>
          <p:cNvPr id="6" name="TextBox 5"/>
          <p:cNvSpPr txBox="1"/>
          <p:nvPr/>
        </p:nvSpPr>
        <p:spPr>
          <a:xfrm>
            <a:off x="777240" y="3566160"/>
            <a:ext cx="5486400" cy="548640"/>
          </a:xfrm>
          <a:prstGeom prst="rect">
            <a:avLst/>
          </a:prstGeom>
          <a:noFill/>
        </p:spPr>
        <p:txBody>
          <a:bodyPr wrap="square" tIns="36576" bIns="36576" lIns="54864" rIns="54864">
            <a:spAutoFit/>
          </a:bodyPr>
          <a:lstStyle/>
          <a:p>
            <a:pPr algn="l"/>
            <a:r>
              <a:rPr sz="1500" b="0">
                <a:solidFill>
                  <a:srgbClr val="475569"/>
                </a:solidFill>
                <a:latin typeface="Arial"/>
              </a:rPr>
              <a:t>Bài 4 (Tiết 1) • Chủ đề 3: Tìm kiếm và trao đổi thông tin
Bộ sách: Kết nối tri thức với cuộc sống</a:t>
            </a:r>
          </a:p>
        </p:txBody>
      </p:sp>
      <p:sp>
        <p:nvSpPr>
          <p:cNvPr id="7" name="TextBox 6"/>
          <p:cNvSpPr txBox="1"/>
          <p:nvPr/>
        </p:nvSpPr>
        <p:spPr>
          <a:xfrm>
            <a:off x="777240" y="4206240"/>
            <a:ext cx="5303520" cy="1097280"/>
          </a:xfrm>
          <a:prstGeom prst="rect">
            <a:avLst/>
          </a:prstGeom>
          <a:noFill/>
        </p:spPr>
        <p:txBody>
          <a:bodyPr wrap="square" tIns="36576" bIns="36576" lIns="54864" rIns="54864">
            <a:spAutoFit/>
          </a:bodyPr>
          <a:lstStyle/>
          <a:p>
            <a:pPr algn="l"/>
            <a:r>
              <a:rPr sz="1400" b="0">
                <a:solidFill>
                  <a:srgbClr val="0F172A"/>
                </a:solidFill>
                <a:latin typeface="Arial"/>
              </a:rPr>
              <a:t>🔑 Hiểu khái niệm Từ khóa (Keyword) &amp; Máy tìm kiếm
🚀 Nắm chắc Quy trình 4 bước tìm kiếm bằng Google
🛡️ Thực hành an toàn và tìm thông tin hiệu quả</a:t>
            </a:r>
          </a:p>
        </p:txBody>
      </p:sp>
      <p:sp>
        <p:nvSpPr>
          <p:cNvPr id="8" name="Rounded Rectangle 7"/>
          <p:cNvSpPr/>
          <p:nvPr/>
        </p:nvSpPr>
        <p:spPr>
          <a:xfrm>
            <a:off x="6492240" y="1417320"/>
            <a:ext cx="4983480" cy="402336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_hero.jpg"/>
          <p:cNvPicPr>
            <a:picLocks noChangeAspect="1"/>
          </p:cNvPicPr>
          <p:nvPr/>
        </p:nvPicPr>
        <p:blipFill>
          <a:blip r:embed="rId2"/>
          <a:stretch>
            <a:fillRect/>
          </a:stretch>
        </p:blipFill>
        <p:spPr>
          <a:xfrm>
            <a:off x="6565392" y="1490472"/>
            <a:ext cx="4837176" cy="3877056"/>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1856232"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1856232" cy="329184"/>
          </a:xfrm>
          <a:prstGeom prst="rect">
            <a:avLst/>
          </a:prstGeom>
          <a:noFill/>
        </p:spPr>
        <p:txBody>
          <a:bodyPr wrap="square" tIns="36576" bIns="36576" lIns="54864" rIns="54864">
            <a:spAutoFit/>
          </a:bodyPr>
          <a:lstStyle/>
          <a:p>
            <a:pPr algn="ctr"/>
            <a:r>
              <a:rPr sz="1200" b="1">
                <a:solidFill>
                  <a:srgbClr val="FFFFFF"/>
                </a:solidFill>
                <a:latin typeface="Arial"/>
              </a:rPr>
              <a:t>KHỞI ĐỘNG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Tình huống: Giúp bạn Khoa và Minh tìm tài liệu Vua Hùng</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Cùng quan sát đoạn hội thoại mở đầu trong SGK Tin học 4 (trang 20)</a:t>
            </a:r>
          </a:p>
        </p:txBody>
      </p:sp>
      <p:sp>
        <p:nvSpPr>
          <p:cNvPr id="6" name="Rounded Rectangle 5"/>
          <p:cNvSpPr/>
          <p:nvPr/>
        </p:nvSpPr>
        <p:spPr>
          <a:xfrm>
            <a:off x="411480" y="2194560"/>
            <a:ext cx="5303520"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331720"/>
            <a:ext cx="4937760" cy="365759"/>
          </a:xfrm>
          <a:prstGeom prst="rect">
            <a:avLst/>
          </a:prstGeom>
          <a:noFill/>
        </p:spPr>
        <p:txBody>
          <a:bodyPr wrap="square" tIns="36576" bIns="36576" lIns="54864" rIns="54864">
            <a:spAutoFit/>
          </a:bodyPr>
          <a:lstStyle/>
          <a:p>
            <a:pPr algn="l"/>
            <a:r>
              <a:rPr sz="1600" b="1">
                <a:solidFill>
                  <a:srgbClr val="1E3A8A"/>
                </a:solidFill>
                <a:latin typeface="Arial"/>
              </a:rPr>
              <a:t>💬 ĐỌC TÌNH HUỐNG DẪN DẮT:</a:t>
            </a:r>
          </a:p>
        </p:txBody>
      </p:sp>
      <p:sp>
        <p:nvSpPr>
          <p:cNvPr id="8" name="TextBox 7"/>
          <p:cNvSpPr txBox="1"/>
          <p:nvPr/>
        </p:nvSpPr>
        <p:spPr>
          <a:xfrm>
            <a:off x="594360" y="2697480"/>
            <a:ext cx="4937760" cy="1645919"/>
          </a:xfrm>
          <a:prstGeom prst="rect">
            <a:avLst/>
          </a:prstGeom>
          <a:noFill/>
        </p:spPr>
        <p:txBody>
          <a:bodyPr wrap="square" tIns="36576" bIns="36576" lIns="54864" rIns="54864">
            <a:spAutoFit/>
          </a:bodyPr>
          <a:lstStyle/>
          <a:p>
            <a:pPr algn="l"/>
            <a:r>
              <a:rPr sz="1500" b="0">
                <a:solidFill>
                  <a:srgbClr val="0F172A"/>
                </a:solidFill>
                <a:latin typeface="Arial"/>
              </a:rPr>
              <a:t>• Bạn Khoa và Minh đang cần tìm thông tin về các đời Vua Hùng để hoàn thành bài tập nhóm môn Lịch sử &amp; Địa lí.
• Khoa gợi ý: Cần xác định chủ đề trước, rồi chọn từ khóa phù hợp để tìm kiếm trên Internet.</a:t>
            </a:r>
          </a:p>
        </p:txBody>
      </p:sp>
      <p:sp>
        <p:nvSpPr>
          <p:cNvPr id="9" name="Rounded Rectangle 8"/>
          <p:cNvSpPr/>
          <p:nvPr/>
        </p:nvSpPr>
        <p:spPr>
          <a:xfrm>
            <a:off x="594360" y="4434840"/>
            <a:ext cx="4937760" cy="114300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26280"/>
            <a:ext cx="4663440" cy="960119"/>
          </a:xfrm>
          <a:prstGeom prst="rect">
            <a:avLst/>
          </a:prstGeom>
          <a:noFill/>
        </p:spPr>
        <p:txBody>
          <a:bodyPr wrap="square" tIns="36576" bIns="36576" lIns="54864" rIns="54864">
            <a:spAutoFit/>
          </a:bodyPr>
          <a:lstStyle/>
          <a:p>
            <a:pPr algn="l"/>
            <a:r>
              <a:rPr sz="1400" b="1">
                <a:solidFill>
                  <a:srgbClr val="EA580C"/>
                </a:solidFill>
                <a:latin typeface="Arial"/>
              </a:rPr>
              <a:t>❓ CÂU HỎI THẢO LUẬN:
Theo em, hai bạn đang cần tìm thông tin theo chủ đề gì?
Em hãy gợi ý từ khóa ngắn gọn để hai bạn tìm kiếm nhanh nhất?</a:t>
            </a:r>
          </a:p>
        </p:txBody>
      </p:sp>
      <p:sp>
        <p:nvSpPr>
          <p:cNvPr id="11" name="Rounded Rectangle 10"/>
          <p:cNvSpPr/>
          <p:nvPr/>
        </p:nvSpPr>
        <p:spPr>
          <a:xfrm>
            <a:off x="5897880" y="2194560"/>
            <a:ext cx="587959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gk_p20_khoa_minh_hoi_thoai.png"/>
          <p:cNvPicPr>
            <a:picLocks noChangeAspect="1"/>
          </p:cNvPicPr>
          <p:nvPr/>
        </p:nvPicPr>
        <p:blipFill>
          <a:blip r:embed="rId2"/>
          <a:stretch>
            <a:fillRect/>
          </a:stretch>
        </p:blipFill>
        <p:spPr>
          <a:xfrm>
            <a:off x="5989320" y="2286000"/>
            <a:ext cx="5696712" cy="3337560"/>
          </a:xfrm>
          <a:prstGeom prst="rect">
            <a:avLst/>
          </a:prstGeom>
        </p:spPr>
      </p:pic>
    </p:spTree>
  </p:cSld>
  <p:clrMapOvr>
    <a:masterClrMapping/>
  </p:clrMapOvr>
  <p:transition spd="med">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2926080"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2926080" cy="329184"/>
          </a:xfrm>
          <a:prstGeom prst="rect">
            <a:avLst/>
          </a:prstGeom>
          <a:noFill/>
        </p:spPr>
        <p:txBody>
          <a:bodyPr wrap="square" tIns="36576" bIns="36576" lIns="54864" rIns="54864">
            <a:spAutoFit/>
          </a:bodyPr>
          <a:lstStyle/>
          <a:p>
            <a:pPr algn="ctr"/>
            <a:r>
              <a:rPr sz="1200" b="1">
                <a:solidFill>
                  <a:srgbClr val="FFFFFF"/>
                </a:solidFill>
                <a:latin typeface="Arial"/>
              </a:rPr>
              <a:t>KHÁM PHÁ KIẾN THỨC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1. Từ khóa (Keyword) là gì?</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Khái niệm cốt lõi giúp học sinh tìm kiếm chính xác điều mình mong muốn</a:t>
            </a:r>
          </a:p>
        </p:txBody>
      </p:sp>
      <p:sp>
        <p:nvSpPr>
          <p:cNvPr id="6" name="Rounded Rectangle 5"/>
          <p:cNvSpPr/>
          <p:nvPr/>
        </p:nvSpPr>
        <p:spPr>
          <a:xfrm>
            <a:off x="411480" y="2194560"/>
            <a:ext cx="6035040" cy="1554479"/>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2194560"/>
            <a:ext cx="182880" cy="1554479"/>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31720"/>
            <a:ext cx="5486400" cy="320040"/>
          </a:xfrm>
          <a:prstGeom prst="rect">
            <a:avLst/>
          </a:prstGeom>
          <a:noFill/>
        </p:spPr>
        <p:txBody>
          <a:bodyPr wrap="square" tIns="36576" bIns="36576" lIns="54864" rIns="54864">
            <a:spAutoFit/>
          </a:bodyPr>
          <a:lstStyle/>
          <a:p>
            <a:pPr algn="l"/>
            <a:r>
              <a:rPr sz="1700" b="1">
                <a:solidFill>
                  <a:srgbClr val="1E3A8A"/>
                </a:solidFill>
                <a:latin typeface="Arial"/>
              </a:rPr>
              <a:t>📌 Khái niệm Từ khóa (Keyword):</a:t>
            </a:r>
          </a:p>
        </p:txBody>
      </p:sp>
      <p:sp>
        <p:nvSpPr>
          <p:cNvPr id="9" name="TextBox 8"/>
          <p:cNvSpPr txBox="1"/>
          <p:nvPr/>
        </p:nvSpPr>
        <p:spPr>
          <a:xfrm>
            <a:off x="777240" y="2697480"/>
            <a:ext cx="5486400" cy="914400"/>
          </a:xfrm>
          <a:prstGeom prst="rect">
            <a:avLst/>
          </a:prstGeom>
          <a:noFill/>
        </p:spPr>
        <p:txBody>
          <a:bodyPr wrap="square" tIns="36576" bIns="36576" lIns="54864" rIns="54864">
            <a:spAutoFit/>
          </a:bodyPr>
          <a:lstStyle/>
          <a:p>
            <a:pPr algn="l"/>
            <a:r>
              <a:rPr sz="1600" b="0">
                <a:solidFill>
                  <a:srgbClr val="0F172A"/>
                </a:solidFill>
                <a:latin typeface="Arial"/>
              </a:rPr>
              <a:t>Từ khóa là từ hoặc cụm từ ngắn gọn thể hiện nội dung thông tin chúng ta muốn tìm kiếm trên môi trường số.</a:t>
            </a:r>
          </a:p>
        </p:txBody>
      </p:sp>
      <p:sp>
        <p:nvSpPr>
          <p:cNvPr id="10" name="Rounded Rectangle 9"/>
          <p:cNvSpPr/>
          <p:nvPr/>
        </p:nvSpPr>
        <p:spPr>
          <a:xfrm>
            <a:off x="411480" y="3931920"/>
            <a:ext cx="6035040" cy="17830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1480" y="3931920"/>
            <a:ext cx="182880" cy="178308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69080"/>
            <a:ext cx="5486400" cy="320039"/>
          </a:xfrm>
          <a:prstGeom prst="rect">
            <a:avLst/>
          </a:prstGeom>
          <a:noFill/>
        </p:spPr>
        <p:txBody>
          <a:bodyPr wrap="square" tIns="36576" bIns="36576" lIns="54864" rIns="54864">
            <a:spAutoFit/>
          </a:bodyPr>
          <a:lstStyle/>
          <a:p>
            <a:pPr algn="l"/>
            <a:r>
              <a:rPr sz="1700" b="1">
                <a:solidFill>
                  <a:srgbClr val="EA580C"/>
                </a:solidFill>
                <a:latin typeface="Arial"/>
              </a:rPr>
              <a:t>💡 Ví dụ lựa chọn từ khóa:</a:t>
            </a:r>
          </a:p>
        </p:txBody>
      </p:sp>
      <p:sp>
        <p:nvSpPr>
          <p:cNvPr id="13" name="TextBox 12"/>
          <p:cNvSpPr txBox="1"/>
          <p:nvPr/>
        </p:nvSpPr>
        <p:spPr>
          <a:xfrm>
            <a:off x="777240" y="4434840"/>
            <a:ext cx="5486400" cy="1188719"/>
          </a:xfrm>
          <a:prstGeom prst="rect">
            <a:avLst/>
          </a:prstGeom>
          <a:noFill/>
        </p:spPr>
        <p:txBody>
          <a:bodyPr wrap="square" tIns="36576" bIns="36576" lIns="54864" rIns="54864">
            <a:spAutoFit/>
          </a:bodyPr>
          <a:lstStyle/>
          <a:p>
            <a:pPr algn="l"/>
            <a:r>
              <a:rPr sz="1500" b="0">
                <a:solidFill>
                  <a:srgbClr val="0F172A"/>
                </a:solidFill>
                <a:latin typeface="Arial"/>
              </a:rPr>
              <a:t>• Chủ đề: Tìm hiểu về các vị vua thời Hùng Vương
• Từ khóa gợi ý: "Các đời vua Hùng" hoặc "Vua Hùng"
👉 Chú ý: Từ khóa càng rõ ràng, kết quả tìm kiếm càng chính xác!</a:t>
            </a:r>
          </a:p>
        </p:txBody>
      </p:sp>
      <p:sp>
        <p:nvSpPr>
          <p:cNvPr id="14" name="Rounded Rectangle 13"/>
          <p:cNvSpPr/>
          <p:nvPr/>
        </p:nvSpPr>
        <p:spPr>
          <a:xfrm>
            <a:off x="6675120" y="2194560"/>
            <a:ext cx="510235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keyword_treasure_key.jpg"/>
          <p:cNvPicPr>
            <a:picLocks noChangeAspect="1"/>
          </p:cNvPicPr>
          <p:nvPr/>
        </p:nvPicPr>
        <p:blipFill>
          <a:blip r:embed="rId2"/>
          <a:stretch>
            <a:fillRect/>
          </a:stretch>
        </p:blipFill>
        <p:spPr>
          <a:xfrm>
            <a:off x="6766560" y="2286000"/>
            <a:ext cx="4919472" cy="333756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2688336"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2688336" cy="329184"/>
          </a:xfrm>
          <a:prstGeom prst="rect">
            <a:avLst/>
          </a:prstGeom>
          <a:noFill/>
        </p:spPr>
        <p:txBody>
          <a:bodyPr wrap="square" tIns="36576" bIns="36576" lIns="54864" rIns="54864">
            <a:spAutoFit/>
          </a:bodyPr>
          <a:lstStyle/>
          <a:p>
            <a:pPr algn="ctr"/>
            <a:r>
              <a:rPr sz="1200" b="1">
                <a:solidFill>
                  <a:srgbClr val="FFFFFF"/>
                </a:solidFill>
                <a:latin typeface="Arial"/>
              </a:rPr>
              <a:t>CÔNG CỤ TÌM KIẾM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2. Máy tìm kiếm (Search Engine) là gì?</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Những trang web chuyên dụng giúp em khám phá kho tàng tri thức trên Internet</a:t>
            </a:r>
          </a:p>
        </p:txBody>
      </p:sp>
      <p:sp>
        <p:nvSpPr>
          <p:cNvPr id="6" name="Rounded Rectangle 5"/>
          <p:cNvSpPr/>
          <p:nvPr/>
        </p:nvSpPr>
        <p:spPr>
          <a:xfrm>
            <a:off x="411480" y="2194560"/>
            <a:ext cx="5303520" cy="1188720"/>
          </a:xfrm>
          <a:prstGeom prst="roundRect">
            <a:avLst/>
          </a:prstGeom>
          <a:solidFill>
            <a:srgbClr val="DBEAFE"/>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267712"/>
            <a:ext cx="4937760" cy="1051560"/>
          </a:xfrm>
          <a:prstGeom prst="rect">
            <a:avLst/>
          </a:prstGeom>
          <a:noFill/>
        </p:spPr>
        <p:txBody>
          <a:bodyPr wrap="square" tIns="36576" bIns="36576" lIns="54864" rIns="54864">
            <a:spAutoFit/>
          </a:bodyPr>
          <a:lstStyle/>
          <a:p>
            <a:pPr algn="l"/>
            <a:r>
              <a:rPr sz="1500" b="1">
                <a:solidFill>
                  <a:srgbClr val="1E3A8A"/>
                </a:solidFill>
                <a:latin typeface="Arial"/>
              </a:rPr>
              <a:t>🌟 ĐỊNH NGHĨA MÁY TÌM KIẾM:
Máy tìm kiếm là trang web đặc biệt giúp người sử dụng tìm kiếm thông tin trên Internet nhanh chóng bằng từ khóa.</a:t>
            </a:r>
          </a:p>
        </p:txBody>
      </p:sp>
      <p:sp>
        <p:nvSpPr>
          <p:cNvPr id="8" name="Rounded Rectangle 7"/>
          <p:cNvSpPr/>
          <p:nvPr/>
        </p:nvSpPr>
        <p:spPr>
          <a:xfrm>
            <a:off x="411480" y="3520440"/>
            <a:ext cx="5303520" cy="2194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gk_p21_google_search_ui.png"/>
          <p:cNvPicPr>
            <a:picLocks noChangeAspect="1"/>
          </p:cNvPicPr>
          <p:nvPr/>
        </p:nvPicPr>
        <p:blipFill>
          <a:blip r:embed="rId2"/>
          <a:stretch>
            <a:fillRect/>
          </a:stretch>
        </p:blipFill>
        <p:spPr>
          <a:xfrm>
            <a:off x="502920" y="3611880"/>
            <a:ext cx="5120640" cy="2011680"/>
          </a:xfrm>
          <a:prstGeom prst="rect">
            <a:avLst/>
          </a:prstGeom>
        </p:spPr>
      </p:pic>
      <p:sp>
        <p:nvSpPr>
          <p:cNvPr id="10" name="Rounded Rectangle 9"/>
          <p:cNvSpPr/>
          <p:nvPr/>
        </p:nvSpPr>
        <p:spPr>
          <a:xfrm>
            <a:off x="5989320" y="2194560"/>
            <a:ext cx="5788152" cy="1051560"/>
          </a:xfrm>
          <a:prstGeom prst="roundRect">
            <a:avLst/>
          </a:prstGeom>
          <a:solidFill>
            <a:srgbClr val="FFFFFF"/>
          </a:solidFill>
          <a:ln w="254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2194560"/>
            <a:ext cx="182880" cy="1051560"/>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2331720"/>
            <a:ext cx="5303520" cy="320040"/>
          </a:xfrm>
          <a:prstGeom prst="rect">
            <a:avLst/>
          </a:prstGeom>
          <a:noFill/>
        </p:spPr>
        <p:txBody>
          <a:bodyPr wrap="square" tIns="36576" bIns="36576" lIns="54864" rIns="54864">
            <a:spAutoFit/>
          </a:bodyPr>
          <a:lstStyle/>
          <a:p>
            <a:pPr algn="l"/>
            <a:r>
              <a:rPr sz="1700" b="1">
                <a:solidFill>
                  <a:srgbClr val="1E3A8A"/>
                </a:solidFill>
                <a:latin typeface="Arial"/>
              </a:rPr>
              <a:t>1. Google (google.com)</a:t>
            </a:r>
          </a:p>
        </p:txBody>
      </p:sp>
      <p:sp>
        <p:nvSpPr>
          <p:cNvPr id="13" name="TextBox 12"/>
          <p:cNvSpPr txBox="1"/>
          <p:nvPr/>
        </p:nvSpPr>
        <p:spPr>
          <a:xfrm>
            <a:off x="6355080" y="2697480"/>
            <a:ext cx="5303520" cy="457200"/>
          </a:xfrm>
          <a:prstGeom prst="rect">
            <a:avLst/>
          </a:prstGeom>
          <a:noFill/>
        </p:spPr>
        <p:txBody>
          <a:bodyPr wrap="square" tIns="36576" bIns="36576" lIns="54864" rIns="54864">
            <a:spAutoFit/>
          </a:bodyPr>
          <a:lstStyle/>
          <a:p>
            <a:pPr algn="l"/>
            <a:r>
              <a:rPr sz="1400" b="0">
                <a:solidFill>
                  <a:srgbClr val="0F172A"/>
                </a:solidFill>
                <a:latin typeface="Arial"/>
              </a:rPr>
              <a:t>Phổ biến &amp; thông dụng nhất toàn cầu 🌍</a:t>
            </a:r>
          </a:p>
        </p:txBody>
      </p:sp>
      <p:sp>
        <p:nvSpPr>
          <p:cNvPr id="14" name="Rounded Rectangle 13"/>
          <p:cNvSpPr/>
          <p:nvPr/>
        </p:nvSpPr>
        <p:spPr>
          <a:xfrm>
            <a:off x="5989320" y="3410711"/>
            <a:ext cx="5788152" cy="1051559"/>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3410711"/>
            <a:ext cx="182880" cy="1051559"/>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3547871"/>
            <a:ext cx="5303520" cy="320040"/>
          </a:xfrm>
          <a:prstGeom prst="rect">
            <a:avLst/>
          </a:prstGeom>
          <a:noFill/>
        </p:spPr>
        <p:txBody>
          <a:bodyPr wrap="square" tIns="36576" bIns="36576" lIns="54864" rIns="54864">
            <a:spAutoFit/>
          </a:bodyPr>
          <a:lstStyle/>
          <a:p>
            <a:pPr algn="l"/>
            <a:r>
              <a:rPr sz="1700" b="1">
                <a:solidFill>
                  <a:srgbClr val="2563EB"/>
                </a:solidFill>
                <a:latin typeface="Arial"/>
              </a:rPr>
              <a:t>2. Bing (bing.com)</a:t>
            </a:r>
          </a:p>
        </p:txBody>
      </p:sp>
      <p:sp>
        <p:nvSpPr>
          <p:cNvPr id="17" name="TextBox 16"/>
          <p:cNvSpPr txBox="1"/>
          <p:nvPr/>
        </p:nvSpPr>
        <p:spPr>
          <a:xfrm>
            <a:off x="6355080" y="3913631"/>
            <a:ext cx="5303520" cy="457200"/>
          </a:xfrm>
          <a:prstGeom prst="rect">
            <a:avLst/>
          </a:prstGeom>
          <a:noFill/>
        </p:spPr>
        <p:txBody>
          <a:bodyPr wrap="square" tIns="36576" bIns="36576" lIns="54864" rIns="54864">
            <a:spAutoFit/>
          </a:bodyPr>
          <a:lstStyle/>
          <a:p>
            <a:pPr algn="l"/>
            <a:r>
              <a:rPr sz="1400" b="0">
                <a:solidFill>
                  <a:srgbClr val="0F172A"/>
                </a:solidFill>
                <a:latin typeface="Arial"/>
              </a:rPr>
              <a:t>Máy tìm kiếm thông minh của Microsoft 💻</a:t>
            </a:r>
          </a:p>
        </p:txBody>
      </p:sp>
      <p:sp>
        <p:nvSpPr>
          <p:cNvPr id="18" name="Rounded Rectangle 17"/>
          <p:cNvSpPr/>
          <p:nvPr/>
        </p:nvSpPr>
        <p:spPr>
          <a:xfrm>
            <a:off x="5989320" y="4626864"/>
            <a:ext cx="5788152" cy="1051559"/>
          </a:xfrm>
          <a:prstGeom prst="roundRect">
            <a:avLst/>
          </a:prstGeom>
          <a:solidFill>
            <a:srgbClr val="FFFFFF"/>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89320" y="4626864"/>
            <a:ext cx="182880" cy="1051559"/>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764024"/>
            <a:ext cx="5303520" cy="320039"/>
          </a:xfrm>
          <a:prstGeom prst="rect">
            <a:avLst/>
          </a:prstGeom>
          <a:noFill/>
        </p:spPr>
        <p:txBody>
          <a:bodyPr wrap="square" tIns="36576" bIns="36576" lIns="54864" rIns="54864">
            <a:spAutoFit/>
          </a:bodyPr>
          <a:lstStyle/>
          <a:p>
            <a:pPr algn="l"/>
            <a:r>
              <a:rPr sz="1700" b="1">
                <a:solidFill>
                  <a:srgbClr val="16A34A"/>
                </a:solidFill>
                <a:latin typeface="Arial"/>
              </a:rPr>
              <a:t>3. Cốc Cốc (coccoc.com)</a:t>
            </a:r>
          </a:p>
        </p:txBody>
      </p:sp>
      <p:sp>
        <p:nvSpPr>
          <p:cNvPr id="21" name="TextBox 20"/>
          <p:cNvSpPr txBox="1"/>
          <p:nvPr/>
        </p:nvSpPr>
        <p:spPr>
          <a:xfrm>
            <a:off x="6355080" y="5129783"/>
            <a:ext cx="5303520" cy="457200"/>
          </a:xfrm>
          <a:prstGeom prst="rect">
            <a:avLst/>
          </a:prstGeom>
          <a:noFill/>
        </p:spPr>
        <p:txBody>
          <a:bodyPr wrap="square" tIns="36576" bIns="36576" lIns="54864" rIns="54864">
            <a:spAutoFit/>
          </a:bodyPr>
          <a:lstStyle/>
          <a:p>
            <a:pPr algn="l"/>
            <a:r>
              <a:rPr sz="1400" b="0">
                <a:solidFill>
                  <a:srgbClr val="0F172A"/>
                </a:solidFill>
                <a:latin typeface="Arial"/>
              </a:rPr>
              <a:t>Trình duyệt &amp; máy tìm kiếm tối ưu cho người Việt 🇻🇳</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3044952"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3044952" cy="329184"/>
          </a:xfrm>
          <a:prstGeom prst="rect">
            <a:avLst/>
          </a:prstGeom>
          <a:noFill/>
        </p:spPr>
        <p:txBody>
          <a:bodyPr wrap="square" tIns="36576" bIns="36576" lIns="54864" rIns="54864">
            <a:spAutoFit/>
          </a:bodyPr>
          <a:lstStyle/>
          <a:p>
            <a:pPr algn="ctr"/>
            <a:r>
              <a:rPr sz="1200" b="1">
                <a:solidFill>
                  <a:srgbClr val="FFFFFF"/>
                </a:solidFill>
                <a:latin typeface="Arial"/>
              </a:rPr>
              <a:t>QUY TRÌNH THỰC HIỆN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3. Quy trình 4 bước tìm kiếm thông tin bằng Google</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Ghi nhớ các bước tuần tự để thao tác thành thạo trên phòng máy</a:t>
            </a:r>
          </a:p>
        </p:txBody>
      </p:sp>
      <p:sp>
        <p:nvSpPr>
          <p:cNvPr id="6" name="Rounded Rectangle 5"/>
          <p:cNvSpPr/>
          <p:nvPr/>
        </p:nvSpPr>
        <p:spPr>
          <a:xfrm>
            <a:off x="411480" y="2194560"/>
            <a:ext cx="2606040" cy="2240279"/>
          </a:xfrm>
          <a:prstGeom prst="roundRect">
            <a:avLst/>
          </a:prstGeom>
          <a:solidFill>
            <a:srgbClr val="FFFFFF"/>
          </a:solidFill>
          <a:ln w="254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2194560"/>
            <a:ext cx="2606040" cy="43891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249424"/>
            <a:ext cx="2606040" cy="320040"/>
          </a:xfrm>
          <a:prstGeom prst="rect">
            <a:avLst/>
          </a:prstGeom>
          <a:noFill/>
        </p:spPr>
        <p:txBody>
          <a:bodyPr wrap="square" tIns="36576" bIns="36576" lIns="54864" rIns="54864">
            <a:spAutoFit/>
          </a:bodyPr>
          <a:lstStyle/>
          <a:p>
            <a:pPr algn="ctr"/>
            <a:r>
              <a:rPr sz="1500" b="1">
                <a:solidFill>
                  <a:srgbClr val="FFFFFF"/>
                </a:solidFill>
                <a:latin typeface="Arial"/>
              </a:rPr>
              <a:t>BƯỚC 1</a:t>
            </a:r>
          </a:p>
        </p:txBody>
      </p:sp>
      <p:sp>
        <p:nvSpPr>
          <p:cNvPr id="9" name="TextBox 8"/>
          <p:cNvSpPr txBox="1"/>
          <p:nvPr/>
        </p:nvSpPr>
        <p:spPr>
          <a:xfrm>
            <a:off x="548640" y="2743200"/>
            <a:ext cx="2331720" cy="457200"/>
          </a:xfrm>
          <a:prstGeom prst="rect">
            <a:avLst/>
          </a:prstGeom>
          <a:noFill/>
        </p:spPr>
        <p:txBody>
          <a:bodyPr wrap="square" tIns="36576" bIns="36576" lIns="54864" rIns="54864">
            <a:spAutoFit/>
          </a:bodyPr>
          <a:lstStyle/>
          <a:p>
            <a:pPr algn="ctr"/>
            <a:r>
              <a:rPr sz="1600" b="1">
                <a:solidFill>
                  <a:srgbClr val="1E3A8A"/>
                </a:solidFill>
                <a:latin typeface="Arial"/>
              </a:rPr>
              <a:t>Xác định từ khóa</a:t>
            </a:r>
          </a:p>
        </p:txBody>
      </p:sp>
      <p:sp>
        <p:nvSpPr>
          <p:cNvPr id="10" name="TextBox 9"/>
          <p:cNvSpPr txBox="1"/>
          <p:nvPr/>
        </p:nvSpPr>
        <p:spPr>
          <a:xfrm>
            <a:off x="548640" y="3291840"/>
            <a:ext cx="2331720" cy="1051560"/>
          </a:xfrm>
          <a:prstGeom prst="rect">
            <a:avLst/>
          </a:prstGeom>
          <a:noFill/>
        </p:spPr>
        <p:txBody>
          <a:bodyPr wrap="square" tIns="36576" bIns="36576" lIns="54864" rIns="54864">
            <a:spAutoFit/>
          </a:bodyPr>
          <a:lstStyle/>
          <a:p>
            <a:pPr algn="ctr"/>
            <a:r>
              <a:rPr sz="1400" b="0">
                <a:solidFill>
                  <a:srgbClr val="0F172A"/>
                </a:solidFill>
                <a:latin typeface="Arial"/>
              </a:rPr>
              <a:t>Xác định rõ ràng từ khóa về nội dung em cần tìm kiếm.</a:t>
            </a:r>
          </a:p>
        </p:txBody>
      </p:sp>
      <p:sp>
        <p:nvSpPr>
          <p:cNvPr id="11" name="Rounded Rectangle 10"/>
          <p:cNvSpPr/>
          <p:nvPr/>
        </p:nvSpPr>
        <p:spPr>
          <a:xfrm>
            <a:off x="3328416" y="2194560"/>
            <a:ext cx="2606040" cy="2240279"/>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28416" y="2194560"/>
            <a:ext cx="2606040" cy="4389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28416" y="2249424"/>
            <a:ext cx="2606040" cy="320040"/>
          </a:xfrm>
          <a:prstGeom prst="rect">
            <a:avLst/>
          </a:prstGeom>
          <a:noFill/>
        </p:spPr>
        <p:txBody>
          <a:bodyPr wrap="square" tIns="36576" bIns="36576" lIns="54864" rIns="54864">
            <a:spAutoFit/>
          </a:bodyPr>
          <a:lstStyle/>
          <a:p>
            <a:pPr algn="ctr"/>
            <a:r>
              <a:rPr sz="1500" b="1">
                <a:solidFill>
                  <a:srgbClr val="FFFFFF"/>
                </a:solidFill>
                <a:latin typeface="Arial"/>
              </a:rPr>
              <a:t>BƯỚC 2</a:t>
            </a:r>
          </a:p>
        </p:txBody>
      </p:sp>
      <p:sp>
        <p:nvSpPr>
          <p:cNvPr id="14" name="TextBox 13"/>
          <p:cNvSpPr txBox="1"/>
          <p:nvPr/>
        </p:nvSpPr>
        <p:spPr>
          <a:xfrm>
            <a:off x="3465576" y="2743200"/>
            <a:ext cx="2331720" cy="457200"/>
          </a:xfrm>
          <a:prstGeom prst="rect">
            <a:avLst/>
          </a:prstGeom>
          <a:noFill/>
        </p:spPr>
        <p:txBody>
          <a:bodyPr wrap="square" tIns="36576" bIns="36576" lIns="54864" rIns="54864">
            <a:spAutoFit/>
          </a:bodyPr>
          <a:lstStyle/>
          <a:p>
            <a:pPr algn="ctr"/>
            <a:r>
              <a:rPr sz="1600" b="1">
                <a:solidFill>
                  <a:srgbClr val="2563EB"/>
                </a:solidFill>
                <a:latin typeface="Arial"/>
              </a:rPr>
              <a:t>Mở máy tìm kiếm</a:t>
            </a:r>
          </a:p>
        </p:txBody>
      </p:sp>
      <p:sp>
        <p:nvSpPr>
          <p:cNvPr id="15" name="TextBox 14"/>
          <p:cNvSpPr txBox="1"/>
          <p:nvPr/>
        </p:nvSpPr>
        <p:spPr>
          <a:xfrm>
            <a:off x="3465576" y="3291840"/>
            <a:ext cx="2331720" cy="1051560"/>
          </a:xfrm>
          <a:prstGeom prst="rect">
            <a:avLst/>
          </a:prstGeom>
          <a:noFill/>
        </p:spPr>
        <p:txBody>
          <a:bodyPr wrap="square" tIns="36576" bIns="36576" lIns="54864" rIns="54864">
            <a:spAutoFit/>
          </a:bodyPr>
          <a:lstStyle/>
          <a:p>
            <a:pPr algn="ctr"/>
            <a:r>
              <a:rPr sz="1400" b="0">
                <a:solidFill>
                  <a:srgbClr val="0F172A"/>
                </a:solidFill>
                <a:latin typeface="Arial"/>
              </a:rPr>
              <a:t>Mở trình duyệt web và gõ địa chỉ: google.com</a:t>
            </a:r>
          </a:p>
        </p:txBody>
      </p:sp>
      <p:sp>
        <p:nvSpPr>
          <p:cNvPr id="16" name="Rounded Rectangle 15"/>
          <p:cNvSpPr/>
          <p:nvPr/>
        </p:nvSpPr>
        <p:spPr>
          <a:xfrm>
            <a:off x="6245352" y="2194560"/>
            <a:ext cx="2606040" cy="2240279"/>
          </a:xfrm>
          <a:prstGeom prst="roundRect">
            <a:avLst/>
          </a:prstGeom>
          <a:solidFill>
            <a:srgbClr val="FFFFFF"/>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45352" y="2194560"/>
            <a:ext cx="2606040" cy="4389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45352" y="2249424"/>
            <a:ext cx="2606040" cy="320040"/>
          </a:xfrm>
          <a:prstGeom prst="rect">
            <a:avLst/>
          </a:prstGeom>
          <a:noFill/>
        </p:spPr>
        <p:txBody>
          <a:bodyPr wrap="square" tIns="36576" bIns="36576" lIns="54864" rIns="54864">
            <a:spAutoFit/>
          </a:bodyPr>
          <a:lstStyle/>
          <a:p>
            <a:pPr algn="ctr"/>
            <a:r>
              <a:rPr sz="1500" b="1">
                <a:solidFill>
                  <a:srgbClr val="FFFFFF"/>
                </a:solidFill>
                <a:latin typeface="Arial"/>
              </a:rPr>
              <a:t>BƯỚC 3</a:t>
            </a:r>
          </a:p>
        </p:txBody>
      </p:sp>
      <p:sp>
        <p:nvSpPr>
          <p:cNvPr id="19" name="TextBox 18"/>
          <p:cNvSpPr txBox="1"/>
          <p:nvPr/>
        </p:nvSpPr>
        <p:spPr>
          <a:xfrm>
            <a:off x="6382512" y="2743200"/>
            <a:ext cx="2331720" cy="457200"/>
          </a:xfrm>
          <a:prstGeom prst="rect">
            <a:avLst/>
          </a:prstGeom>
          <a:noFill/>
        </p:spPr>
        <p:txBody>
          <a:bodyPr wrap="square" tIns="36576" bIns="36576" lIns="54864" rIns="54864">
            <a:spAutoFit/>
          </a:bodyPr>
          <a:lstStyle/>
          <a:p>
            <a:pPr algn="ctr"/>
            <a:r>
              <a:rPr sz="1600" b="1">
                <a:solidFill>
                  <a:srgbClr val="EA580C"/>
                </a:solidFill>
                <a:latin typeface="Arial"/>
              </a:rPr>
              <a:t>Gõ từ khóa &amp; Enter</a:t>
            </a:r>
          </a:p>
        </p:txBody>
      </p:sp>
      <p:sp>
        <p:nvSpPr>
          <p:cNvPr id="20" name="TextBox 19"/>
          <p:cNvSpPr txBox="1"/>
          <p:nvPr/>
        </p:nvSpPr>
        <p:spPr>
          <a:xfrm>
            <a:off x="6382512" y="3291840"/>
            <a:ext cx="2331720" cy="1051560"/>
          </a:xfrm>
          <a:prstGeom prst="rect">
            <a:avLst/>
          </a:prstGeom>
          <a:noFill/>
        </p:spPr>
        <p:txBody>
          <a:bodyPr wrap="square" tIns="36576" bIns="36576" lIns="54864" rIns="54864">
            <a:spAutoFit/>
          </a:bodyPr>
          <a:lstStyle/>
          <a:p>
            <a:pPr algn="ctr"/>
            <a:r>
              <a:rPr sz="1400" b="0">
                <a:solidFill>
                  <a:srgbClr val="0F172A"/>
                </a:solidFill>
                <a:latin typeface="Arial"/>
              </a:rPr>
              <a:t>Gõ từ khóa vào ô tìm kiếm, sau đó nhấn phím Enter.</a:t>
            </a:r>
          </a:p>
        </p:txBody>
      </p:sp>
      <p:sp>
        <p:nvSpPr>
          <p:cNvPr id="21" name="Rounded Rectangle 20"/>
          <p:cNvSpPr/>
          <p:nvPr/>
        </p:nvSpPr>
        <p:spPr>
          <a:xfrm>
            <a:off x="9162288" y="2194560"/>
            <a:ext cx="2606040" cy="2240279"/>
          </a:xfrm>
          <a:prstGeom prst="roundRect">
            <a:avLst/>
          </a:prstGeom>
          <a:solidFill>
            <a:srgbClr val="FFFFFF"/>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62288" y="2194560"/>
            <a:ext cx="2606040" cy="43891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2288" y="2249424"/>
            <a:ext cx="2606040" cy="320040"/>
          </a:xfrm>
          <a:prstGeom prst="rect">
            <a:avLst/>
          </a:prstGeom>
          <a:noFill/>
        </p:spPr>
        <p:txBody>
          <a:bodyPr wrap="square" tIns="36576" bIns="36576" lIns="54864" rIns="54864">
            <a:spAutoFit/>
          </a:bodyPr>
          <a:lstStyle/>
          <a:p>
            <a:pPr algn="ctr"/>
            <a:r>
              <a:rPr sz="1500" b="1">
                <a:solidFill>
                  <a:srgbClr val="FFFFFF"/>
                </a:solidFill>
                <a:latin typeface="Arial"/>
              </a:rPr>
              <a:t>BƯỚC 4</a:t>
            </a:r>
          </a:p>
        </p:txBody>
      </p:sp>
      <p:sp>
        <p:nvSpPr>
          <p:cNvPr id="24" name="TextBox 23"/>
          <p:cNvSpPr txBox="1"/>
          <p:nvPr/>
        </p:nvSpPr>
        <p:spPr>
          <a:xfrm>
            <a:off x="9299448" y="2743200"/>
            <a:ext cx="2331720" cy="457200"/>
          </a:xfrm>
          <a:prstGeom prst="rect">
            <a:avLst/>
          </a:prstGeom>
          <a:noFill/>
        </p:spPr>
        <p:txBody>
          <a:bodyPr wrap="square" tIns="36576" bIns="36576" lIns="54864" rIns="54864">
            <a:spAutoFit/>
          </a:bodyPr>
          <a:lstStyle/>
          <a:p>
            <a:pPr algn="ctr"/>
            <a:r>
              <a:rPr sz="1600" b="1">
                <a:solidFill>
                  <a:srgbClr val="16A34A"/>
                </a:solidFill>
                <a:latin typeface="Arial"/>
              </a:rPr>
              <a:t>Chọn siêu liên kết</a:t>
            </a:r>
          </a:p>
        </p:txBody>
      </p:sp>
      <p:sp>
        <p:nvSpPr>
          <p:cNvPr id="25" name="TextBox 24"/>
          <p:cNvSpPr txBox="1"/>
          <p:nvPr/>
        </p:nvSpPr>
        <p:spPr>
          <a:xfrm>
            <a:off x="9299448" y="3291840"/>
            <a:ext cx="2331720" cy="1051560"/>
          </a:xfrm>
          <a:prstGeom prst="rect">
            <a:avLst/>
          </a:prstGeom>
          <a:noFill/>
        </p:spPr>
        <p:txBody>
          <a:bodyPr wrap="square" tIns="36576" bIns="36576" lIns="54864" rIns="54864">
            <a:spAutoFit/>
          </a:bodyPr>
          <a:lstStyle/>
          <a:p>
            <a:pPr algn="ctr"/>
            <a:r>
              <a:rPr sz="1400" b="0">
                <a:solidFill>
                  <a:srgbClr val="0F172A"/>
                </a:solidFill>
                <a:latin typeface="Arial"/>
              </a:rPr>
              <a:t>Nháy chuột vào liên kết thích hợp trong danh sách kết quả.</a:t>
            </a:r>
          </a:p>
        </p:txBody>
      </p:sp>
      <p:sp>
        <p:nvSpPr>
          <p:cNvPr id="26" name="Rounded Rectangle 25"/>
          <p:cNvSpPr/>
          <p:nvPr/>
        </p:nvSpPr>
        <p:spPr>
          <a:xfrm>
            <a:off x="411480" y="4617720"/>
            <a:ext cx="11365992" cy="10972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arch_steps_diagram_vn.png"/>
          <p:cNvPicPr>
            <a:picLocks noChangeAspect="1"/>
          </p:cNvPicPr>
          <p:nvPr/>
        </p:nvPicPr>
        <p:blipFill>
          <a:blip r:embed="rId2"/>
          <a:stretch>
            <a:fillRect/>
          </a:stretch>
        </p:blipFill>
        <p:spPr>
          <a:xfrm>
            <a:off x="594360" y="4663440"/>
            <a:ext cx="11000232" cy="1005839"/>
          </a:xfrm>
          <a:prstGeom prst="rect">
            <a:avLst/>
          </a:prstGeom>
        </p:spPr>
      </p:pic>
    </p:spTree>
  </p:cSld>
  <p:clrMapOvr>
    <a:masterClrMapping/>
  </p:clrMapOvr>
  <p:transition spd="med">
    <p:push dir="l"/>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2331720"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2331720" cy="329184"/>
          </a:xfrm>
          <a:prstGeom prst="rect">
            <a:avLst/>
          </a:prstGeom>
          <a:noFill/>
        </p:spPr>
        <p:txBody>
          <a:bodyPr wrap="square" tIns="36576" bIns="36576" lIns="54864" rIns="54864">
            <a:spAutoFit/>
          </a:bodyPr>
          <a:lstStyle/>
          <a:p>
            <a:pPr algn="ctr"/>
            <a:r>
              <a:rPr sz="1200" b="1">
                <a:solidFill>
                  <a:srgbClr val="FFFFFF"/>
                </a:solidFill>
                <a:latin typeface="Arial"/>
              </a:rPr>
              <a:t>THỰC HÀNH MẪU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4. Thực hành mẫu: Tìm kiếm thông tin về Hồ Gươm</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Quan sát các thao tác thực tế và trang kết quả tìm kiếm Google (SGK tr.22 - 23)</a:t>
            </a:r>
          </a:p>
        </p:txBody>
      </p:sp>
      <p:sp>
        <p:nvSpPr>
          <p:cNvPr id="6" name="Rounded Rectangle 5"/>
          <p:cNvSpPr/>
          <p:nvPr/>
        </p:nvSpPr>
        <p:spPr>
          <a:xfrm>
            <a:off x="411480" y="2194560"/>
            <a:ext cx="4572000"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331720"/>
            <a:ext cx="4206240" cy="320040"/>
          </a:xfrm>
          <a:prstGeom prst="rect">
            <a:avLst/>
          </a:prstGeom>
          <a:noFill/>
        </p:spPr>
        <p:txBody>
          <a:bodyPr wrap="square" tIns="36576" bIns="36576" lIns="54864" rIns="54864">
            <a:spAutoFit/>
          </a:bodyPr>
          <a:lstStyle/>
          <a:p>
            <a:pPr algn="l"/>
            <a:r>
              <a:rPr sz="1600" b="1">
                <a:solidFill>
                  <a:srgbClr val="1E3A8A"/>
                </a:solidFill>
                <a:latin typeface="Arial"/>
              </a:rPr>
              <a:t>🎯 CÁC BƯỚC THỰC HÀNH:</a:t>
            </a:r>
          </a:p>
        </p:txBody>
      </p:sp>
      <p:sp>
        <p:nvSpPr>
          <p:cNvPr id="8" name="TextBox 7"/>
          <p:cNvSpPr txBox="1"/>
          <p:nvPr/>
        </p:nvSpPr>
        <p:spPr>
          <a:xfrm>
            <a:off x="594360" y="2697480"/>
            <a:ext cx="4206240" cy="2194559"/>
          </a:xfrm>
          <a:prstGeom prst="rect">
            <a:avLst/>
          </a:prstGeom>
          <a:noFill/>
        </p:spPr>
        <p:txBody>
          <a:bodyPr wrap="square" tIns="36576" bIns="36576" lIns="54864" rIns="54864">
            <a:spAutoFit/>
          </a:bodyPr>
          <a:lstStyle/>
          <a:p>
            <a:pPr algn="l"/>
            <a:r>
              <a:rPr sz="1500" b="0">
                <a:solidFill>
                  <a:srgbClr val="0F172A"/>
                </a:solidFill>
                <a:latin typeface="Arial"/>
              </a:rPr>
              <a:t>1. Từ khóa: "Hồ Gươm"
2. Truy cập: google.com
3. Kết quả trả về: Hơn 5.000.000 trang web chỉ trong 0,47 giây!
4. Xem chi tiết: Nháy chuột vào bài viết của vietnamtourism.gov.vn (trang chính thức của Tổng cục Du lịch).</a:t>
            </a:r>
          </a:p>
        </p:txBody>
      </p:sp>
      <p:sp>
        <p:nvSpPr>
          <p:cNvPr id="9" name="Rounded Rectangle 8"/>
          <p:cNvSpPr/>
          <p:nvPr/>
        </p:nvSpPr>
        <p:spPr>
          <a:xfrm>
            <a:off x="594360" y="4937760"/>
            <a:ext cx="4206240" cy="640080"/>
          </a:xfrm>
          <a:prstGeom prst="roundRect">
            <a:avLst/>
          </a:prstGeom>
          <a:solidFill>
            <a:srgbClr val="DBEAFE"/>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4023360" cy="548639"/>
          </a:xfrm>
          <a:prstGeom prst="rect">
            <a:avLst/>
          </a:prstGeom>
          <a:noFill/>
        </p:spPr>
        <p:txBody>
          <a:bodyPr wrap="square" tIns="36576" bIns="36576" lIns="54864" rIns="54864">
            <a:spAutoFit/>
          </a:bodyPr>
          <a:lstStyle/>
          <a:p>
            <a:pPr algn="l"/>
            <a:r>
              <a:rPr sz="1300" b="1">
                <a:solidFill>
                  <a:srgbClr val="1E3A8A"/>
                </a:solidFill>
                <a:latin typeface="Arial"/>
              </a:rPr>
              <a:t>💡 Mẹo nhỏ: Ưu tiên chọn các trang có đuôi .gov.vn hoặc .edu.vn để có thông tin tin cậy!</a:t>
            </a:r>
          </a:p>
        </p:txBody>
      </p:sp>
      <p:sp>
        <p:nvSpPr>
          <p:cNvPr id="11" name="Rounded Rectangle 10"/>
          <p:cNvSpPr/>
          <p:nvPr/>
        </p:nvSpPr>
        <p:spPr>
          <a:xfrm>
            <a:off x="5166360" y="2194560"/>
            <a:ext cx="661111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gk_p22_hinh13_ket_qua_ho_guom.png"/>
          <p:cNvPicPr>
            <a:picLocks noChangeAspect="1"/>
          </p:cNvPicPr>
          <p:nvPr/>
        </p:nvPicPr>
        <p:blipFill>
          <a:blip r:embed="rId2"/>
          <a:stretch>
            <a:fillRect/>
          </a:stretch>
        </p:blipFill>
        <p:spPr>
          <a:xfrm>
            <a:off x="5257800" y="2286000"/>
            <a:ext cx="6428232" cy="333756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1856232"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1856232" cy="329184"/>
          </a:xfrm>
          <a:prstGeom prst="rect">
            <a:avLst/>
          </a:prstGeom>
          <a:noFill/>
        </p:spPr>
        <p:txBody>
          <a:bodyPr wrap="square" tIns="36576" bIns="36576" lIns="54864" rIns="54864">
            <a:spAutoFit/>
          </a:bodyPr>
          <a:lstStyle/>
          <a:p>
            <a:pPr algn="ctr"/>
            <a:r>
              <a:rPr sz="1200" b="1">
                <a:solidFill>
                  <a:srgbClr val="FFFFFF"/>
                </a:solidFill>
                <a:latin typeface="Arial"/>
              </a:rPr>
              <a:t>LUYỆN TẬP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Bài tập 1: Thử tài chọn từ khóa chính xác nhất</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Đọc kỹ yêu cầu và cùng thảo luận nhóm đôi để đưa ra phương án đúng nhất</a:t>
            </a:r>
          </a:p>
        </p:txBody>
      </p:sp>
      <p:sp>
        <p:nvSpPr>
          <p:cNvPr id="6" name="Rounded Rectangle 5"/>
          <p:cNvSpPr/>
          <p:nvPr/>
        </p:nvSpPr>
        <p:spPr>
          <a:xfrm>
            <a:off x="411480" y="2194560"/>
            <a:ext cx="8046720" cy="868679"/>
          </a:xfrm>
          <a:prstGeom prst="roundRect">
            <a:avLst/>
          </a:prstGeom>
          <a:solidFill>
            <a:srgbClr val="DBEAFE"/>
          </a:solidFill>
          <a:ln w="254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267712"/>
            <a:ext cx="7680960" cy="685800"/>
          </a:xfrm>
          <a:prstGeom prst="rect">
            <a:avLst/>
          </a:prstGeom>
          <a:noFill/>
        </p:spPr>
        <p:txBody>
          <a:bodyPr wrap="square" tIns="36576" bIns="36576" lIns="54864" rIns="54864">
            <a:spAutoFit/>
          </a:bodyPr>
          <a:lstStyle/>
          <a:p>
            <a:pPr algn="l"/>
            <a:r>
              <a:rPr sz="1600" b="1">
                <a:solidFill>
                  <a:srgbClr val="1E3A8A"/>
                </a:solidFill>
                <a:latin typeface="Arial"/>
              </a:rPr>
              <a:t>❓ CÂU HỎI (SGK Trang 21):
Nếu muốn tìm kiếm thông tin về Bảo tàng Dân tộc học Việt Nam, từ khóa nào sau đây là phù hợp nhất?</a:t>
            </a:r>
          </a:p>
        </p:txBody>
      </p:sp>
      <p:sp>
        <p:nvSpPr>
          <p:cNvPr id="8" name="Rounded Rectangle 7"/>
          <p:cNvSpPr/>
          <p:nvPr/>
        </p:nvSpPr>
        <p:spPr>
          <a:xfrm>
            <a:off x="8641080" y="2194560"/>
            <a:ext cx="313639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useum_icon.jpg"/>
          <p:cNvPicPr>
            <a:picLocks noChangeAspect="1"/>
          </p:cNvPicPr>
          <p:nvPr/>
        </p:nvPicPr>
        <p:blipFill>
          <a:blip r:embed="rId2"/>
          <a:stretch>
            <a:fillRect/>
          </a:stretch>
        </p:blipFill>
        <p:spPr>
          <a:xfrm>
            <a:off x="8732520" y="2286000"/>
            <a:ext cx="2953512" cy="3337560"/>
          </a:xfrm>
          <a:prstGeom prst="rect">
            <a:avLst/>
          </a:prstGeom>
        </p:spPr>
      </p:pic>
      <p:sp>
        <p:nvSpPr>
          <p:cNvPr id="10" name="Rounded Rectangle 9"/>
          <p:cNvSpPr/>
          <p:nvPr/>
        </p:nvSpPr>
        <p:spPr>
          <a:xfrm>
            <a:off x="411480" y="3200400"/>
            <a:ext cx="8046720" cy="5669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246120"/>
            <a:ext cx="7680960" cy="256032"/>
          </a:xfrm>
          <a:prstGeom prst="rect">
            <a:avLst/>
          </a:prstGeom>
          <a:noFill/>
        </p:spPr>
        <p:txBody>
          <a:bodyPr wrap="square" tIns="36576" bIns="36576" lIns="54864" rIns="54864">
            <a:spAutoFit/>
          </a:bodyPr>
          <a:lstStyle/>
          <a:p>
            <a:pPr algn="l"/>
            <a:r>
              <a:rPr sz="1500" b="1">
                <a:solidFill>
                  <a:srgbClr val="0F172A"/>
                </a:solidFill>
                <a:latin typeface="Arial"/>
              </a:rPr>
              <a:t>A. Bảo tàng</a:t>
            </a:r>
          </a:p>
        </p:txBody>
      </p:sp>
      <p:sp>
        <p:nvSpPr>
          <p:cNvPr id="12" name="TextBox 11"/>
          <p:cNvSpPr txBox="1"/>
          <p:nvPr/>
        </p:nvSpPr>
        <p:spPr>
          <a:xfrm>
            <a:off x="594360" y="3493008"/>
            <a:ext cx="7680960" cy="228600"/>
          </a:xfrm>
          <a:prstGeom prst="rect">
            <a:avLst/>
          </a:prstGeom>
          <a:noFill/>
        </p:spPr>
        <p:txBody>
          <a:bodyPr wrap="square" tIns="36576" bIns="36576" lIns="54864" rIns="54864">
            <a:spAutoFit/>
          </a:bodyPr>
          <a:lstStyle/>
          <a:p>
            <a:pPr algn="l"/>
            <a:r>
              <a:rPr sz="1300" b="0">
                <a:solidFill>
                  <a:srgbClr val="0F172A"/>
                </a:solidFill>
                <a:latin typeface="Arial"/>
              </a:rPr>
              <a:t>Chưa phù hợp: Quá rộng, ra hàng nghìn bảo tàng khác nhau ❌</a:t>
            </a:r>
          </a:p>
        </p:txBody>
      </p:sp>
      <p:sp>
        <p:nvSpPr>
          <p:cNvPr id="13" name="Rounded Rectangle 12"/>
          <p:cNvSpPr/>
          <p:nvPr/>
        </p:nvSpPr>
        <p:spPr>
          <a:xfrm>
            <a:off x="411480" y="3840480"/>
            <a:ext cx="8046720" cy="566928"/>
          </a:xfrm>
          <a:prstGeom prst="roundRect">
            <a:avLst/>
          </a:prstGeom>
          <a:solidFill>
            <a:srgbClr val="FFF7ED"/>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886200"/>
            <a:ext cx="7680960" cy="256032"/>
          </a:xfrm>
          <a:prstGeom prst="rect">
            <a:avLst/>
          </a:prstGeom>
          <a:noFill/>
        </p:spPr>
        <p:txBody>
          <a:bodyPr wrap="square" tIns="36576" bIns="36576" lIns="54864" rIns="54864">
            <a:spAutoFit/>
          </a:bodyPr>
          <a:lstStyle/>
          <a:p>
            <a:pPr algn="l"/>
            <a:r>
              <a:rPr sz="1500" b="1">
                <a:solidFill>
                  <a:srgbClr val="EA580C"/>
                </a:solidFill>
                <a:latin typeface="Arial"/>
              </a:rPr>
              <a:t>B. Bảo tàng Dân tộc học Việt Nam</a:t>
            </a:r>
          </a:p>
        </p:txBody>
      </p:sp>
      <p:sp>
        <p:nvSpPr>
          <p:cNvPr id="15" name="TextBox 14"/>
          <p:cNvSpPr txBox="1"/>
          <p:nvPr/>
        </p:nvSpPr>
        <p:spPr>
          <a:xfrm>
            <a:off x="594360" y="4133088"/>
            <a:ext cx="7680960" cy="228600"/>
          </a:xfrm>
          <a:prstGeom prst="rect">
            <a:avLst/>
          </a:prstGeom>
          <a:noFill/>
        </p:spPr>
        <p:txBody>
          <a:bodyPr wrap="square" tIns="36576" bIns="36576" lIns="54864" rIns="54864">
            <a:spAutoFit/>
          </a:bodyPr>
          <a:lstStyle/>
          <a:p>
            <a:pPr algn="l"/>
            <a:r>
              <a:rPr sz="1300" b="1">
                <a:solidFill>
                  <a:srgbClr val="EA580C"/>
                </a:solidFill>
                <a:latin typeface="Arial"/>
              </a:rPr>
              <a:t>ĐÁP ÁN CHÍNH XÁC NHẤT: Đầy đủ, rõ ràng và đúng trọng tâm! 🏆 ✅</a:t>
            </a:r>
          </a:p>
        </p:txBody>
      </p:sp>
      <p:sp>
        <p:nvSpPr>
          <p:cNvPr id="16" name="Rounded Rectangle 15"/>
          <p:cNvSpPr/>
          <p:nvPr/>
        </p:nvSpPr>
        <p:spPr>
          <a:xfrm>
            <a:off x="411480" y="4480560"/>
            <a:ext cx="8046720" cy="5669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526280"/>
            <a:ext cx="7680960" cy="256032"/>
          </a:xfrm>
          <a:prstGeom prst="rect">
            <a:avLst/>
          </a:prstGeom>
          <a:noFill/>
        </p:spPr>
        <p:txBody>
          <a:bodyPr wrap="square" tIns="36576" bIns="36576" lIns="54864" rIns="54864">
            <a:spAutoFit/>
          </a:bodyPr>
          <a:lstStyle/>
          <a:p>
            <a:pPr algn="l"/>
            <a:r>
              <a:rPr sz="1500" b="1">
                <a:solidFill>
                  <a:srgbClr val="0F172A"/>
                </a:solidFill>
                <a:latin typeface="Arial"/>
              </a:rPr>
              <a:t>C. Bảo tàng Việt Nam</a:t>
            </a:r>
          </a:p>
        </p:txBody>
      </p:sp>
      <p:sp>
        <p:nvSpPr>
          <p:cNvPr id="18" name="TextBox 17"/>
          <p:cNvSpPr txBox="1"/>
          <p:nvPr/>
        </p:nvSpPr>
        <p:spPr>
          <a:xfrm>
            <a:off x="594360" y="4773168"/>
            <a:ext cx="7680960" cy="228600"/>
          </a:xfrm>
          <a:prstGeom prst="rect">
            <a:avLst/>
          </a:prstGeom>
          <a:noFill/>
        </p:spPr>
        <p:txBody>
          <a:bodyPr wrap="square" tIns="36576" bIns="36576" lIns="54864" rIns="54864">
            <a:spAutoFit/>
          </a:bodyPr>
          <a:lstStyle/>
          <a:p>
            <a:pPr algn="l"/>
            <a:r>
              <a:rPr sz="1300" b="0">
                <a:solidFill>
                  <a:srgbClr val="0F172A"/>
                </a:solidFill>
                <a:latin typeface="Arial"/>
              </a:rPr>
              <a:t>Chưa phù hợp: Không chỉ rõ bảo tàng dân tộc học nào ❌</a:t>
            </a:r>
          </a:p>
        </p:txBody>
      </p:sp>
      <p:sp>
        <p:nvSpPr>
          <p:cNvPr id="19" name="Rounded Rectangle 18"/>
          <p:cNvSpPr/>
          <p:nvPr/>
        </p:nvSpPr>
        <p:spPr>
          <a:xfrm>
            <a:off x="411480" y="5120640"/>
            <a:ext cx="8046720" cy="5669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166359"/>
            <a:ext cx="7680960" cy="256032"/>
          </a:xfrm>
          <a:prstGeom prst="rect">
            <a:avLst/>
          </a:prstGeom>
          <a:noFill/>
        </p:spPr>
        <p:txBody>
          <a:bodyPr wrap="square" tIns="36576" bIns="36576" lIns="54864" rIns="54864">
            <a:spAutoFit/>
          </a:bodyPr>
          <a:lstStyle/>
          <a:p>
            <a:pPr algn="l"/>
            <a:r>
              <a:rPr sz="1500" b="1">
                <a:solidFill>
                  <a:srgbClr val="0F172A"/>
                </a:solidFill>
                <a:latin typeface="Arial"/>
              </a:rPr>
              <a:t>D. Các dân tộc ở Việt Nam</a:t>
            </a:r>
          </a:p>
        </p:txBody>
      </p:sp>
      <p:sp>
        <p:nvSpPr>
          <p:cNvPr id="21" name="TextBox 20"/>
          <p:cNvSpPr txBox="1"/>
          <p:nvPr/>
        </p:nvSpPr>
        <p:spPr>
          <a:xfrm>
            <a:off x="594360" y="5413248"/>
            <a:ext cx="7680960" cy="228600"/>
          </a:xfrm>
          <a:prstGeom prst="rect">
            <a:avLst/>
          </a:prstGeom>
          <a:noFill/>
        </p:spPr>
        <p:txBody>
          <a:bodyPr wrap="square" tIns="36576" bIns="36576" lIns="54864" rIns="54864">
            <a:spAutoFit/>
          </a:bodyPr>
          <a:lstStyle/>
          <a:p>
            <a:pPr algn="l"/>
            <a:r>
              <a:rPr sz="1300" b="0">
                <a:solidFill>
                  <a:srgbClr val="0F172A"/>
                </a:solidFill>
                <a:latin typeface="Arial"/>
              </a:rPr>
              <a:t>Chưa phù hợp: Sẽ tìm về con người, văn hóa thay vì bảo tàng ❌</a:t>
            </a:r>
          </a:p>
        </p:txBody>
      </p:sp>
    </p:spTree>
  </p:cSld>
  <p:clrMapOvr>
    <a:masterClrMapping/>
  </p:clrMapOvr>
  <p:transition spd="med">
    <p:push dir="l"/>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2807208"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2807208" cy="329184"/>
          </a:xfrm>
          <a:prstGeom prst="rect">
            <a:avLst/>
          </a:prstGeom>
          <a:noFill/>
        </p:spPr>
        <p:txBody>
          <a:bodyPr wrap="square" tIns="36576" bIns="36576" lIns="54864" rIns="54864">
            <a:spAutoFit/>
          </a:bodyPr>
          <a:lstStyle/>
          <a:p>
            <a:pPr algn="ctr"/>
            <a:r>
              <a:rPr sz="1200" b="1">
                <a:solidFill>
                  <a:srgbClr val="FFFFFF"/>
                </a:solidFill>
                <a:latin typeface="Arial"/>
              </a:rPr>
              <a:t>TRÒ CHƠI GHÉP NỐI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Bài tập 2: Ghép nối Chủ đề &amp; Từ khóa tương ứng</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Cùng nối chủ đề bài học ở Cột A với từ khóa tìm kiếm phù hợp nhất ở Cột B</a:t>
            </a:r>
          </a:p>
        </p:txBody>
      </p:sp>
      <p:sp>
        <p:nvSpPr>
          <p:cNvPr id="6" name="Rounded Rectangle 5"/>
          <p:cNvSpPr/>
          <p:nvPr/>
        </p:nvSpPr>
        <p:spPr>
          <a:xfrm>
            <a:off x="411480" y="2240280"/>
            <a:ext cx="3474720" cy="960119"/>
          </a:xfrm>
          <a:prstGeom prst="roundRect">
            <a:avLst/>
          </a:prstGeom>
          <a:solidFill>
            <a:srgbClr val="FFFFFF"/>
          </a:solidFill>
          <a:ln w="254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423160"/>
            <a:ext cx="3200400" cy="594359"/>
          </a:xfrm>
          <a:prstGeom prst="rect">
            <a:avLst/>
          </a:prstGeom>
          <a:noFill/>
        </p:spPr>
        <p:txBody>
          <a:bodyPr wrap="square" tIns="36576" bIns="36576" lIns="54864" rIns="54864">
            <a:spAutoFit/>
          </a:bodyPr>
          <a:lstStyle/>
          <a:p>
            <a:pPr algn="l"/>
            <a:r>
              <a:rPr sz="1500" b="1">
                <a:solidFill>
                  <a:srgbClr val="1E3A8A"/>
                </a:solidFill>
                <a:latin typeface="Arial"/>
              </a:rPr>
              <a:t>Chủ đề 1: Tìm hiểu các vua thời Hùng Vương</a:t>
            </a:r>
          </a:p>
        </p:txBody>
      </p:sp>
      <p:sp>
        <p:nvSpPr>
          <p:cNvPr id="8" name="TextBox 7"/>
          <p:cNvSpPr txBox="1"/>
          <p:nvPr/>
        </p:nvSpPr>
        <p:spPr>
          <a:xfrm>
            <a:off x="3931920" y="2468880"/>
            <a:ext cx="731520" cy="502919"/>
          </a:xfrm>
          <a:prstGeom prst="rect">
            <a:avLst/>
          </a:prstGeom>
          <a:noFill/>
        </p:spPr>
        <p:txBody>
          <a:bodyPr wrap="square" tIns="36576" bIns="36576" lIns="54864" rIns="54864">
            <a:spAutoFit/>
          </a:bodyPr>
          <a:lstStyle/>
          <a:p>
            <a:pPr algn="ctr"/>
            <a:r>
              <a:rPr sz="2000" b="1">
                <a:solidFill>
                  <a:srgbClr val="1E3A8A"/>
                </a:solidFill>
                <a:latin typeface="Arial"/>
              </a:rPr>
              <a:t>──►</a:t>
            </a:r>
          </a:p>
        </p:txBody>
      </p:sp>
      <p:sp>
        <p:nvSpPr>
          <p:cNvPr id="9" name="Rounded Rectangle 8"/>
          <p:cNvSpPr/>
          <p:nvPr/>
        </p:nvSpPr>
        <p:spPr>
          <a:xfrm>
            <a:off x="4709160" y="2240280"/>
            <a:ext cx="3291840" cy="960119"/>
          </a:xfrm>
          <a:prstGeom prst="roundRect">
            <a:avLst/>
          </a:prstGeom>
          <a:solidFill>
            <a:srgbClr val="FFFFFF"/>
          </a:solidFill>
          <a:ln w="254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468880"/>
            <a:ext cx="3017520" cy="502919"/>
          </a:xfrm>
          <a:prstGeom prst="rect">
            <a:avLst/>
          </a:prstGeom>
          <a:noFill/>
        </p:spPr>
        <p:txBody>
          <a:bodyPr wrap="square" tIns="36576" bIns="36576" lIns="54864" rIns="54864">
            <a:spAutoFit/>
          </a:bodyPr>
          <a:lstStyle/>
          <a:p>
            <a:pPr algn="l"/>
            <a:r>
              <a:rPr sz="1600" b="1">
                <a:solidFill>
                  <a:srgbClr val="1E3A8A"/>
                </a:solidFill>
                <a:latin typeface="Arial"/>
              </a:rPr>
              <a:t>Từ khóa: "Các đời vua Hùng"</a:t>
            </a:r>
          </a:p>
        </p:txBody>
      </p:sp>
      <p:sp>
        <p:nvSpPr>
          <p:cNvPr id="11" name="Rounded Rectangle 10"/>
          <p:cNvSpPr/>
          <p:nvPr/>
        </p:nvSpPr>
        <p:spPr>
          <a:xfrm>
            <a:off x="411480" y="3383280"/>
            <a:ext cx="3474720" cy="960119"/>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566160"/>
            <a:ext cx="3200400" cy="594360"/>
          </a:xfrm>
          <a:prstGeom prst="rect">
            <a:avLst/>
          </a:prstGeom>
          <a:noFill/>
        </p:spPr>
        <p:txBody>
          <a:bodyPr wrap="square" tIns="36576" bIns="36576" lIns="54864" rIns="54864">
            <a:spAutoFit/>
          </a:bodyPr>
          <a:lstStyle/>
          <a:p>
            <a:pPr algn="l"/>
            <a:r>
              <a:rPr sz="1500" b="1">
                <a:solidFill>
                  <a:srgbClr val="2563EB"/>
                </a:solidFill>
                <a:latin typeface="Arial"/>
              </a:rPr>
              <a:t>Chủ đề 2: Tìm hiểu danh lam thắng cảnh Hà Nội</a:t>
            </a:r>
          </a:p>
        </p:txBody>
      </p:sp>
      <p:sp>
        <p:nvSpPr>
          <p:cNvPr id="13" name="TextBox 12"/>
          <p:cNvSpPr txBox="1"/>
          <p:nvPr/>
        </p:nvSpPr>
        <p:spPr>
          <a:xfrm>
            <a:off x="3931920" y="3611880"/>
            <a:ext cx="731520" cy="502919"/>
          </a:xfrm>
          <a:prstGeom prst="rect">
            <a:avLst/>
          </a:prstGeom>
          <a:noFill/>
        </p:spPr>
        <p:txBody>
          <a:bodyPr wrap="square" tIns="36576" bIns="36576" lIns="54864" rIns="54864">
            <a:spAutoFit/>
          </a:bodyPr>
          <a:lstStyle/>
          <a:p>
            <a:pPr algn="ctr"/>
            <a:r>
              <a:rPr sz="2000" b="1">
                <a:solidFill>
                  <a:srgbClr val="2563EB"/>
                </a:solidFill>
                <a:latin typeface="Arial"/>
              </a:rPr>
              <a:t>──►</a:t>
            </a:r>
          </a:p>
        </p:txBody>
      </p:sp>
      <p:sp>
        <p:nvSpPr>
          <p:cNvPr id="14" name="Rounded Rectangle 13"/>
          <p:cNvSpPr/>
          <p:nvPr/>
        </p:nvSpPr>
        <p:spPr>
          <a:xfrm>
            <a:off x="4709160" y="3383280"/>
            <a:ext cx="3291840" cy="960119"/>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3611880"/>
            <a:ext cx="3017520" cy="502919"/>
          </a:xfrm>
          <a:prstGeom prst="rect">
            <a:avLst/>
          </a:prstGeom>
          <a:noFill/>
        </p:spPr>
        <p:txBody>
          <a:bodyPr wrap="square" tIns="36576" bIns="36576" lIns="54864" rIns="54864">
            <a:spAutoFit/>
          </a:bodyPr>
          <a:lstStyle/>
          <a:p>
            <a:pPr algn="l"/>
            <a:r>
              <a:rPr sz="1600" b="1">
                <a:solidFill>
                  <a:srgbClr val="2563EB"/>
                </a:solidFill>
                <a:latin typeface="Arial"/>
              </a:rPr>
              <a:t>Từ khóa: "Hồ Gươm Hà Nội"</a:t>
            </a:r>
          </a:p>
        </p:txBody>
      </p:sp>
      <p:sp>
        <p:nvSpPr>
          <p:cNvPr id="16" name="Rounded Rectangle 15"/>
          <p:cNvSpPr/>
          <p:nvPr/>
        </p:nvSpPr>
        <p:spPr>
          <a:xfrm>
            <a:off x="411480" y="4526280"/>
            <a:ext cx="3474720" cy="960119"/>
          </a:xfrm>
          <a:prstGeom prst="roundRect">
            <a:avLst/>
          </a:prstGeom>
          <a:solidFill>
            <a:srgbClr val="FFFFFF"/>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709160"/>
            <a:ext cx="3200400" cy="594360"/>
          </a:xfrm>
          <a:prstGeom prst="rect">
            <a:avLst/>
          </a:prstGeom>
          <a:noFill/>
        </p:spPr>
        <p:txBody>
          <a:bodyPr wrap="square" tIns="36576" bIns="36576" lIns="54864" rIns="54864">
            <a:spAutoFit/>
          </a:bodyPr>
          <a:lstStyle/>
          <a:p>
            <a:pPr algn="l"/>
            <a:r>
              <a:rPr sz="1500" b="1">
                <a:solidFill>
                  <a:srgbClr val="16A34A"/>
                </a:solidFill>
                <a:latin typeface="Arial"/>
              </a:rPr>
              <a:t>Chủ đề 3: Tìm hiểu vai trò của không khí</a:t>
            </a:r>
          </a:p>
        </p:txBody>
      </p:sp>
      <p:sp>
        <p:nvSpPr>
          <p:cNvPr id="18" name="TextBox 17"/>
          <p:cNvSpPr txBox="1"/>
          <p:nvPr/>
        </p:nvSpPr>
        <p:spPr>
          <a:xfrm>
            <a:off x="3931920" y="4754880"/>
            <a:ext cx="731520" cy="502919"/>
          </a:xfrm>
          <a:prstGeom prst="rect">
            <a:avLst/>
          </a:prstGeom>
          <a:noFill/>
        </p:spPr>
        <p:txBody>
          <a:bodyPr wrap="square" tIns="36576" bIns="36576" lIns="54864" rIns="54864">
            <a:spAutoFit/>
          </a:bodyPr>
          <a:lstStyle/>
          <a:p>
            <a:pPr algn="ctr"/>
            <a:r>
              <a:rPr sz="2000" b="1">
                <a:solidFill>
                  <a:srgbClr val="16A34A"/>
                </a:solidFill>
                <a:latin typeface="Arial"/>
              </a:rPr>
              <a:t>──►</a:t>
            </a:r>
          </a:p>
        </p:txBody>
      </p:sp>
      <p:sp>
        <p:nvSpPr>
          <p:cNvPr id="19" name="Rounded Rectangle 18"/>
          <p:cNvSpPr/>
          <p:nvPr/>
        </p:nvSpPr>
        <p:spPr>
          <a:xfrm>
            <a:off x="4709160" y="4526280"/>
            <a:ext cx="3291840" cy="960119"/>
          </a:xfrm>
          <a:prstGeom prst="roundRect">
            <a:avLst/>
          </a:prstGeom>
          <a:solidFill>
            <a:srgbClr val="FFFFFF"/>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4754880"/>
            <a:ext cx="3017520" cy="502919"/>
          </a:xfrm>
          <a:prstGeom prst="rect">
            <a:avLst/>
          </a:prstGeom>
          <a:noFill/>
        </p:spPr>
        <p:txBody>
          <a:bodyPr wrap="square" tIns="36576" bIns="36576" lIns="54864" rIns="54864">
            <a:spAutoFit/>
          </a:bodyPr>
          <a:lstStyle/>
          <a:p>
            <a:pPr algn="l"/>
            <a:r>
              <a:rPr sz="1600" b="1">
                <a:solidFill>
                  <a:srgbClr val="16A34A"/>
                </a:solidFill>
                <a:latin typeface="Arial"/>
              </a:rPr>
              <a:t>Từ khóa: "Vai trò của không khí"</a:t>
            </a:r>
          </a:p>
        </p:txBody>
      </p:sp>
      <p:sp>
        <p:nvSpPr>
          <p:cNvPr id="21" name="Rounded Rectangle 20"/>
          <p:cNvSpPr/>
          <p:nvPr/>
        </p:nvSpPr>
        <p:spPr>
          <a:xfrm>
            <a:off x="8183879" y="2194560"/>
            <a:ext cx="359359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gk_p23_hinh14_trang_web_ho_guom.png"/>
          <p:cNvPicPr>
            <a:picLocks noChangeAspect="1"/>
          </p:cNvPicPr>
          <p:nvPr/>
        </p:nvPicPr>
        <p:blipFill>
          <a:blip r:embed="rId2"/>
          <a:stretch>
            <a:fillRect/>
          </a:stretch>
        </p:blipFill>
        <p:spPr>
          <a:xfrm>
            <a:off x="8275320" y="2286000"/>
            <a:ext cx="3410712" cy="333756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3044952"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3044952" cy="329184"/>
          </a:xfrm>
          <a:prstGeom prst="rect">
            <a:avLst/>
          </a:prstGeom>
          <a:noFill/>
        </p:spPr>
        <p:txBody>
          <a:bodyPr wrap="square" tIns="36576" bIns="36576" lIns="54864" rIns="54864">
            <a:spAutoFit/>
          </a:bodyPr>
          <a:lstStyle/>
          <a:p>
            <a:pPr algn="ctr"/>
            <a:r>
              <a:rPr sz="1200" b="1">
                <a:solidFill>
                  <a:srgbClr val="FFFFFF"/>
                </a:solidFill>
                <a:latin typeface="Arial"/>
              </a:rPr>
              <a:t>VẬN DỤNG &amp; AN TOÀN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5. Thử thách: Em là nhà thám hiểm Internet an toàn</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Vận dụng kiến thức để tìm kiếm địa danh yêu thích và tuân thủ nguyên tắc an toàn</a:t>
            </a:r>
          </a:p>
        </p:txBody>
      </p:sp>
      <p:sp>
        <p:nvSpPr>
          <p:cNvPr id="6" name="Rounded Rectangle 5"/>
          <p:cNvSpPr/>
          <p:nvPr/>
        </p:nvSpPr>
        <p:spPr>
          <a:xfrm>
            <a:off x="411480" y="2194560"/>
            <a:ext cx="6858000"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6400800" cy="320040"/>
          </a:xfrm>
          <a:prstGeom prst="rect">
            <a:avLst/>
          </a:prstGeom>
          <a:noFill/>
        </p:spPr>
        <p:txBody>
          <a:bodyPr wrap="square" tIns="36576" bIns="36576" lIns="54864" rIns="54864">
            <a:spAutoFit/>
          </a:bodyPr>
          <a:lstStyle/>
          <a:p>
            <a:pPr algn="l"/>
            <a:r>
              <a:rPr sz="1700" b="1">
                <a:solidFill>
                  <a:srgbClr val="1E3A8A"/>
                </a:solidFill>
                <a:latin typeface="Arial"/>
              </a:rPr>
              <a:t>🎯 NHIỆM VỤ DÀNH CHO EM:</a:t>
            </a:r>
          </a:p>
        </p:txBody>
      </p:sp>
      <p:sp>
        <p:nvSpPr>
          <p:cNvPr id="8" name="TextBox 7"/>
          <p:cNvSpPr txBox="1"/>
          <p:nvPr/>
        </p:nvSpPr>
        <p:spPr>
          <a:xfrm>
            <a:off x="640080" y="2697480"/>
            <a:ext cx="6400800" cy="1005840"/>
          </a:xfrm>
          <a:prstGeom prst="rect">
            <a:avLst/>
          </a:prstGeom>
          <a:noFill/>
        </p:spPr>
        <p:txBody>
          <a:bodyPr wrap="square" tIns="36576" bIns="36576" lIns="54864" rIns="54864">
            <a:spAutoFit/>
          </a:bodyPr>
          <a:lstStyle/>
          <a:p>
            <a:pPr algn="l"/>
            <a:r>
              <a:rPr sz="1500" b="0">
                <a:solidFill>
                  <a:srgbClr val="0F172A"/>
                </a:solidFill>
                <a:latin typeface="Arial"/>
              </a:rPr>
              <a:t>Em hãy chọn một danh lam thắng cảnh ở quê hương em (hoặc "Văn Miếu - Quốc Tử Giám"), hãy:
  1. Xác định từ khóa tìm kiếm phù hợp.
  2. Sử dụng Google để tra cứu và ghi lại 2 thông tin thú vị em tìm được!</a:t>
            </a:r>
          </a:p>
        </p:txBody>
      </p:sp>
      <p:sp>
        <p:nvSpPr>
          <p:cNvPr id="9" name="Rounded Rectangle 8"/>
          <p:cNvSpPr/>
          <p:nvPr/>
        </p:nvSpPr>
        <p:spPr>
          <a:xfrm>
            <a:off x="640080" y="3886200"/>
            <a:ext cx="6400800" cy="1645919"/>
          </a:xfrm>
          <a:prstGeom prst="roundRect">
            <a:avLst/>
          </a:prstGeom>
          <a:solidFill>
            <a:srgbClr val="DBEAFE"/>
          </a:solidFill>
          <a:ln w="127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77639"/>
            <a:ext cx="6035040" cy="320039"/>
          </a:xfrm>
          <a:prstGeom prst="rect">
            <a:avLst/>
          </a:prstGeom>
          <a:noFill/>
        </p:spPr>
        <p:txBody>
          <a:bodyPr wrap="square" tIns="36576" bIns="36576" lIns="54864" rIns="54864">
            <a:spAutoFit/>
          </a:bodyPr>
          <a:lstStyle/>
          <a:p>
            <a:pPr algn="l"/>
            <a:r>
              <a:rPr sz="1600" b="1">
                <a:solidFill>
                  <a:srgbClr val="1E3A8A"/>
                </a:solidFill>
                <a:latin typeface="Arial"/>
              </a:rPr>
              <a:t>🛡️ QUY TẮC VÀNG KHI TÌM KIẾM TRÊN MẠNG:</a:t>
            </a:r>
          </a:p>
        </p:txBody>
      </p:sp>
      <p:sp>
        <p:nvSpPr>
          <p:cNvPr id="11" name="TextBox 10"/>
          <p:cNvSpPr txBox="1"/>
          <p:nvPr/>
        </p:nvSpPr>
        <p:spPr>
          <a:xfrm>
            <a:off x="822960" y="4343400"/>
            <a:ext cx="6035040" cy="1097280"/>
          </a:xfrm>
          <a:prstGeom prst="rect">
            <a:avLst/>
          </a:prstGeom>
          <a:noFill/>
        </p:spPr>
        <p:txBody>
          <a:bodyPr wrap="square" tIns="36576" bIns="36576" lIns="54864" rIns="54864">
            <a:spAutoFit/>
          </a:bodyPr>
          <a:lstStyle/>
          <a:p>
            <a:pPr algn="l"/>
            <a:r>
              <a:rPr sz="1400" b="0">
                <a:solidFill>
                  <a:srgbClr val="0F172A"/>
                </a:solidFill>
                <a:latin typeface="Arial"/>
              </a:rPr>
              <a:t>✅ Chỉ truy cập các trang web có nội dung lành mạnh, phục vụ học tập.
❌ Tuyệt đối không bấm vào các đường link lạ, quảng cáo nhấp nháy.
🤝 Báo ngay với thầy cô giáo hoặc bố mẹ khi gặp nội dung không an toàn.</a:t>
            </a:r>
          </a:p>
        </p:txBody>
      </p:sp>
      <p:sp>
        <p:nvSpPr>
          <p:cNvPr id="12" name="Rounded Rectangle 11"/>
          <p:cNvSpPr/>
          <p:nvPr/>
        </p:nvSpPr>
        <p:spPr>
          <a:xfrm>
            <a:off x="7452360" y="2194560"/>
            <a:ext cx="432511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afety_shield_mascot.jpg"/>
          <p:cNvPicPr>
            <a:picLocks noChangeAspect="1"/>
          </p:cNvPicPr>
          <p:nvPr/>
        </p:nvPicPr>
        <p:blipFill>
          <a:blip r:embed="rId2"/>
          <a:stretch>
            <a:fillRect/>
          </a:stretch>
        </p:blipFill>
        <p:spPr>
          <a:xfrm>
            <a:off x="7543800" y="2286000"/>
            <a:ext cx="4142232" cy="3337560"/>
          </a:xfrm>
          <a:prstGeom prst="rect">
            <a:avLst/>
          </a:prstGeom>
        </p:spPr>
      </p:pic>
    </p:spTree>
  </p:cSld>
  <p:clrMapOvr>
    <a:masterClrMapping/>
  </p:clrMapOvr>
  <p:transition spd="med">
    <p:push dir="l"/>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2807208"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2807208" cy="329184"/>
          </a:xfrm>
          <a:prstGeom prst="rect">
            <a:avLst/>
          </a:prstGeom>
          <a:noFill/>
        </p:spPr>
        <p:txBody>
          <a:bodyPr wrap="square" tIns="36576" bIns="36576" lIns="54864" rIns="54864">
            <a:spAutoFit/>
          </a:bodyPr>
          <a:lstStyle/>
          <a:p>
            <a:pPr algn="ctr"/>
            <a:r>
              <a:rPr sz="1200" b="1">
                <a:solidFill>
                  <a:srgbClr val="FFFFFF"/>
                </a:solidFill>
                <a:latin typeface="Arial"/>
              </a:rPr>
              <a:t>GHI NHỚ TRỌNG TÂM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Tổng kết kiến thức em cần ghi nhớ sau bài học</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Những nội dung cốt lõi của Tiết 1 - Bài 4 SGK Tin học 4</a:t>
            </a:r>
          </a:p>
        </p:txBody>
      </p:sp>
      <p:sp>
        <p:nvSpPr>
          <p:cNvPr id="6" name="Rounded Rectangle 5"/>
          <p:cNvSpPr/>
          <p:nvPr/>
        </p:nvSpPr>
        <p:spPr>
          <a:xfrm>
            <a:off x="411480" y="2194560"/>
            <a:ext cx="11365992" cy="3520440"/>
          </a:xfrm>
          <a:prstGeom prst="roundRect">
            <a:avLst/>
          </a:prstGeom>
          <a:solidFill>
            <a:srgbClr val="FFF7ED"/>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2194560"/>
            <a:ext cx="11365992" cy="5486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267712"/>
            <a:ext cx="10972800" cy="365759"/>
          </a:xfrm>
          <a:prstGeom prst="rect">
            <a:avLst/>
          </a:prstGeom>
          <a:noFill/>
        </p:spPr>
        <p:txBody>
          <a:bodyPr wrap="square" tIns="36576" bIns="36576" lIns="54864" rIns="54864">
            <a:spAutoFit/>
          </a:bodyPr>
          <a:lstStyle/>
          <a:p>
            <a:pPr algn="ctr"/>
            <a:r>
              <a:rPr sz="1800" b="1">
                <a:solidFill>
                  <a:srgbClr val="FFFFFF"/>
                </a:solidFill>
                <a:latin typeface="Arial"/>
              </a:rPr>
              <a:t>⭐ EM CẦN GHI NHỚ TRỌNG TÂM:</a:t>
            </a:r>
          </a:p>
        </p:txBody>
      </p:sp>
      <p:sp>
        <p:nvSpPr>
          <p:cNvPr id="9" name="TextBox 8"/>
          <p:cNvSpPr txBox="1"/>
          <p:nvPr/>
        </p:nvSpPr>
        <p:spPr>
          <a:xfrm>
            <a:off x="685800" y="2880360"/>
            <a:ext cx="7680960" cy="2697479"/>
          </a:xfrm>
          <a:prstGeom prst="rect">
            <a:avLst/>
          </a:prstGeom>
          <a:noFill/>
        </p:spPr>
        <p:txBody>
          <a:bodyPr wrap="square" tIns="36576" bIns="36576" lIns="54864" rIns="54864">
            <a:spAutoFit/>
          </a:bodyPr>
          <a:lstStyle/>
          <a:p>
            <a:pPr algn="l"/>
            <a:r>
              <a:rPr sz="1500" b="0">
                <a:solidFill>
                  <a:srgbClr val="0F172A"/>
                </a:solidFill>
                <a:latin typeface="Arial"/>
              </a:rPr>
              <a:t>1. Máy tìm kiếm (Google, Bing, Cốc Cốc...) giúp chúng ta tìm kiếm thông tin nhanh chóng và thuận tiện trên Internet.
2. Từ khóa (Keyword) là từ hoặc cụm từ ngắn gọn, chính xác thể hiện nội dung cần tìm — là chiếc chìa khóa quyết định kết quả.
3. Quy trình 4 bước tìm kiếm: (1) Xác định từ khóa ➔ (2) Mở google.com ➔ (3) Gõ từ khóa &amp; Enter ➔ (4) Chọn siêu liên kết phù hợp.
4. An toàn số: Luôn cẩn thận khi lựa chọn nguồn tin và không truy cập vào các trang web không an toàn.</a:t>
            </a:r>
          </a:p>
        </p:txBody>
      </p:sp>
      <p:sp>
        <p:nvSpPr>
          <p:cNvPr id="10" name="Rounded Rectangle 9"/>
          <p:cNvSpPr/>
          <p:nvPr/>
        </p:nvSpPr>
        <p:spPr>
          <a:xfrm>
            <a:off x="8549640" y="2880360"/>
            <a:ext cx="3063240" cy="2697479"/>
          </a:xfrm>
          <a:prstGeom prst="roundRect">
            <a:avLst/>
          </a:prstGeom>
          <a:solidFill>
            <a:srgbClr val="FFFFFF"/>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mart_owl.jpg"/>
          <p:cNvPicPr>
            <a:picLocks noChangeAspect="1"/>
          </p:cNvPicPr>
          <p:nvPr/>
        </p:nvPicPr>
        <p:blipFill>
          <a:blip r:embed="rId2"/>
          <a:stretch>
            <a:fillRect/>
          </a:stretch>
        </p:blipFill>
        <p:spPr>
          <a:xfrm>
            <a:off x="8641080" y="2971800"/>
            <a:ext cx="2880360" cy="25146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1097280"/>
            <a:ext cx="2807208" cy="329184"/>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0"/>
            <a:ext cx="2807208" cy="329184"/>
          </a:xfrm>
          <a:prstGeom prst="rect">
            <a:avLst/>
          </a:prstGeom>
          <a:noFill/>
        </p:spPr>
        <p:txBody>
          <a:bodyPr wrap="square" tIns="36576" bIns="36576" lIns="54864" rIns="54864">
            <a:spAutoFit/>
          </a:bodyPr>
          <a:lstStyle/>
          <a:p>
            <a:pPr algn="ctr"/>
            <a:r>
              <a:rPr sz="1200" b="1">
                <a:solidFill>
                  <a:srgbClr val="FFFFFF"/>
                </a:solidFill>
                <a:latin typeface="Arial"/>
              </a:rPr>
              <a:t>KẾT THÚC TIẾT HỌC 🌟</a:t>
            </a:r>
          </a:p>
        </p:txBody>
      </p:sp>
      <p:sp>
        <p:nvSpPr>
          <p:cNvPr id="4" name="TextBox 3"/>
          <p:cNvSpPr txBox="1"/>
          <p:nvPr/>
        </p:nvSpPr>
        <p:spPr>
          <a:xfrm>
            <a:off x="411480" y="1481328"/>
            <a:ext cx="11338560" cy="411480"/>
          </a:xfrm>
          <a:prstGeom prst="rect">
            <a:avLst/>
          </a:prstGeom>
          <a:noFill/>
        </p:spPr>
        <p:txBody>
          <a:bodyPr wrap="square" tIns="36576" bIns="36576" lIns="54864" rIns="54864">
            <a:spAutoFit/>
          </a:bodyPr>
          <a:lstStyle/>
          <a:p>
            <a:pPr algn="l"/>
            <a:r>
              <a:rPr sz="2300" b="1">
                <a:solidFill>
                  <a:srgbClr val="1E3A8A"/>
                </a:solidFill>
                <a:latin typeface="Arial"/>
              </a:rPr>
              <a:t>Chúc mừng các em đã hoàn thành xuất sắc tiết học!</a:t>
            </a:r>
          </a:p>
        </p:txBody>
      </p:sp>
      <p:sp>
        <p:nvSpPr>
          <p:cNvPr id="5" name="TextBox 4"/>
          <p:cNvSpPr txBox="1"/>
          <p:nvPr/>
        </p:nvSpPr>
        <p:spPr>
          <a:xfrm>
            <a:off x="411480" y="1874519"/>
            <a:ext cx="11338560" cy="274319"/>
          </a:xfrm>
          <a:prstGeom prst="rect">
            <a:avLst/>
          </a:prstGeom>
          <a:noFill/>
        </p:spPr>
        <p:txBody>
          <a:bodyPr wrap="square" tIns="36576" bIns="36576" lIns="54864" rIns="54864">
            <a:spAutoFit/>
          </a:bodyPr>
          <a:lstStyle/>
          <a:p>
            <a:pPr algn="l"/>
            <a:r>
              <a:rPr sz="1400" b="0">
                <a:solidFill>
                  <a:srgbClr val="475569"/>
                </a:solidFill>
                <a:latin typeface="Arial"/>
              </a:rPr>
              <a:t>Cùng chuẩn bị cho Tiết 2: Thực hành tìm kiếm thông tin nâng cao</a:t>
            </a:r>
          </a:p>
        </p:txBody>
      </p:sp>
      <p:sp>
        <p:nvSpPr>
          <p:cNvPr id="6" name="Rounded Rectangle 5"/>
          <p:cNvSpPr/>
          <p:nvPr/>
        </p:nvSpPr>
        <p:spPr>
          <a:xfrm>
            <a:off x="411480" y="2194560"/>
            <a:ext cx="6858000"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77440"/>
            <a:ext cx="6400800" cy="411480"/>
          </a:xfrm>
          <a:prstGeom prst="rect">
            <a:avLst/>
          </a:prstGeom>
          <a:noFill/>
        </p:spPr>
        <p:txBody>
          <a:bodyPr wrap="square" tIns="36576" bIns="36576" lIns="54864" rIns="54864">
            <a:spAutoFit/>
          </a:bodyPr>
          <a:lstStyle/>
          <a:p>
            <a:pPr algn="l"/>
            <a:r>
              <a:rPr sz="2000" b="1">
                <a:solidFill>
                  <a:srgbClr val="1E3A8A"/>
                </a:solidFill>
                <a:latin typeface="Arial"/>
              </a:rPr>
              <a:t>🎉 CÁC EM ĐÃ LÀ NHÀ THÁM HIỂM TÀI BA!</a:t>
            </a:r>
          </a:p>
        </p:txBody>
      </p:sp>
      <p:sp>
        <p:nvSpPr>
          <p:cNvPr id="8" name="TextBox 7"/>
          <p:cNvSpPr txBox="1"/>
          <p:nvPr/>
        </p:nvSpPr>
        <p:spPr>
          <a:xfrm>
            <a:off x="640080" y="2880360"/>
            <a:ext cx="6400800" cy="822959"/>
          </a:xfrm>
          <a:prstGeom prst="rect">
            <a:avLst/>
          </a:prstGeom>
          <a:noFill/>
        </p:spPr>
        <p:txBody>
          <a:bodyPr wrap="square" tIns="36576" bIns="36576" lIns="54864" rIns="54864">
            <a:spAutoFit/>
          </a:bodyPr>
          <a:lstStyle/>
          <a:p>
            <a:pPr algn="l"/>
            <a:r>
              <a:rPr sz="1600" b="0">
                <a:solidFill>
                  <a:srgbClr val="0F172A"/>
                </a:solidFill>
                <a:latin typeface="Arial"/>
              </a:rPr>
              <a:t>Hôm nay các em đã nắm vững cách chọn từ khóa chuẩn xác và làm chủ 4 bước tìm kiếm thông tin trên Internet!</a:t>
            </a:r>
          </a:p>
        </p:txBody>
      </p:sp>
      <p:sp>
        <p:nvSpPr>
          <p:cNvPr id="9" name="Rounded Rectangle 8"/>
          <p:cNvSpPr/>
          <p:nvPr/>
        </p:nvSpPr>
        <p:spPr>
          <a:xfrm>
            <a:off x="640080" y="3886200"/>
            <a:ext cx="6400800" cy="1645919"/>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77639"/>
            <a:ext cx="6035040" cy="320039"/>
          </a:xfrm>
          <a:prstGeom prst="rect">
            <a:avLst/>
          </a:prstGeom>
          <a:noFill/>
        </p:spPr>
        <p:txBody>
          <a:bodyPr wrap="square" tIns="36576" bIns="36576" lIns="54864" rIns="54864">
            <a:spAutoFit/>
          </a:bodyPr>
          <a:lstStyle/>
          <a:p>
            <a:pPr algn="l"/>
            <a:r>
              <a:rPr sz="1600" b="1">
                <a:solidFill>
                  <a:srgbClr val="1E3A8A"/>
                </a:solidFill>
                <a:latin typeface="Arial"/>
              </a:rPr>
              <a:t>📝 DẶN DÒ VỀ NHÀ:</a:t>
            </a:r>
          </a:p>
        </p:txBody>
      </p:sp>
      <p:sp>
        <p:nvSpPr>
          <p:cNvPr id="11" name="TextBox 10"/>
          <p:cNvSpPr txBox="1"/>
          <p:nvPr/>
        </p:nvSpPr>
        <p:spPr>
          <a:xfrm>
            <a:off x="822960" y="4343400"/>
            <a:ext cx="6035040" cy="1097280"/>
          </a:xfrm>
          <a:prstGeom prst="rect">
            <a:avLst/>
          </a:prstGeom>
          <a:noFill/>
        </p:spPr>
        <p:txBody>
          <a:bodyPr wrap="square" tIns="36576" bIns="36576" lIns="54864" rIns="54864">
            <a:spAutoFit/>
          </a:bodyPr>
          <a:lstStyle/>
          <a:p>
            <a:pPr algn="l"/>
            <a:r>
              <a:rPr sz="1500" b="0">
                <a:solidFill>
                  <a:srgbClr val="0F172A"/>
                </a:solidFill>
                <a:latin typeface="Arial"/>
              </a:rPr>
              <a:t>• Ôn lại 4 bước tìm kiếm thông tin bằng Google.
• Cùng bố mẹ thực hành tìm kiếm về 1 danh lam thắng cảnh yêu thích.
• Đọc trước nội dung Tiết 2 trong SGK Tin học 4.</a:t>
            </a:r>
          </a:p>
        </p:txBody>
      </p:sp>
      <p:sp>
        <p:nvSpPr>
          <p:cNvPr id="12" name="Rounded Rectangle 11"/>
          <p:cNvSpPr/>
          <p:nvPr/>
        </p:nvSpPr>
        <p:spPr>
          <a:xfrm>
            <a:off x="7452360" y="2194560"/>
            <a:ext cx="4325112"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scot_celebrate_trophy.jpg"/>
          <p:cNvPicPr>
            <a:picLocks noChangeAspect="1"/>
          </p:cNvPicPr>
          <p:nvPr/>
        </p:nvPicPr>
        <p:blipFill>
          <a:blip r:embed="rId2"/>
          <a:stretch>
            <a:fillRect/>
          </a:stretch>
        </p:blipFill>
        <p:spPr>
          <a:xfrm>
            <a:off x="7543800" y="2286000"/>
            <a:ext cx="4142232" cy="333756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TotalTime>
  <Words>17</Words>
  <Application>Microsoft Office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Monotype Corsiva</vt:lpstr>
      <vt:lpstr>Office Theme</vt:lpstr>
      <vt:lpstr>PowerPoint Presentation</vt:lpstr>
      <vt:lpstr>Môn Tin học lớp </vt:lpstr>
      <vt:lpstr>Môn Tin học lớp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Nguyên Đậu</dc:creator>
  <cp:lastModifiedBy>Nguyên Đậu</cp:lastModifiedBy>
  <cp:revision>4</cp:revision>
  <dcterms:created xsi:type="dcterms:W3CDTF">2026-08-04T15:56:52Z</dcterms:created>
  <dcterms:modified xsi:type="dcterms:W3CDTF">2026-08-04T16:29:42Z</dcterms:modified>
</cp:coreProperties>
</file>