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1371600" y="2011680"/>
            <a:ext cx="94457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Phần cứng và Phần mềm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4457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Arial"/>
              </a:rPr>
              <a:t>Tin học • Lớp 4 • Bài 1</a:t>
            </a:r>
          </a:p>
        </p:txBody>
      </p:sp>
      <p:pic>
        <p:nvPicPr>
          <p:cNvPr id="6" name="Picture 5" descr="bai1_p10_img29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4 • BÀI 1. PHẦN CỨNG VÀ PHẦN MỀM MÁY TÍNH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1B4B"/>
                </a:solidFill>
                <a:latin typeface="Arial"/>
              </a:rPr>
              <a:t>Thử đoán xem!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Em có thể sờ được bàn phím không? → CÓ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Em có thể sờ được trò chơi trong máy không? → KHÔNG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Vì sao nhỉ?</a:t>
            </a:r>
          </a:p>
        </p:txBody>
      </p:sp>
      <p:pic>
        <p:nvPicPr>
          <p:cNvPr id="9" name="Picture 8" descr="bai1_p10_img29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4 • BÀI 1. PHẦN CỨNG VÀ PHẦN MỀM MÁY TÍNH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1B4B"/>
                </a:solidFill>
                <a:latin typeface="Arial"/>
              </a:rPr>
              <a:t>Phần cứng (Hardware) là gì?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Phần cứng = Những thứ em NHÌN THẤY và SỜ ĐƯỢC: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● Màn hình, bàn phím, chuột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● Loa, tai nghe, webcam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● Ổ cứng, RAM, CPU (bên trong thân máy)</a:t>
            </a:r>
          </a:p>
        </p:txBody>
      </p:sp>
      <p:pic>
        <p:nvPicPr>
          <p:cNvPr id="9" name="Picture 8" descr="bai1_p10_img3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4 • BÀI 1. PHẦN CỨNG VÀ PHẦN MỀM MÁY TÍNH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1B4B"/>
                </a:solidFill>
                <a:latin typeface="Arial"/>
              </a:rPr>
              <a:t>Phần mềm (Software) là gì?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Phần mềm = Chương trình CHẠY BÊN TRONG máy: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● Hệ điều hành (Windows, macOS)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● Trình duyệt web (Chrome, Firefox)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● Trò chơi, phần mềm vẽ, phần mềm học</a:t>
            </a:r>
          </a:p>
        </p:txBody>
      </p:sp>
      <p:pic>
        <p:nvPicPr>
          <p:cNvPr id="9" name="Picture 8" descr="bai1_p10_img3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4 • BÀI 1. PHẦN CỨNG VÀ PHẦN MỀM MÁY TÍNH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1B4B"/>
                </a:solidFill>
                <a:latin typeface="Arial"/>
              </a:rPr>
              <a:t>So sánh: Phần cứng vs Phần mềm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Phần cứng → Như CƠ THỂ người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Phần mềm → Như TRÍ ÓC người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Máy tính cần CẢ HAI mới hoạt động được!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Không có phần cứng → không có máy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Không có phần mềm → máy không biết làm gì</a:t>
            </a:r>
          </a:p>
        </p:txBody>
      </p:sp>
      <p:pic>
        <p:nvPicPr>
          <p:cNvPr id="9" name="Picture 8" descr="bai1_p10_img3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4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1B4B"/>
                </a:solidFill>
                <a:latin typeface="Arial"/>
              </a:rPr>
              <a:t>Em hãy phân loại!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E1B4B"/>
                </a:solidFill>
                <a:latin typeface="Arial"/>
              </a:rPr>
              <a:t>Đâu là phần cứng? Đâu là phần mềm?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004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2918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E1B4B"/>
                </a:solidFill>
                <a:latin typeface="Arial"/>
              </a:rPr>
              <a:t>Bàn phím → 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32004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4516" y="32918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E1B4B"/>
                </a:solidFill>
                <a:latin typeface="Arial"/>
              </a:rPr>
              <a:t>Microsoft Word →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862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977639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E1B4B"/>
                </a:solidFill>
                <a:latin typeface="Arial"/>
              </a:rPr>
              <a:t>Chuột →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38862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977639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E1B4B"/>
                </a:solidFill>
                <a:latin typeface="Arial"/>
              </a:rPr>
              <a:t>Minecraft →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5720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6634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E1B4B"/>
                </a:solidFill>
                <a:latin typeface="Arial"/>
              </a:rPr>
              <a:t>Loa →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5916" y="45720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4516" y="46634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E1B4B"/>
                </a:solidFill>
                <a:latin typeface="Arial"/>
              </a:rPr>
              <a:t>Chrome → ?</a:t>
            </a:r>
          </a:p>
        </p:txBody>
      </p:sp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4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1B4B"/>
                </a:solidFill>
                <a:latin typeface="Arial"/>
              </a:rPr>
              <a:t>Thử thách nhanh!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E1B4B"/>
                </a:solidFill>
                <a:latin typeface="Arial"/>
              </a:rPr>
              <a:t>Em hãy nhìn quanh phòng máy: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E1B4B"/>
                </a:solidFill>
                <a:latin typeface="Arial"/>
              </a:rPr>
              <a:t>● Liệt kê 3 phần cứng em thấy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E1B4B"/>
                </a:solidFill>
                <a:latin typeface="Arial"/>
              </a:rPr>
              <a:t>● Kể 3 phần mềm em đã từng dùng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E1B4B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E1B4B"/>
                </a:solidFill>
                <a:latin typeface="Arial"/>
              </a:rPr>
              <a:t>Viết vào vở trong 3 phút!</a:t>
            </a:r>
          </a:p>
        </p:txBody>
      </p:sp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71599"/>
            <a:ext cx="105430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3730A3"/>
                </a:solidFill>
                <a:latin typeface="Arial"/>
              </a:rPr>
              <a:t>Hôm nay em đã hiểu!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2057400"/>
            <a:ext cx="7434072" cy="914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73152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2286000"/>
            <a:ext cx="9994392" cy="64008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3774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1B4B"/>
                </a:solidFill>
                <a:latin typeface="Arial"/>
              </a:rPr>
              <a:t>Phần cứng = sờ được, nhìn thấy (Hardware)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200400"/>
            <a:ext cx="73152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3200400"/>
            <a:ext cx="9994392" cy="64008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2918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1B4B"/>
                </a:solidFill>
                <a:latin typeface="Arial"/>
              </a:rPr>
              <a:t>Phần mềm = chương trình chạy bên trong (Software)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114800"/>
            <a:ext cx="73152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4114800"/>
            <a:ext cx="9994392" cy="64008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2062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1B4B"/>
                </a:solidFill>
                <a:latin typeface="Arial"/>
              </a:rPr>
              <a:t>Máy tính cần CẢ phần cứng VÀ phần mềm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914400" y="150876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Em giỏi lắm!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36876" y="3063240"/>
            <a:ext cx="7315200" cy="228599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94076" y="3337560"/>
            <a:ext cx="6400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BTVN: Về nhà, liệt kê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3 phần cứng + 3 phần mềm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1E1B4B"/>
                </a:solidFill>
                <a:latin typeface="Arial"/>
              </a:rPr>
              <a:t>của máy tính ở nhà em!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