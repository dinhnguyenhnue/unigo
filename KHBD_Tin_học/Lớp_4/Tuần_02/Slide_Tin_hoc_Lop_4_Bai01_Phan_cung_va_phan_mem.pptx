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5"/>
    <p:sldId id="257" r:id="rId4"/>
    <p:sldId id="258" r:id="rId3"/>
    <p:sldId id="259" r:id="rId2"/>
    <p:sldId id="260" r:id="rId10"/>
    <p:sldId id="261" r:id="rId11"/>
    <p:sldId id="262" r:id="rId12"/>
    <p:sldId id="263" r:id="rId13"/>
    <p:sldId id="264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6" y="1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4.xml"/><Relationship Id="rId3" Type="http://schemas.openxmlformats.org/officeDocument/2006/relationships/slide" Target="slides/slide3.xml"/><Relationship Id="rId4" Type="http://schemas.openxmlformats.org/officeDocument/2006/relationships/slide" Target="slides/slide2.xml"/><Relationship Id="rId5" Type="http://schemas.openxmlformats.org/officeDocument/2006/relationships/slide" Target="slides/slide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2D0BA-FBE9-6E44-691F-000C693EA2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E97D33-3B98-BBDE-4334-263FB7EE47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CF0E5-ADF7-8470-3B9F-91C48728E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E504DA-4D4F-4EDC-F344-F03CE86DB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549F38-FA9E-B600-327E-9BDCCF102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410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BFD97-87FB-631E-EEF8-6E51DCB45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4DE0B9-02FF-4F72-ED16-1FB31B569E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B87DC-AA2C-EDEA-982F-36A5FDC6D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6E27A9-4B0A-C4FB-C65C-DD407FABC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47FF0C-E183-66BE-709C-448A4AC57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6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744FD-7E48-FCDF-CF0B-2B23DE132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94DECC-CB72-B397-C02A-C5108354BF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31C495-26F5-512C-E243-F8AA335A8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8E351D-6FC7-D545-DF8A-EB162F5B4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B95763-201D-C4E1-EB65-4B88B137B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014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5217B-8EC9-4EA4-9045-0C817687E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8FE9A-0D5F-7AE0-E7C8-A53EE8AF7E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4AE5D0-63E8-DCD8-D6B8-306243F3FC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59FF46-C6D8-B70D-34CC-F0BBD2514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5A21F2-0257-6653-C1B4-BE4271B70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888B2D-A696-926B-CB00-30CB39A21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90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D1804-FC72-EA87-B283-0ED24BD9C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D6F214-B860-807F-5D59-775C2C3CD3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872204-513C-7EE5-A63F-ACD7E6F1F0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089B82-4A6B-0A50-33A8-F57C641AA4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7602B8-966B-D55B-DF46-EF8FE962A8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35D0A2-DDAB-2DEB-1654-64E2CF135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526C51-F9C1-C9F7-E325-985744413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CD2BB8-A738-B00D-CD4F-1E516729D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551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058C7-EC99-CA69-69A1-B71A2EE1F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82FDDE-258E-65C9-5E9B-059B5310B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88222D-5913-69EE-C0A1-2115B6A3B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364462-4379-23E8-5042-4188F2424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095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2B39AE-76E9-53E8-5AC2-AD6E83AE5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A39721-3A37-FE8B-936D-3225F2B6F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6383E3-5325-C6DD-4FD0-655FEA72A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733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9B1C8-88D4-EB75-0A5A-DBF764E94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B7FCE-F57B-B919-56DD-5EDF6227BA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BC4E80-42F9-68B4-89A4-09F4B2E311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2E4884-0004-05C1-9162-12837C41B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10837C-4E57-5E0F-EC87-6499BA034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A4D633-7171-8A0D-E4C6-6D53E0859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106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0E132-6996-68E8-4F29-37C27BB8E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434507-83A3-0D3E-B631-5AA2974E08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62259C-71C9-5E4F-343E-C0E87D750F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081087-DD77-D63D-A0AB-E7DF40F55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55EC71-8A66-0F0A-B040-0930D31AA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332627-5E94-EEB1-7186-47F0D5C6F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556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21772-A9B5-C630-07CA-DECD42CD7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DBB18D-FEE1-0190-5A10-2B09E03977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CD711D-A70F-EF10-8E36-12C26924E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F3B26D-7C72-7CF5-91E5-6B9F53032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AE76EA-4D7B-99B2-4676-A289DD637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633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B24F8F-8C52-E27E-05DE-AD92E136AB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CCC27E-F320-1CAF-FC80-1F7384CA5E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5A3655-F6DA-384A-BCB5-A32BD9B55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496872-344F-98B4-6458-BAACD263E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A6A315-6909-97E2-34A8-B9CB86B9C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4929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8B8C0F-9B11-4065-AE8C-7637290FB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032" y="829142"/>
            <a:ext cx="10198768" cy="8615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5FE732-1FF5-3147-A7B1-F7E2E0778B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D77A1F-9F08-BD8F-DAF3-65DDCDFC4F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65A47-83AD-EE80-1199-0CCBE3548B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F62C6C-6174-7774-F45D-8725FE4A30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D2C332A-3D9A-458F-2703-2BC4602A665E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940" y="136525"/>
            <a:ext cx="867744" cy="86154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0712185-E163-EB6D-9E42-C99AF00858F6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81" t="23826" r="6770" b="30087"/>
          <a:stretch>
            <a:fillRect/>
          </a:stretch>
        </p:blipFill>
        <p:spPr>
          <a:xfrm>
            <a:off x="0" y="5883441"/>
            <a:ext cx="12252960" cy="1126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347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1051560"/>
            <a:ext cx="12188952" cy="16459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3730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6858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rial"/>
              </a:rPr>
              <a:t>Phần cứng và Phần mềm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Arial"/>
              </a:rPr>
              <a:t>Tin học • Lớp 4 • Bài 1</a:t>
            </a:r>
          </a:p>
        </p:txBody>
      </p:sp>
      <p:pic>
        <p:nvPicPr>
          <p:cNvPr id="6" name="Picture 5" descr="bai1_p10_img297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152" y="1325880"/>
            <a:ext cx="3474720" cy="347472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3730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  LỚP 4 • BÀI 1. PHẦN CỨNG VÀ PHẦN MỀM MÁY TÍNH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1B4B"/>
                </a:solidFill>
                <a:latin typeface="Arial"/>
              </a:rPr>
              <a:t>Thử đoán xem!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286000"/>
            <a:ext cx="6858000" cy="338327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2286000"/>
            <a:ext cx="109728" cy="3383279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63093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1E1B4B"/>
                </a:solidFill>
                <a:latin typeface="Arial"/>
              </a:rPr>
              <a:t>Em có thể chạm tay vào bàn phím không? → CÓ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1E1B4B"/>
                </a:solidFill>
                <a:latin typeface="Arial"/>
              </a:rPr>
              <a:t>Em có thể sờ vào nhân vật trong trò chơi không? → KHÔNG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1E1B4B"/>
                </a:solidFill>
                <a:latin typeface="Arial"/>
              </a:rPr>
              <a:t>Vì sao lại như vậy?</a:t>
            </a:r>
          </a:p>
        </p:txBody>
      </p:sp>
      <p:pic>
        <p:nvPicPr>
          <p:cNvPr id="9" name="Picture 8" descr="bai1_p10_img297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2286000"/>
            <a:ext cx="4114799" cy="3383279"/>
          </a:xfrm>
          <a:prstGeom prst="rect">
            <a:avLst/>
          </a:prstGeom>
        </p:spPr>
      </p:pic>
    </p:spTree>
  </p:cSld>
  <p:clrMapOvr>
    <a:masterClrMapping/>
  </p:clrMapOvr>
  <p:transition spd="med">
    <p:push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3730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  LỚP 4 • BÀI 1. PHẦN CỨNG VÀ PHẦN MỀM MÁY TÍNH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1B4B"/>
                </a:solidFill>
                <a:latin typeface="Arial"/>
              </a:rPr>
              <a:t>Phần cứng (Hardware) là gì?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628900"/>
            <a:ext cx="3605784" cy="2788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628900"/>
            <a:ext cx="3605784" cy="914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bai1_p10_img297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7132" y="2766060"/>
            <a:ext cx="1645920" cy="1828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4360" y="4594860"/>
            <a:ext cx="333146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E1B4B"/>
                </a:solidFill>
                <a:latin typeface="Arial"/>
              </a:rPr>
              <a:t>Màn hình, bàn phím, chuột máy tính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1584" y="2628900"/>
            <a:ext cx="3605784" cy="2788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1584" y="2628900"/>
            <a:ext cx="3605784" cy="914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bai1_p10_img36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1516" y="2766060"/>
            <a:ext cx="1645920" cy="18288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428744" y="4594860"/>
            <a:ext cx="333146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E1B4B"/>
                </a:solidFill>
                <a:latin typeface="Arial"/>
              </a:rPr>
              <a:t>Loa, tai nghe, webcam thu hình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5968" y="2628900"/>
            <a:ext cx="3605784" cy="2788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25968" y="2628900"/>
            <a:ext cx="3605784" cy="914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bai1_p10_img36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05900" y="2766060"/>
            <a:ext cx="1645920" cy="18288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263128" y="4594860"/>
            <a:ext cx="333146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E1B4B"/>
                </a:solidFill>
                <a:latin typeface="Arial"/>
              </a:rPr>
              <a:t>CPU, RAM, ổ cứng bên trong thân máy</a:t>
            </a:r>
          </a:p>
        </p:txBody>
      </p:sp>
    </p:spTree>
  </p:cSld>
  <p:clrMapOvr>
    <a:masterClrMapping/>
  </p:clrMapOvr>
  <p:transition spd="med">
    <p:wip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3730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  LỚP 4 • BÀI 1. PHẦN CỨNG VÀ PHẦN MỀM MÁY TÍNH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1B4B"/>
                </a:solidFill>
                <a:latin typeface="Arial"/>
              </a:rPr>
              <a:t>Phần mềm (Software) là gì?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628900"/>
            <a:ext cx="3605784" cy="2788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628900"/>
            <a:ext cx="3605784" cy="914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bai1_p10_img36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7132" y="2766060"/>
            <a:ext cx="1645920" cy="1828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4360" y="4594860"/>
            <a:ext cx="333146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E1B4B"/>
                </a:solidFill>
                <a:latin typeface="Arial"/>
              </a:rPr>
              <a:t>Hệ điều hành Windows, macOS điều khiển máy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1584" y="2628900"/>
            <a:ext cx="3605784" cy="2788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1584" y="2628900"/>
            <a:ext cx="3605784" cy="914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bai1_p10_img36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1516" y="2766060"/>
            <a:ext cx="1645920" cy="18288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428744" y="4594860"/>
            <a:ext cx="333146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E1B4B"/>
                </a:solidFill>
                <a:latin typeface="Arial"/>
              </a:rPr>
              <a:t>Trình duyệt web Chrome, Edge lướt Internet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5968" y="2628900"/>
            <a:ext cx="3605784" cy="2788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25968" y="2628900"/>
            <a:ext cx="3605784" cy="914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bai1_p10_img36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5900" y="2766060"/>
            <a:ext cx="1645920" cy="18288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263128" y="4594860"/>
            <a:ext cx="333146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E1B4B"/>
                </a:solidFill>
                <a:latin typeface="Arial"/>
              </a:rPr>
              <a:t>Phần mềm soạn thảo Word, phần mềm vẽ Paint</a:t>
            </a:r>
          </a:p>
        </p:txBody>
      </p:sp>
    </p:spTree>
  </p:cSld>
  <p:clrMapOvr>
    <a:masterClrMapping/>
  </p:clrMapOvr>
  <p:transition spd="med">
    <p:wip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3730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  LỚP 4 • BÀI 1. PHẦN CỨNG VÀ PHẦN MỀM MÁY TÍNH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1B4B"/>
                </a:solidFill>
                <a:latin typeface="Arial"/>
              </a:rPr>
              <a:t>Mối quan hệ Phần cứng &amp; Phần mềm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628900"/>
            <a:ext cx="3605784" cy="2788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628900"/>
            <a:ext cx="3605784" cy="914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bai1_p10_img3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7132" y="2766060"/>
            <a:ext cx="1645920" cy="1828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4360" y="4594860"/>
            <a:ext cx="333146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E1B4B"/>
                </a:solidFill>
                <a:latin typeface="Arial"/>
              </a:rPr>
              <a:t>Phần cứng như CƠ THỂ của máy tính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1584" y="2628900"/>
            <a:ext cx="3605784" cy="2788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1584" y="2628900"/>
            <a:ext cx="3605784" cy="914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bai1_p10_img36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1516" y="2766060"/>
            <a:ext cx="1645920" cy="18288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428744" y="4594860"/>
            <a:ext cx="333146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E1B4B"/>
                </a:solidFill>
                <a:latin typeface="Arial"/>
              </a:rPr>
              <a:t>Phần mềm như TRÍ ÓC điều khiển máy tính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5968" y="2628900"/>
            <a:ext cx="3605784" cy="2788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25968" y="2628900"/>
            <a:ext cx="3605784" cy="914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bai1_p10_img3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5900" y="2766060"/>
            <a:ext cx="1645920" cy="18288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263128" y="4594860"/>
            <a:ext cx="333146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E1B4B"/>
                </a:solidFill>
                <a:latin typeface="Arial"/>
              </a:rPr>
              <a:t>Máy tính cần CẢ HAI để hoạt động</a:t>
            </a:r>
          </a:p>
        </p:txBody>
      </p:sp>
    </p:spTree>
  </p:cSld>
  <p:clrMapOvr>
    <a:masterClrMapping/>
  </p:clrMapOvr>
  <p:transition spd="med">
    <p:wip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  LỚP 4 • LUYỆN TẬP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1B4B"/>
                </a:solidFill>
                <a:latin typeface="Arial"/>
              </a:rPr>
              <a:t>Em hãy phân loại!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E1B4B"/>
                </a:solidFill>
                <a:latin typeface="Arial"/>
              </a:rPr>
              <a:t>Phân loại từng thiết bị/chương trình: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017520"/>
            <a:ext cx="5522976" cy="128015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bai1_p10_img297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154679"/>
            <a:ext cx="1280160" cy="10058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103120" y="3154679"/>
            <a:ext cx="3785616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E1B4B"/>
                </a:solidFill>
                <a:latin typeface="Arial"/>
              </a:rPr>
              <a:t>Bàn phím ↔ Phần cứng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08776" y="3017520"/>
            <a:ext cx="5522976" cy="128015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bai1_p10_img36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1656" y="3154679"/>
            <a:ext cx="1280160" cy="10058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854696" y="3154679"/>
            <a:ext cx="3785616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E1B4B"/>
                </a:solidFill>
                <a:latin typeface="Arial"/>
              </a:rPr>
              <a:t>Microsoft Word ↔ Phần mềm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526279"/>
            <a:ext cx="5522976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bai1_p10_img36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663440"/>
            <a:ext cx="1280160" cy="100583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103120" y="4663440"/>
            <a:ext cx="3785616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E1B4B"/>
                </a:solidFill>
                <a:latin typeface="Arial"/>
              </a:rPr>
              <a:t>Chuột máy tính ↔ Phần cứng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08776" y="4526279"/>
            <a:ext cx="5522976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bai1_p10_img36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1656" y="4663440"/>
            <a:ext cx="1280160" cy="100583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854696" y="4663440"/>
            <a:ext cx="3785616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E1B4B"/>
                </a:solidFill>
                <a:latin typeface="Arial"/>
              </a:rPr>
              <a:t>Trình duyệt Chrome ↔ Phần mềm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6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8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3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5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0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2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7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9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>
    <p:wip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  LỚP 4 • THỬ THÁCH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1B4B"/>
                </a:solidFill>
                <a:latin typeface="Arial"/>
              </a:rPr>
              <a:t>Thử thách nhanh!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286000"/>
            <a:ext cx="6400800" cy="338327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2286000"/>
            <a:ext cx="109728" cy="3383279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58521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1E1B4B"/>
                </a:solidFill>
                <a:latin typeface="Arial"/>
              </a:rPr>
              <a:t>Quan sát phòng máy và thực hiện:</a:t>
            </a:r>
          </a:p>
        </p:txBody>
      </p:sp>
      <p:pic>
        <p:nvPicPr>
          <p:cNvPr id="9" name="Picture 8" descr="bai1_p10_img297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2377440"/>
            <a:ext cx="4572000" cy="3200399"/>
          </a:xfrm>
          <a:prstGeom prst="rect">
            <a:avLst/>
          </a:prstGeom>
        </p:spPr>
      </p:pic>
    </p:spTree>
  </p:cSld>
  <p:clrMapOvr>
    <a:masterClrMapping/>
  </p:clrMapOvr>
  <p:transition spd="med">
    <p:cover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1188719"/>
            <a:ext cx="11091672" cy="448055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188719"/>
            <a:ext cx="11091672" cy="91440"/>
          </a:xfrm>
          <a:prstGeom prst="rect">
            <a:avLst/>
          </a:prstGeom>
          <a:solidFill>
            <a:srgbClr val="3730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1371599"/>
            <a:ext cx="105430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3730A3"/>
                </a:solidFill>
                <a:latin typeface="Arial"/>
              </a:rPr>
              <a:t>Hôm nay em đã hiểu!</a:t>
            </a:r>
          </a:p>
        </p:txBody>
      </p:sp>
      <p:sp>
        <p:nvSpPr>
          <p:cNvPr id="6" name="Rectangle 5"/>
          <p:cNvSpPr/>
          <p:nvPr/>
        </p:nvSpPr>
        <p:spPr>
          <a:xfrm>
            <a:off x="2377440" y="2057400"/>
            <a:ext cx="7434072" cy="914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2286000"/>
            <a:ext cx="73152" cy="6400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97280" y="2286000"/>
            <a:ext cx="9994392" cy="64008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423160"/>
            <a:ext cx="9445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1B4B"/>
                </a:solidFill>
                <a:latin typeface="Arial"/>
              </a:rPr>
              <a:t>Phần cứng: nhìn thấy và sờ được (Hardware)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3291840"/>
            <a:ext cx="73152" cy="640079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97280" y="3291840"/>
            <a:ext cx="9994392" cy="640079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3429000"/>
            <a:ext cx="9445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1B4B"/>
                </a:solidFill>
                <a:latin typeface="Arial"/>
              </a:rPr>
              <a:t>Phần mềm: chương trình chạy bên trong (Software)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4297680"/>
            <a:ext cx="73152" cy="6400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97280" y="4297680"/>
            <a:ext cx="9994392" cy="64008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4434840"/>
            <a:ext cx="9445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1B4B"/>
                </a:solidFill>
                <a:latin typeface="Arial"/>
              </a:rPr>
              <a:t>Phần cứng và phần mềm luôn đồng hành cùng nhau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3730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78308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Em giỏi lắm!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436876" y="3337560"/>
            <a:ext cx="731520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894076" y="3611879"/>
            <a:ext cx="6400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0">
                <a:solidFill>
                  <a:srgbClr val="1E1B4B"/>
                </a:solidFill>
                <a:latin typeface="Arial"/>
              </a:rPr>
              <a:t>BTVN: Liệt kê 3 phần cứng và</a:t>
            </a:r>
          </a:p>
          <a:p>
            <a:pPr algn="ctr">
              <a:spcAft>
                <a:spcPts val="600"/>
              </a:spcAft>
            </a:pPr>
            <a:r>
              <a:rPr sz="2000" b="0">
                <a:solidFill>
                  <a:srgbClr val="1E1B4B"/>
                </a:solidFill>
                <a:latin typeface="Arial"/>
              </a:rPr>
              <a:t>3 phần mềm của máy tính ở nhà em!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17</Words>
  <Application>Microsoft Office PowerPoint</Application>
  <PresentationFormat>Widescreen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Monotype Corsiva</vt:lpstr>
      <vt:lpstr>Office Theme</vt:lpstr>
      <vt:lpstr>PowerPoint Presentation</vt:lpstr>
      <vt:lpstr>Môn Tin học lớp </vt:lpstr>
      <vt:lpstr>Môn Tin học lớp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Nguyên Đậu</dc:creator>
  <cp:lastModifiedBy>Nguyên Đậu</cp:lastModifiedBy>
  <cp:revision>4</cp:revision>
  <dcterms:created xsi:type="dcterms:W3CDTF">2026-08-04T15:56:52Z</dcterms:created>
  <dcterms:modified xsi:type="dcterms:W3CDTF">2026-08-04T16:29:42Z</dcterms:modified>
</cp:coreProperties>
</file>