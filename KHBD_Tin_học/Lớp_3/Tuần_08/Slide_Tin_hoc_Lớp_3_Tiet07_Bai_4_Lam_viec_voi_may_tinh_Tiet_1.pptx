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5F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3474720" cy="365760"/>
          </a:xfrm>
          <a:prstGeom prst="roundRect">
            <a:avLst>
              <a:gd name="adj" fmla="val 50000"/>
            </a:avLst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TIN HỌC LỚP 3 • TUẦN 8 • TIẾT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4782D"/>
                </a:solidFill>
                <a:latin typeface="Arial"/>
              </a:defRPr>
            </a:pPr>
            <a:r>
              <a:t>BÀI 4: LÀM VIỆC VỚI</a:t>
            </a:r>
            <a:br/>
            <a:r>
              <a:t>MÁY TÍNH (TIẾT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464646"/>
                </a:solidFill>
                <a:latin typeface="Arial"/>
              </a:defRPr>
            </a:pPr>
            <a:r>
              <a:t>Tư thế ngồi chuẩn • Bảo vệ mắt &amp; Cột sống • Bật/Tắt máy an toàn</a:t>
            </a:r>
          </a:p>
        </p:txBody>
      </p:sp>
      <p:pic>
        <p:nvPicPr>
          <p:cNvPr id="6" name="Picture 5" descr="posture_sitting_diagram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280160"/>
            <a:ext cx="47548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15568"/>
            <a:ext cx="2560320" cy="320040"/>
          </a:xfrm>
          <a:prstGeom prst="roundRect">
            <a:avLst>
              <a:gd name="adj" fmla="val 50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KHỞI ĐỘNG 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Arial"/>
              </a:defRPr>
            </a:pPr>
            <a:r>
              <a:t>Tư thế ngồi nào giúp em học tốt mà không mỏi?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486400" cy="3474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937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82828"/>
                </a:solidFill>
                <a:latin typeface="Arial"/>
              </a:defRPr>
            </a:pPr>
            <a:r>
              <a:t>👀 Thử thách đầu giờ:</a:t>
            </a:r>
            <a:br/>
            <a:br/>
            <a:r>
              <a:t>• Nếu ngồi cong lưng, dí sát mắt vào màn hình thì điều gì sẽ xảy ra? (Mỏi lưng, đau cổ, mờ mắt, cận thị!).</a:t>
            </a:r>
            <a:br/>
            <a:br/>
            <a:r>
              <a:t>• Khoảng cách an toàn từ mắt đến màn hình là bao nhiêu?</a:t>
            </a:r>
            <a:br/>
            <a:r>
              <a:t>👉 Từ 50cm đến 70cm (khoảng 1 sải tay nhỏ của em)!</a:t>
            </a:r>
            <a:br/>
            <a:br/>
            <a:r>
              <a:t>Cùng khám phá tư thế ngồi chuẩn ngay sau đây!</a:t>
            </a:r>
          </a:p>
        </p:txBody>
      </p:sp>
      <p:pic>
        <p:nvPicPr>
          <p:cNvPr id="6" name="Picture 5" descr="p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11680"/>
            <a:ext cx="493776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15568"/>
            <a:ext cx="2560320" cy="320040"/>
          </a:xfrm>
          <a:prstGeom prst="roundRect">
            <a:avLst>
              <a:gd name="adj" fmla="val 50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KHÁM PHÁ 1 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Arial"/>
              </a:defRPr>
            </a:pPr>
            <a:r>
              <a:t>Quy tắc tư thế ngồi chuẩn và bảo vệ sức khỏe</a:t>
            </a:r>
          </a:p>
        </p:txBody>
      </p:sp>
      <p:pic>
        <p:nvPicPr>
          <p:cNvPr id="4" name="Picture 3" descr="posture_sitting_diagram_v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11680"/>
            <a:ext cx="1069848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15568"/>
            <a:ext cx="2560320" cy="320040"/>
          </a:xfrm>
          <a:prstGeom prst="roundRect">
            <a:avLst>
              <a:gd name="adj" fmla="val 50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KHÁM PHÁ 2 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Arial"/>
              </a:defRPr>
            </a:pPr>
            <a:r>
              <a:t>Quy trình Bật và Tắt máy tính đúng chuẩn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5212080" cy="3474720"/>
          </a:xfrm>
          <a:prstGeom prst="roundRect">
            <a:avLst>
              <a:gd name="adj" fmla="val 4000"/>
            </a:avLst>
          </a:prstGeom>
          <a:solidFill>
            <a:srgbClr val="EBFFF0"/>
          </a:solidFill>
          <a:ln w="25400">
            <a:solidFill>
              <a:srgbClr val="28A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82828"/>
                </a:solidFill>
                <a:latin typeface="Arial"/>
              </a:defRPr>
            </a:pPr>
            <a:r>
              <a:t>🟢 CÁCH BẬT MÁY TÍNH:</a:t>
            </a:r>
            <a:br/>
            <a:br/>
            <a:r>
              <a:t>1. Bấm nút Power trên Thân máy (CPU).</a:t>
            </a:r>
            <a:br/>
            <a:r>
              <a:t>2. Bấm nút Power trên Màn hình.</a:t>
            </a:r>
            <a:br/>
            <a:r>
              <a:t>3. Chờ màn hình khởi động vào Windows.</a:t>
            </a:r>
            <a:br/>
            <a:r>
              <a:t>👉 Nhấn dứt khoát, không nhấn giữ lâu.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011680"/>
            <a:ext cx="5212080" cy="3474720"/>
          </a:xfrm>
          <a:prstGeom prst="roundRect">
            <a:avLst>
              <a:gd name="adj" fmla="val 4000"/>
            </a:avLst>
          </a:prstGeom>
          <a:solidFill>
            <a:srgbClr val="FFF5EB"/>
          </a:solidFill>
          <a:ln w="25400">
            <a:solidFill>
              <a:srgbClr val="FF6B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2286000"/>
            <a:ext cx="4663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>
                <a:solidFill>
                  <a:srgbClr val="282828"/>
                </a:solidFill>
                <a:latin typeface="Arial"/>
              </a:defRPr>
            </a:pPr>
            <a:r>
              <a:t>🔴 CÁCH TẮT MÁY (SHUT DOWN):</a:t>
            </a:r>
            <a:br/>
            <a:br/>
            <a:r>
              <a:t>1. Nháy chuột vào nút Start góc trái.</a:t>
            </a:r>
            <a:br/>
            <a:r>
              <a:t>2. Chọn biểu tượng Power ➔ Chọn Shut down.</a:t>
            </a:r>
            <a:br/>
            <a:r>
              <a:t>3. Chờ thùng máy tắt hẳn rồi tắt màn hình.</a:t>
            </a:r>
            <a:br/>
            <a:r>
              <a:t>⚠️ Tuyệt đối không rút phích cắm đột ngột!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115568"/>
            <a:ext cx="2560320" cy="320040"/>
          </a:xfrm>
          <a:prstGeom prst="roundRect">
            <a:avLst>
              <a:gd name="adj" fmla="val 50000"/>
            </a:avLst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GHI NHỚ 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2744"/>
                </a:solidFill>
                <a:latin typeface="Arial"/>
              </a:defRPr>
            </a:pPr>
            <a:r>
              <a:t>Những kiến thức cốt lõi em cần nhớ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011680"/>
            <a:ext cx="9966960" cy="3474720"/>
          </a:xfrm>
          <a:prstGeom prst="roundRect">
            <a:avLst>
              <a:gd name="adj" fmla="val 4000"/>
            </a:avLst>
          </a:prstGeom>
          <a:solidFill>
            <a:srgbClr val="FFF3CD"/>
          </a:solidFill>
          <a:ln w="31750">
            <a:solidFill>
              <a:srgbClr val="FF9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80160" y="2148840"/>
            <a:ext cx="9601200" cy="41148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67128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"/>
              </a:defRPr>
            </a:pPr>
            <a:r>
              <a:t>HỘP KẾT LUẬN — LÀM VIỆC VỚI MÁY TÍNH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51760"/>
            <a:ext cx="92354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Ngồi thẳng lưng, mắt ngang đỉnh màn hình, cách màn hình 50 - 70 cm.</a:t>
            </a:r>
          </a:p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Ánh sáng phòng học phải đầy đủ, không để ánh sáng chói vào mắt.</a:t>
            </a:r>
          </a:p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Quy tắc 20-20-20: Mỗi 20 phút nhìn xa thư giãn mắt trong 20 giây.</a:t>
            </a:r>
          </a:p>
          <a:p>
            <a:pPr>
              <a:spcAft>
                <a:spcPts val="800"/>
              </a:spcAft>
              <a:defRPr sz="1700" b="1">
                <a:solidFill>
                  <a:srgbClr val="B45000"/>
                </a:solidFill>
                <a:latin typeface="Arial"/>
              </a:defRPr>
            </a:pPr>
            <a:r>
              <a:t>⭐  Bật máy bằng nút Power; Tắt máy chuẩn qua Start ➔ Power ➔ Shut down!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91695" cy="4754880"/>
          </a:xfrm>
          <a:prstGeom prst="rect">
            <a:avLst/>
          </a:prstGeom>
          <a:solidFill>
            <a:srgbClr val="F5FC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4782D"/>
                </a:solidFill>
                <a:latin typeface="Arial"/>
              </a:defRPr>
            </a:pPr>
            <a:r>
              <a:t>CHÚC CÁC EM LUÔN KHỎE MẠNH!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3C3C3C"/>
                </a:solidFill>
                <a:latin typeface="Arial"/>
              </a:defRPr>
            </a:pPr>
            <a:r>
              <a:t>Hãy luôn giữ tư thế ngồi đúng chuẩn mỗi khi học tập nhé!</a:t>
            </a:r>
            <a:br/>
            <a:br/>
            <a:r>
              <a:t>Hẹn gặp lại các em ở Tiết 2 tuần sau! 🌟</a:t>
            </a:r>
          </a:p>
        </p:txBody>
      </p:sp>
      <p:pic>
        <p:nvPicPr>
          <p:cNvPr id="5" name="Picture 4" descr="mascot_celebrate_troph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84048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