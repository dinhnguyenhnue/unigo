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61CADFC-E468-A9CF-CA9D-3603C11068A9}"/>
              </a:ext>
            </a:extLst>
          </p:cNvPr>
          <p:cNvSpPr txBox="1"/>
          <p:nvPr/>
        </p:nvSpPr>
        <p:spPr>
          <a:xfrm>
            <a:off x="844216" y="471493"/>
            <a:ext cx="10503568" cy="1128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4400" b="1" dirty="0">
                <a:solidFill>
                  <a:srgbClr val="244498"/>
                </a:solidFill>
                <a:latin typeface="Arial" panose="020B0604020202020204" pitchFamily="34" charset="0"/>
                <a:ea typeface="Crimson Pro Bold"/>
                <a:cs typeface="Arial" panose="020B0604020202020204" pitchFamily="34" charset="0"/>
                <a:sym typeface="Crimson Pro Bold"/>
              </a:rPr>
              <a:t>TRƯỜNG TIỂU HỌC VÀ THCS UNIGO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CC6F9-9D0B-8FA1-C7A3-6C656AB9CD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80673"/>
            <a:ext cx="11887200" cy="376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4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AB71-A960-5C29-67C4-E061282D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315" y="215531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6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F47A-2A03-62D2-8A5D-F03932A4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E052A-67C4-3C30-0BE8-A144FDC5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463" y="335847"/>
            <a:ext cx="3826042" cy="86154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Môn Tin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học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lớp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3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9">
            <a:extLst>
              <a:ext uri="{FF2B5EF4-FFF2-40B4-BE49-F238E27FC236}">
                <a16:creationId xmlns:a16="http://schemas.microsoft.com/office/drawing/2014/main" id="{9F8C78EA-1C6B-6C35-6191-129F37672DA8}"/>
              </a:ext>
            </a:extLst>
          </p:cNvPr>
          <p:cNvSpPr txBox="1"/>
          <p:nvPr/>
        </p:nvSpPr>
        <p:spPr>
          <a:xfrm>
            <a:off x="320174" y="2413337"/>
            <a:ext cx="11551651" cy="10156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dirty="0">
                <a:solidFill>
                  <a:schemeClr val="tx2">
                    <a:lumMod val="75000"/>
                    <a:lumOff val="25000"/>
                  </a:schemeClr>
                </a:solidFill>
                <a:latin typeface="Monotype Corsiva" panose="03010101010201010101" pitchFamily="66" charset="0"/>
                <a:ea typeface="Monggirella script"/>
                <a:cs typeface="Monggirella script"/>
                <a:sym typeface="Monggirella script"/>
              </a:rPr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292696729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Bài 3. Máy tính và em 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1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rial"/>
              </a:defRPr>
            </a:pPr>
            <a:r>
              <a:t>Tin học • Lớp 3 • Tiết 3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3 • VÍ DỤ MINH HỌA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7C2D12"/>
                </a:solidFill>
                <a:latin typeface="Arial"/>
              </a:defRPr>
            </a:pPr>
            <a:r>
              <a:t>Lợi ích tuyệt vời của máy tính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4206240" cy="33832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" cy="338327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3749039" cy="28346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Học tập trực tuyến, tìm kiếm tri thức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Vẽ tranh, nghe nhạc, giải trí lành mạnh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Liên lạc với người thân, bạn bè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• Lưu trữ tài liệu học tập ngăn nắp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286000"/>
            <a:ext cx="6793992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3 • QUY CHUẨN TRỰC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600" b="1">
                <a:solidFill>
                  <a:srgbClr val="7C2D12"/>
                </a:solidFill>
                <a:latin typeface="Arial"/>
              </a:defRPr>
            </a:pPr>
            <a:r>
              <a:t>Tác hại khi sử dụng máy tính sai cách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82880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Ngồi lâu gây mỏi mắt và cận thị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54096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054096"/>
            <a:ext cx="1828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63824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Nghiện trò chơi điện tử, lười vận động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22191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22191"/>
            <a:ext cx="18288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Nguy cơ tiếp xúc thông tin không lành mạnh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90288"/>
            <a:ext cx="5669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590288"/>
            <a:ext cx="18288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00016"/>
            <a:ext cx="5120640" cy="420623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Thức khuya ảnh hưởng đến sức khỏe</a:t>
            </a:r>
          </a:p>
        </p:txBody>
      </p:sp>
      <p:pic>
        <p:nvPicPr>
          <p:cNvPr id="18" name="Picture 17" descr="learn2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330952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3 • BÀI HỌC VÀ KẾT LUẬN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19"/>
            <a:ext cx="7772400" cy="8229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79"/>
            <a:ext cx="731520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C2410C"/>
                </a:solidFill>
                <a:latin typeface="Arial"/>
              </a:defRPr>
            </a:pPr>
            <a:r>
              <a:t>💬 Thời gian sử dụng máy tính hợp lý mỗi ngày là bao nhiêu?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7315200" cy="1188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Mỗi lần sử dụng không quá 30 - 45 phút.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0F172A"/>
                </a:solidFill>
                <a:latin typeface="Arial"/>
              </a:defRPr>
            </a:pPr>
            <a:r>
              <a:t>👉 Nghỉ ngơi mắt và vận động nhẹ giữa các giờ học.</a:t>
            </a:r>
          </a:p>
        </p:txBody>
      </p:sp>
      <p:pic>
        <p:nvPicPr>
          <p:cNvPr id="8" name="Picture 7" descr="learn2_car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19"/>
            <a:ext cx="2926080" cy="2103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526279"/>
            <a:ext cx="11091672" cy="11430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526279"/>
            <a:ext cx="182880" cy="1143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59"/>
            <a:ext cx="10543032" cy="7772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000" b="1">
                <a:solidFill>
                  <a:srgbClr val="9A3412"/>
                </a:solidFill>
                <a:latin typeface="Arial"/>
              </a:defRPr>
            </a:pPr>
            <a:r>
              <a:t>💡 KẾT LUẬN: Máy tính là người bạn hữu ích. Hãy sử dụng điều độ, khoa học để bảo vệ sức khỏe bản thân!</a:t>
            </a:r>
          </a:p>
        </p:txBody>
      </p:sp>
    </p:spTree>
  </p:cSld>
  <p:clrMapOvr>
    <a:masterClrMapping/>
  </p:clrMapOvr>
  <p:transition spd="med">
    <p:cover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5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  LỚP 3 • THỬ THÁCH TRẮC NGHIỆM VUI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Arial"/>
              </a:defRPr>
            </a:pPr>
            <a:r>
              <a:t>❓ Hành động nào sau đây là NÊN LÀM khi sử dụng máy tính?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A. Chơi game liên tục 4 tiếng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237744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54496" y="237744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60604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B. Dùng máy tính học Tiếng Anh 30 phút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C. Vừa ăn bánh vừa gõ phím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4069080"/>
            <a:ext cx="5477256" cy="146304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4069080"/>
            <a:ext cx="137160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4297680"/>
            <a:ext cx="5020056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l">
              <a:defRPr sz="1900" b="1">
                <a:solidFill>
                  <a:srgbClr val="78350F"/>
                </a:solidFill>
                <a:latin typeface="Arial"/>
              </a:defRPr>
            </a:pPr>
            <a:r>
              <a:t>D. Để máy tính gần cốc nước ngọt</a:t>
            </a:r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Bài học kết thúc!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Arial"/>
              </a:defRPr>
            </a:pPr>
            <a:r>
              <a:t>BTVN: Lập thời gian biểu học máy tính trong tuần của em!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