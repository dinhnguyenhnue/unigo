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96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i1_p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6625" y="1188720"/>
            <a:ext cx="3532909" cy="4572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797040" y="1097280"/>
            <a:ext cx="5212080" cy="4754880"/>
          </a:xfrm>
          <a:prstGeom prst="roundRect">
            <a:avLst>
              <a:gd name="adj" fmla="val 3000"/>
            </a:avLst>
          </a:prstGeom>
          <a:noFill/>
          <a:ln w="38100">
            <a:solidFill>
              <a:srgbClr val="FF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280160"/>
            <a:ext cx="685800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4114800" cy="457200"/>
          </a:xfrm>
          <a:prstGeom prst="roundRect">
            <a:avLst>
              <a:gd name="adj" fmla="val 30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/>
              </a:rPr>
              <a:t>TIN HỌC LỚP 3  •  NĂM HỌC 2026 –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5943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196F3"/>
                </a:solidFill>
                <a:latin typeface="Times New Roman"/>
              </a:rPr>
              <a:t>Bài 1</a:t>
            </a:r>
          </a:p>
          <a:p>
            <a:pPr>
              <a:spcBef>
                <a:spcPts val="400"/>
              </a:spcBef>
            </a:pPr>
            <a:r>
              <a:rPr sz="2800" b="1">
                <a:solidFill>
                  <a:srgbClr val="0D1F3C"/>
                </a:solidFill>
                <a:latin typeface="Times New Roman"/>
              </a:rPr>
              <a:t>THÔNG TIN VÀ QUYẾT ĐỊNH</a:t>
            </a:r>
          </a:p>
          <a:p>
            <a:pPr>
              <a:spcBef>
                <a:spcPts val="800"/>
              </a:spcBef>
            </a:pPr>
            <a:r>
              <a:rPr sz="1600" i="1">
                <a:solidFill>
                  <a:srgbClr val="666666"/>
                </a:solidFill>
                <a:latin typeface="Times New Roman"/>
              </a:rPr>
              <a:t>Chủ đề: Thông tin quanh 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D1F3C"/>
                </a:solidFill>
                <a:latin typeface="Times New Roman"/>
              </a:rPr>
              <a:t>Trường TH &amp; THCS UNIGO</a:t>
            </a:r>
          </a:p>
          <a:p>
            <a:r>
              <a:rPr sz="1600">
                <a:solidFill>
                  <a:srgbClr val="666666"/>
                </a:solidFill>
                <a:latin typeface="Times New Roman"/>
              </a:rPr>
              <a:t>Giáo viên: Đậu Đình Nguyên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713232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96F3"/>
                </a:solidFill>
                <a:latin typeface="Times New Roman"/>
              </a:defRPr>
            </a:pPr>
            <a:r>
              <a:t>🎯  Mục tiêu bài học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6400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2196F3"/>
                </a:solidFill>
                <a:latin typeface="Times New Roman"/>
              </a:rPr>
              <a:t>●  </a:t>
            </a:r>
            <a:r>
              <a:rPr sz="1800">
                <a:solidFill>
                  <a:srgbClr val="0D1F3C"/>
                </a:solidFill>
                <a:latin typeface="Times New Roman"/>
              </a:rPr>
              <a:t>Sau tiết học, học sinh sẽ: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2196F3"/>
                </a:solidFill>
                <a:latin typeface="Times New Roman"/>
              </a:rPr>
              <a:t>●  </a:t>
            </a:r>
            <a:r>
              <a:rPr sz="1800">
                <a:solidFill>
                  <a:srgbClr val="0D1F3C"/>
                </a:solidFill>
                <a:latin typeface="Times New Roman"/>
              </a:rPr>
              <a:t>Chăm chỉ: Chủ động tìm hiểu thông tin trong cuộc sống hằng ngày.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2196F3"/>
                </a:solidFill>
                <a:latin typeface="Times New Roman"/>
              </a:rPr>
              <a:t>●  </a:t>
            </a:r>
            <a:r>
              <a:rPr sz="1800">
                <a:solidFill>
                  <a:srgbClr val="0D1F3C"/>
                </a:solidFill>
                <a:latin typeface="Times New Roman"/>
              </a:rPr>
              <a:t>Trung thực: Nhận biết và không lan truyền thông tin sai lệch.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2196F3"/>
                </a:solidFill>
                <a:latin typeface="Times New Roman"/>
              </a:rPr>
              <a:t>●  </a:t>
            </a:r>
            <a:r>
              <a:rPr sz="1800">
                <a:solidFill>
                  <a:srgbClr val="0D1F3C"/>
                </a:solidFill>
                <a:latin typeface="Times New Roman"/>
              </a:rPr>
              <a:t>Trách nhiệm: Biết kiểm tra thông tin trước khi ra quyết định.</a:t>
            </a:r>
          </a:p>
        </p:txBody>
      </p:sp>
      <p:pic>
        <p:nvPicPr>
          <p:cNvPr id="6" name="Picture 5" descr="bai1_p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0664" y="1188720"/>
            <a:ext cx="3391592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196F3"/>
                </a:solidFill>
                <a:latin typeface="Times New Roman"/>
              </a:defRPr>
            </a:pPr>
            <a:r>
              <a:t>🎮  Khởi động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2196F3"/>
                </a:solidFill>
                <a:latin typeface="Times New Roman"/>
              </a:rPr>
              <a:t>●  </a:t>
            </a:r>
            <a:r>
              <a:rPr sz="1800">
                <a:solidFill>
                  <a:srgbClr val="0D1F3C"/>
                </a:solidFill>
                <a:latin typeface="Times New Roman"/>
              </a:rPr>
              <a:t>Hỏi: "Dự báo thời tiết là loại thông tin gì? Nó giúp em quyết định điều gì?"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188720"/>
            <a:ext cx="492252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i1_p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891" y="1325880"/>
            <a:ext cx="3179618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68324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778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68912" y="1188720"/>
            <a:ext cx="109728" cy="43891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196F3"/>
                </a:solidFill>
                <a:latin typeface="Times New Roman"/>
              </a:defRPr>
            </a:pPr>
            <a:r>
              <a:t>📖  Thông tin là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2196F3"/>
                </a:solidFill>
                <a:latin typeface="Times New Roman"/>
              </a:rPr>
              <a:t>●  </a:t>
            </a:r>
            <a:r>
              <a:rPr sz="1800">
                <a:solidFill>
                  <a:srgbClr val="0D1F3C"/>
                </a:solidFill>
                <a:latin typeface="Times New Roman"/>
              </a:rPr>
              <a:t>Chiếu hình ảnh: biển báo giao thông, tiếng chuông, sách vở, video.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2196F3"/>
                </a:solidFill>
                <a:latin typeface="Times New Roman"/>
              </a:rPr>
              <a:t>●  </a:t>
            </a:r>
            <a:r>
              <a:rPr sz="1800">
                <a:solidFill>
                  <a:srgbClr val="0D1F3C"/>
                </a:solidFill>
                <a:latin typeface="Times New Roman"/>
              </a:rPr>
              <a:t>Hỏi: "Mỗi hình ảnh truyền đến em điều gì?"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88720"/>
            <a:ext cx="502920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i1_pag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831" y="1325880"/>
            <a:ext cx="3179618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6052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196F3"/>
                </a:solidFill>
                <a:latin typeface="Times New Roman"/>
              </a:defRPr>
            </a:pPr>
            <a:r>
              <a:t>📝  Thông tin giúp ta quyết định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2196F3"/>
                </a:solidFill>
                <a:latin typeface="Times New Roman"/>
              </a:rPr>
              <a:t>●  </a:t>
            </a:r>
            <a:r>
              <a:rPr sz="1800">
                <a:solidFill>
                  <a:srgbClr val="0D1F3C"/>
                </a:solidFill>
                <a:latin typeface="Times New Roman"/>
              </a:rPr>
              <a:t>Nêu ví dụ: "Nhìn đèn giao thông đỏ → quyết định dừng lại."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2196F3"/>
                </a:solidFill>
                <a:latin typeface="Times New Roman"/>
              </a:rPr>
              <a:t>●  </a:t>
            </a:r>
            <a:r>
              <a:rPr sz="1800">
                <a:solidFill>
                  <a:srgbClr val="0D1F3C"/>
                </a:solidFill>
                <a:latin typeface="Times New Roman"/>
              </a:rPr>
              <a:t>Phát phiếu tình huống: HS viết thông tin → quyết định.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2196F3"/>
                </a:solidFill>
                <a:latin typeface="Times New Roman"/>
              </a:rPr>
              <a:t>●  </a:t>
            </a:r>
            <a:r>
              <a:rPr sz="1800">
                <a:solidFill>
                  <a:srgbClr val="0D1F3C"/>
                </a:solidFill>
                <a:latin typeface="Times New Roman"/>
              </a:rPr>
              <a:t>Chốt: Thông tin đúng giúp ta quyết định đúng.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188720"/>
            <a:ext cx="492252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i1_p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891" y="1325880"/>
            <a:ext cx="3179618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68324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5778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68912" y="1188720"/>
            <a:ext cx="109728" cy="43891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196F3"/>
                </a:solidFill>
                <a:latin typeface="Times New Roman"/>
              </a:defRPr>
            </a:pPr>
            <a:r>
              <a:t>✏️  Trò chơi "Thông tin – Quyết định"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2196F3"/>
                </a:solidFill>
                <a:latin typeface="Times New Roman"/>
              </a:rPr>
              <a:t>●  </a:t>
            </a:r>
            <a:r>
              <a:rPr sz="1800">
                <a:solidFill>
                  <a:srgbClr val="0D1F3C"/>
                </a:solidFill>
                <a:latin typeface="Times New Roman"/>
              </a:rPr>
              <a:t>Phát thẻ: mỗi nhóm nhận thẻ thông tin và thẻ quyết định, ghép đôi cho đúng.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2196F3"/>
                </a:solidFill>
                <a:latin typeface="Times New Roman"/>
              </a:rPr>
              <a:t>●  </a:t>
            </a:r>
            <a:r>
              <a:rPr sz="1800">
                <a:solidFill>
                  <a:srgbClr val="0D1F3C"/>
                </a:solidFill>
                <a:latin typeface="Times New Roman"/>
              </a:rPr>
              <a:t>Chữa bài, tuyên dương nhóm làm đúng và nhanh.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188720"/>
            <a:ext cx="502920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i1_pag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831" y="1325880"/>
            <a:ext cx="3179618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6052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196F3"/>
                </a:solidFill>
                <a:latin typeface="Times New Roman"/>
              </a:defRPr>
            </a:pPr>
            <a:r>
              <a:t>🎯  Viết tình huống của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2196F3"/>
                </a:solidFill>
                <a:latin typeface="Times New Roman"/>
              </a:rPr>
              <a:t>●  </a:t>
            </a:r>
            <a:r>
              <a:rPr sz="1800">
                <a:solidFill>
                  <a:srgbClr val="0D1F3C"/>
                </a:solidFill>
                <a:latin typeface="Times New Roman"/>
              </a:rPr>
              <a:t>Yêu cầu HS tự viết 1 ví dụ thông tin → quyết định trong cuộc sống 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188720"/>
            <a:ext cx="492252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i1_p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891" y="1325880"/>
            <a:ext cx="3179618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68324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64008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196F3"/>
                </a:solidFill>
                <a:latin typeface="Times New Roman"/>
              </a:defRPr>
            </a:pPr>
            <a:r>
              <a:t>🚀  Vận dụng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11680"/>
            <a:ext cx="56692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2196F3"/>
                </a:solidFill>
                <a:latin typeface="Times New Roman"/>
              </a:rPr>
              <a:t>●  </a:t>
            </a:r>
            <a:r>
              <a:rPr sz="1800">
                <a:solidFill>
                  <a:srgbClr val="0D1F3C"/>
                </a:solidFill>
                <a:latin typeface="Times New Roman"/>
              </a:rPr>
              <a:t>4. HOẠT ĐỘNG VẬN DỤNG, TRẢI NGHIỆM (5 phút)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2196F3"/>
                </a:solidFill>
                <a:latin typeface="Times New Roman"/>
              </a:rPr>
              <a:t>●  </a:t>
            </a:r>
            <a:r>
              <a:rPr sz="1800">
                <a:solidFill>
                  <a:srgbClr val="0D1F3C"/>
                </a:solidFill>
                <a:latin typeface="Times New Roman"/>
              </a:rPr>
              <a:t>GV: "Hôm nay em đã dùng thông tin nào để quyết định điều gì?"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2196F3"/>
                </a:solidFill>
                <a:latin typeface="Times New Roman"/>
              </a:rPr>
              <a:t>●  </a:t>
            </a:r>
            <a:r>
              <a:rPr sz="1800">
                <a:solidFill>
                  <a:srgbClr val="0D1F3C"/>
                </a:solidFill>
                <a:latin typeface="Times New Roman"/>
              </a:rPr>
              <a:t>Dặn dò: Quan sát và ghi lại 3 tình huống dùng thông tin để quyết định trong ngày mai.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188720"/>
            <a:ext cx="4922520" cy="4389120"/>
          </a:xfrm>
          <a:prstGeom prst="roundRect">
            <a:avLst>
              <a:gd name="adj" fmla="val 3000"/>
            </a:avLst>
          </a:prstGeom>
          <a:solidFill>
            <a:srgbClr val="F8F8F8"/>
          </a:solidFill>
          <a:ln w="1905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ai1_pag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0891" y="1325880"/>
            <a:ext cx="3179618" cy="4114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683240" y="1280160"/>
            <a:ext cx="1097280" cy="274320"/>
          </a:xfrm>
          <a:prstGeom prst="roundRect">
            <a:avLst>
              <a:gd name="adj" fmla="val 30000"/>
            </a:avLst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Times New Roman"/>
              </a:rPr>
              <a:t>📚 SGK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F2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1188720"/>
            <a:ext cx="7315200" cy="43891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>
            <a:noFill/>
          </a:ln>
          <a:effectLst>
            <a:outerShdw blurRad="50800" dist="25400" dir="540000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1188720"/>
            <a:ext cx="109728" cy="438912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196F3"/>
                </a:solidFill>
                <a:latin typeface="Times New Roman"/>
              </a:defRPr>
            </a:pPr>
            <a:r>
              <a:t>📌  Ghi nhớ — THÔNG TIN VÀ QUYẾT ĐỊNH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6400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2196F3"/>
                </a:solidFill>
                <a:latin typeface="Times New Roman"/>
              </a:rPr>
              <a:t>●  </a:t>
            </a:r>
            <a:r>
              <a:rPr sz="1800">
                <a:solidFill>
                  <a:srgbClr val="0D1F3C"/>
                </a:solidFill>
                <a:latin typeface="Times New Roman"/>
              </a:rPr>
              <a:t>Sau tiết học, học sinh sẽ: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2196F3"/>
                </a:solidFill>
                <a:latin typeface="Times New Roman"/>
              </a:rPr>
              <a:t>●  </a:t>
            </a:r>
            <a:r>
              <a:rPr sz="1800">
                <a:solidFill>
                  <a:srgbClr val="0D1F3C"/>
                </a:solidFill>
                <a:latin typeface="Times New Roman"/>
              </a:rPr>
              <a:t>Chăm chỉ: Chủ động tìm hiểu thông tin trong cuộc sống hằng ngày.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2196F3"/>
                </a:solidFill>
                <a:latin typeface="Times New Roman"/>
              </a:rPr>
              <a:t>●  </a:t>
            </a:r>
            <a:r>
              <a:rPr sz="1800">
                <a:solidFill>
                  <a:srgbClr val="0D1F3C"/>
                </a:solidFill>
                <a:latin typeface="Times New Roman"/>
              </a:rPr>
              <a:t>Trung thực: Nhận biết và không lan truyền thông tin sai lệch.</a:t>
            </a:r>
          </a:p>
          <a:p>
            <a:pPr>
              <a:lnSpc>
                <a:spcPts val="2800"/>
              </a:lnSpc>
              <a:spcAft>
                <a:spcPts val="800"/>
              </a:spcAft>
            </a:pPr>
            <a:r>
              <a:rPr sz="1400">
                <a:solidFill>
                  <a:srgbClr val="2196F3"/>
                </a:solidFill>
                <a:latin typeface="Times New Roman"/>
              </a:rPr>
              <a:t>●  </a:t>
            </a:r>
            <a:r>
              <a:rPr sz="1800">
                <a:solidFill>
                  <a:srgbClr val="0D1F3C"/>
                </a:solidFill>
                <a:latin typeface="Times New Roman"/>
              </a:rPr>
              <a:t>📚 Bài tập về nhà: Xem lại nội dung bài học và chuẩn bị bài tiếp theo.</a:t>
            </a:r>
          </a:p>
        </p:txBody>
      </p:sp>
      <p:pic>
        <p:nvPicPr>
          <p:cNvPr id="6" name="Picture 5" descr="bai1_p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104" y="1188720"/>
            <a:ext cx="3391592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96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i1_pag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8991" y="1371600"/>
            <a:ext cx="3179618" cy="4114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162800" y="1371600"/>
            <a:ext cx="4572000" cy="4114800"/>
          </a:xfrm>
          <a:prstGeom prst="rect">
            <a:avLst/>
          </a:prstGeom>
          <a:solidFill>
            <a:srgbClr val="2196F3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438400" y="1828800"/>
            <a:ext cx="7315200" cy="3200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95600" y="22860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196F3"/>
                </a:solidFill>
                <a:latin typeface="Times New Roman"/>
              </a:rPr>
              <a:t>CẢM ƠN CÁC EM! 🎉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
                  <a:srgbClr val="0D1F3C"/>
                </a:solidFill>
                <a:latin typeface="Times New Roman"/>
              </a:rPr>
              <a:t>Hẹn gặp lại ở tiết học sau!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95600" y="38404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999999"/>
                </a:solidFill>
                <a:latin typeface="Times New Roman"/>
              </a:rPr>
              <a:t>Trường TH &amp; THCS UNIGO  •  GV: Đậu Đình Nguyên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55080"/>
            <a:ext cx="12192000" cy="50292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400800"/>
            <a:ext cx="1164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TRƯỜNG TIỂU HỌC VÀ THCS UNIGO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