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9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524000" y="1280160"/>
            <a:ext cx="9144000" cy="42062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981200" y="1554480"/>
            <a:ext cx="4114800" cy="457200"/>
          </a:xfrm>
          <a:prstGeom prst="roundRect">
            <a:avLst>
              <a:gd name="adj" fmla="val 30000"/>
            </a:avLst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Times New Roman"/>
              </a:rPr>
              <a:t>TIN HỌC LỚP 3  •  NĂM HỌC 2026 – 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981200" y="2286000"/>
            <a:ext cx="8229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196F3"/>
                </a:solidFill>
                <a:latin typeface="Times New Roman"/>
              </a:rPr>
              <a:t>Bài 1</a:t>
            </a:r>
          </a:p>
          <a:p>
            <a:pPr>
              <a:spcBef>
                <a:spcPts val="400"/>
              </a:spcBef>
            </a:pPr>
            <a:r>
              <a:rPr sz="2800" b="1">
                <a:solidFill>
                  <a:srgbClr val="0D1F3C"/>
                </a:solidFill>
                <a:latin typeface="Times New Roman"/>
              </a:rPr>
              <a:t>THÔNG TIN VÀ QUYẾT ĐỊNH</a:t>
            </a:r>
          </a:p>
          <a:p>
            <a:pPr>
              <a:spcBef>
                <a:spcPts val="800"/>
              </a:spcBef>
            </a:pPr>
            <a:r>
              <a:rPr sz="1600" i="1">
                <a:solidFill>
                  <a:srgbClr val="666666"/>
                </a:solidFill>
                <a:latin typeface="Times New Roman"/>
              </a:rPr>
              <a:t>Chủ đề: Thông tin quanh 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81200" y="4389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0D1F3C"/>
                </a:solidFill>
                <a:latin typeface="Times New Roman"/>
              </a:rPr>
              <a:t>Trường TH &amp; THCS UNIGO</a:t>
            </a:r>
          </a:p>
          <a:p>
            <a:r>
              <a:rPr sz="1600">
                <a:solidFill>
                  <a:srgbClr val="666666"/>
                </a:solidFill>
                <a:latin typeface="Times New Roman"/>
              </a:rPr>
              <a:t>Giáo viên: Đậu Đình Nguyên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838200" y="1188720"/>
            <a:ext cx="105156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3820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95400" y="1371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96F3"/>
                </a:solidFill>
                <a:latin typeface="Times New Roman"/>
              </a:defRPr>
            </a:pPr>
            <a:r>
              <a:t>🎯  Mục tiêu bài học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95400" y="2011680"/>
            <a:ext cx="9601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Sau tiết học, học sinh sẽ: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Chăm chỉ: Chủ động tìm hiểu thông tin trong cuộc sống hằng ngày.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Trung thực: Nhận biết và không lan truyền thông tin sai lệch.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Trách nhiệm: Biết kiểm tra thông tin trước khi ra quyết định.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🎮  Khởi động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Hỏi: "Dự báo thời tiết là loại thông tin gì? Nó giúp em quyết định điều gì?"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🎮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68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25072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425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📖  Thông tin là gì?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Chiếu hình ảnh: biển báo giao thông, tiếng chuông, sách vở, video.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Hỏi: "Mỗi hình ảnh truyền đến em điều gì?"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📖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📝  Thông tin giúp ta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Nêu ví dụ: "Nhìn đèn giao thông đỏ → quyết định dừng lại."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Phát phiếu tình huống: HS viết thông tin → quyết định.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Chốt: Thông tin đúng giúp ta quyết định đúng.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📖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8768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625072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2425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✏️  Trò chơi "Thông tin – Quyết định"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Phát thẻ: mỗi nhóm nhận thẻ thông tin và thẻ quyết định, ghép đôi cho đúng.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Chữa bài, tuyên dương nhóm làm đúng và nhanh.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✏️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🎯  Viết tình huống của 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Yêu cầu HS tự viết 1 ví dụ thông tin → quyết định trong cuộc sống em.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✏️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57200" y="1188720"/>
            <a:ext cx="685800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6126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96F3"/>
                </a:solidFill>
                <a:latin typeface="Times New Roman"/>
              </a:defRPr>
            </a:pPr>
            <a:r>
              <a:t>🚀  Vận dụng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61264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4. HOẠT ĐỘNG VẬN DỤNG, TRẢI NGHIỆM (5 phút)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GV: "Hôm nay em đã dùng thông tin nào để quyết định điều gì?"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Dặn dò: Quan sát và ghi lại 3 tình huống dùng thông tin để quyết định trong ngày mai.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37120" y="1188720"/>
            <a:ext cx="4389120" cy="4389120"/>
          </a:xfrm>
          <a:prstGeom prst="roundRect">
            <a:avLst>
              <a:gd name="adj" fmla="val 4000"/>
            </a:avLst>
          </a:prstGeom>
          <a:solidFill>
            <a:srgbClr val="2196F3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74480" y="2926080"/>
            <a:ext cx="914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0">
                <a:solidFill>
                  <a:srgbClr val="FFFFFF"/>
                </a:solidFill>
                <a:latin typeface="Times New Roman"/>
              </a:defRPr>
            </a:pPr>
            <a:r>
              <a:t>🚀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3F2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72440" y="1188720"/>
            <a:ext cx="11247120" cy="43891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>
            <a:noFill/>
          </a:ln>
          <a:effectLst>
            <a:outerShdw blurRad="50800" dist="25400" dir="5400000" rotWithShape="0">
              <a:srgbClr val="000000">
                <a:alpha val="2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72440" y="1188720"/>
            <a:ext cx="109728" cy="4389120"/>
          </a:xfrm>
          <a:prstGeom prst="rect">
            <a:avLst/>
          </a:prstGeom>
          <a:solidFill>
            <a:srgbClr val="2196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2964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2196F3"/>
                </a:solidFill>
                <a:latin typeface="Times New Roman"/>
              </a:defRPr>
            </a:pPr>
            <a:r>
              <a:t>📌  Ghi nhớ — THÔNG TIN VÀ QUYẾT ĐỊNH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9640" y="2011680"/>
            <a:ext cx="100584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Sau tiết học, học sinh sẽ: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Chăm chỉ: Chủ động tìm hiểu thông tin trong cuộc sống hằng ngày.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Trung thực: Nhận biết và không lan truyền thông tin sai lệch.</a:t>
            </a:r>
          </a:p>
          <a:p>
            <a:pPr>
              <a:lnSpc>
                <a:spcPts val="2800"/>
              </a:lnSpc>
              <a:spcAft>
                <a:spcPts val="800"/>
              </a:spcAft>
            </a:pPr>
            <a:r>
              <a:rPr sz="1400">
                <a:solidFill>
                  <a:srgbClr val="2196F3"/>
                </a:solidFill>
                <a:latin typeface="Times New Roman"/>
              </a:rPr>
              <a:t>●  </a:t>
            </a:r>
            <a:r>
              <a:rPr sz="1800">
                <a:solidFill>
                  <a:srgbClr val="0D1F3C"/>
                </a:solidFill>
                <a:latin typeface="Times New Roman"/>
              </a:rPr>
              <a:t>📚 Bài tập về nhà: Xem lại nội dung bài học và chuẩn bị bài tiếp theo.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196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438400" y="1828800"/>
            <a:ext cx="7315200" cy="3200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895600" y="2286000"/>
            <a:ext cx="6400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2196F3"/>
                </a:solidFill>
                <a:latin typeface="Times New Roman"/>
              </a:rPr>
              <a:t>CẢM ƠN CÁC EM! 🎉</a:t>
            </a:r>
          </a:p>
          <a:p>
            <a:pPr algn="ctr">
              <a:spcBef>
                <a:spcPts val="1200"/>
              </a:spcBef>
            </a:pPr>
            <a:r>
              <a:rPr sz="2000">
                <a:solidFill>
                  <a:srgbClr val="0D1F3C"/>
                </a:solidFill>
                <a:latin typeface="Times New Roman"/>
              </a:rPr>
              <a:t>Hẹn gặp lại ở tiết học sau!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895600" y="3840480"/>
            <a:ext cx="6400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>
                <a:solidFill>
                  <a:srgbClr val="999999"/>
                </a:solidFill>
                <a:latin typeface="Times New Roman"/>
              </a:rPr>
              <a:t>Trường TH &amp; THCS UNIGO  •  GV: Đậu Đình Nguyên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355080"/>
            <a:ext cx="12192000" cy="5029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6400800"/>
            <a:ext cx="11643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Times New Roman"/>
              </a:rPr>
              <a:t>TRƯỜNG TIỂU HỌC VÀ THCS UNIGO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