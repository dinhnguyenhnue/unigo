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5"/>
    <p:sldId id="257" r:id="rId4"/>
    <p:sldId id="258" r:id="rId3"/>
    <p:sldId id="259" r:id="rId2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6" y="1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4.xml"/><Relationship Id="rId3" Type="http://schemas.openxmlformats.org/officeDocument/2006/relationships/slide" Target="slides/slide3.xml"/><Relationship Id="rId4" Type="http://schemas.openxmlformats.org/officeDocument/2006/relationships/slide" Target="slides/slide2.xml"/><Relationship Id="rId5" Type="http://schemas.openxmlformats.org/officeDocument/2006/relationships/slide" Target="slides/slide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2D0BA-FBE9-6E44-691F-000C693EA2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E97D33-3B98-BBDE-4334-263FB7EE47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0CF0E5-ADF7-8470-3B9F-91C48728E4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E504DA-4D4F-4EDC-F344-F03CE86DB4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549F38-FA9E-B600-327E-9BDCCF1020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0410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BFD97-87FB-631E-EEF8-6E51DCB457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4DE0B9-02FF-4F72-ED16-1FB31B569E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7B87DC-AA2C-EDEA-982F-36A5FDC6D2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6E27A9-4B0A-C4FB-C65C-DD407FABC5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47FF0C-E183-66BE-709C-448A4AC57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60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744FD-7E48-FCDF-CF0B-2B23DE132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94DECC-CB72-B397-C02A-C5108354BF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31C495-26F5-512C-E243-F8AA335A8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8E351D-6FC7-D545-DF8A-EB162F5B4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B95763-201D-C4E1-EB65-4B88B137B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0148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05217B-8EC9-4EA4-9045-0C817687E4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88FE9A-0D5F-7AE0-E7C8-A53EE8AF7E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4AE5D0-63E8-DCD8-D6B8-306243F3FC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59FF46-C6D8-B70D-34CC-F0BBD2514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5A21F2-0257-6653-C1B4-BE4271B70E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888B2D-A696-926B-CB00-30CB39A21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5907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2D1804-FC72-EA87-B283-0ED24BD9C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D6F214-B860-807F-5D59-775C2C3CD3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872204-513C-7EE5-A63F-ACD7E6F1F0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8089B82-4A6B-0A50-33A8-F57C641AA4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57602B8-966B-D55B-DF46-EF8FE962A8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35D0A2-DDAB-2DEB-1654-64E2CF1352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F526C51-F9C1-C9F7-E325-985744413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9CD2BB8-A738-B00D-CD4F-1E516729D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5510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5058C7-EC99-CA69-69A1-B71A2EE1F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82FDDE-258E-65C9-5E9B-059B5310B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88222D-5913-69EE-C0A1-2115B6A3B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364462-4379-23E8-5042-4188F2424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0956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2B39AE-76E9-53E8-5AC2-AD6E83AE5A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A39721-3A37-FE8B-936D-3225F2B6F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6383E3-5325-C6DD-4FD0-655FEA72A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87331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9B1C8-88D4-EB75-0A5A-DBF764E94A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FB7FCE-F57B-B919-56DD-5EDF6227BA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BC4E80-42F9-68B4-89A4-09F4B2E311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2E4884-0004-05C1-9162-12837C41B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10837C-4E57-5E0F-EC87-6499BA034A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A4D633-7171-8A0D-E4C6-6D53E0859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1064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0E132-6996-68E8-4F29-37C27BB8EB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0434507-83A3-0D3E-B631-5AA2974E08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62259C-71C9-5E4F-343E-C0E87D750F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081087-DD77-D63D-A0AB-E7DF40F551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55EC71-8A66-0F0A-B040-0930D31AA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332627-5E94-EEB1-7186-47F0D5C6F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5566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21772-A9B5-C630-07CA-DECD42CD77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DBB18D-FEE1-0190-5A10-2B09E03977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CD711D-A70F-EF10-8E36-12C26924E8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F3B26D-7C72-7CF5-91E5-6B9F530321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AE76EA-4D7B-99B2-4676-A289DD637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6339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1B24F8F-8C52-E27E-05DE-AD92E136AB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CCC27E-F320-1CAF-FC80-1F7384CA5E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5A3655-F6DA-384A-BCB5-A32BD9B555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496872-344F-98B4-6458-BAACD263E5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A6A315-6909-97E2-34A8-B9CB86B9CF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49293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78B8C0F-9B11-4065-AE8C-7637290FB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5032" y="829142"/>
            <a:ext cx="10198768" cy="8615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5FE732-1FF5-3147-A7B1-F7E2E0778B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D77A1F-9F08-BD8F-DAF3-65DDCDFC4F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665A47-83AD-EE80-1199-0CCBE3548B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F62C6C-6174-7774-F45D-8725FE4A30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D2C332A-3D9A-458F-2703-2BC4602A665E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940" y="136525"/>
            <a:ext cx="867744" cy="86154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0712185-E163-EB6D-9E42-C99AF00858F6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81" t="23826" r="6770" b="30087"/>
          <a:stretch>
            <a:fillRect/>
          </a:stretch>
        </p:blipFill>
        <p:spPr>
          <a:xfrm>
            <a:off x="0" y="5883441"/>
            <a:ext cx="12252960" cy="1126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03477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91695" cy="475488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BÀI 3: MÁY TÍNH VÀ 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  <a:latin typeface="Arial"/>
              </a:defRPr>
            </a:pPr>
            <a:r>
              <a:t>Tiết 2 — Một số loại máy tính khác &amp; An toàn về điện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CA28"/>
                </a:solidFill>
                <a:latin typeface="Arial"/>
              </a:defRPr>
            </a:pPr>
            <a:r>
              <a:t>Tin học 3 • Kết nối tri thức với cuộc sống</a:t>
            </a:r>
          </a:p>
        </p:txBody>
      </p:sp>
      <p:pic>
        <p:nvPicPr>
          <p:cNvPr id="6" name="Picture 5" descr="page_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4389120"/>
            <a:ext cx="3657600" cy="12801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91695" cy="4754880"/>
          </a:xfrm>
          <a:prstGeom prst="rect">
            <a:avLst/>
          </a:prstGeom>
          <a:solidFill>
            <a:srgbClr val="FDF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6B35"/>
                </a:solidFill>
                <a:latin typeface="Arial"/>
              </a:defRPr>
            </a:pPr>
            <a:r>
              <a:t>🎮 KHỞI ĐỘNG: AI NHANH – AI ĐÚNG?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2103120"/>
            <a:ext cx="9144000" cy="10972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22860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2C2C2C"/>
                </a:solidFill>
                <a:latin typeface="Arial"/>
              </a:defRPr>
            </a:pPr>
            <a:r>
              <a:t>Em hãy kể tên 4 bộ phận cơ bản của máy tính để bàn!</a:t>
            </a:r>
          </a:p>
        </p:txBody>
      </p:sp>
      <p:pic>
        <p:nvPicPr>
          <p:cNvPr id="6" name="Picture 5" descr="page_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3383280"/>
            <a:ext cx="5486400" cy="21945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91695" cy="475488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Arial"/>
              </a:defRPr>
            </a:pPr>
            <a:r>
              <a:t>2. MỘT SỐ LOẠI MÁY TÍNH</a:t>
            </a:r>
            <a:br/>
            <a:r>
              <a:t>THÔNG DỤNG KHÁC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CA28"/>
                </a:solidFill>
                <a:latin typeface="Arial"/>
              </a:defRPr>
            </a:pPr>
            <a:r>
              <a:t>SGK trang 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91695" cy="4754880"/>
          </a:xfrm>
          <a:prstGeom prst="rect">
            <a:avLst/>
          </a:prstGeom>
          <a:solidFill>
            <a:srgbClr val="FDF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96D6"/>
                </a:solidFill>
                <a:latin typeface="Arial"/>
              </a:defRPr>
            </a:pPr>
            <a:r>
              <a:t>🔍 HOẠT ĐỘNG 2: Các bộ phận máy tính xách tay</a:t>
            </a:r>
          </a:p>
        </p:txBody>
      </p:sp>
      <p:pic>
        <p:nvPicPr>
          <p:cNvPr id="4" name="Picture 3" descr="page_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011680"/>
            <a:ext cx="5029200" cy="34747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943600" y="2011680"/>
            <a:ext cx="5486400" cy="3474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22860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C2C2C"/>
                </a:solidFill>
                <a:latin typeface="Arial"/>
              </a:defRPr>
            </a:pPr>
            <a:r>
              <a:t>Em hãy quan sát Hình 14 (SGK tr.15)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6060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C2C2C"/>
                </a:solidFill>
                <a:latin typeface="Arial"/>
              </a:defRPr>
            </a:pPr>
            <a:r>
              <a:t>và ghép các cụm từ: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9260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C2C2C"/>
                </a:solidFill>
                <a:latin typeface="Arial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6400800" y="32461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C2C2C"/>
                </a:solidFill>
                <a:latin typeface="Arial"/>
              </a:defRPr>
            </a:pPr>
            <a:r>
              <a:t>  🟠 Thân máy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35661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C2C2C"/>
                </a:solidFill>
                <a:latin typeface="Arial"/>
              </a:defRPr>
            </a:pPr>
            <a:r>
              <a:t>  🔵 Màn hình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38862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C2C2C"/>
                </a:solidFill>
                <a:latin typeface="Arial"/>
              </a:defRPr>
            </a:pPr>
            <a:r>
              <a:t>  🟢 Chuột (vùng cảm ứng)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42062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C2C2C"/>
                </a:solidFill>
                <a:latin typeface="Arial"/>
              </a:defRPr>
            </a:pPr>
            <a:r>
              <a:t>  🟡 Bàn phím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4526279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C2C2C"/>
                </a:solidFill>
                <a:latin typeface="Arial"/>
              </a:defRPr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6400800" y="48463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C2C2C"/>
                </a:solidFill>
                <a:latin typeface="Arial"/>
              </a:defRPr>
            </a:pPr>
            <a:r>
              <a:t>với các bộ phận được đánh số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51663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C2C2C"/>
                </a:solidFill>
                <a:latin typeface="Arial"/>
              </a:defRPr>
            </a:pPr>
            <a:r>
              <a:t>của máy tính xách tay.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91695" cy="4754880"/>
          </a:xfrm>
          <a:prstGeom prst="rect">
            <a:avLst/>
          </a:prstGeom>
          <a:solidFill>
            <a:srgbClr val="FDF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4CAF50"/>
                </a:solidFill>
                <a:latin typeface="Arial"/>
              </a:defRPr>
            </a:pPr>
            <a:r>
              <a:t>💡 BẠN CÓ BIẾT?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103120"/>
            <a:ext cx="5303520" cy="3291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96D6"/>
                </a:solidFill>
                <a:latin typeface="Arial"/>
              </a:defRPr>
            </a:pPr>
            <a:r>
              <a:t>Máy tính xách tay 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834640"/>
            <a:ext cx="47548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C2C2C"/>
                </a:solidFill>
                <a:latin typeface="Arial"/>
              </a:defRPr>
            </a:pPr>
            <a:r>
              <a:t>Có vùng CẢM ỨNG CHUỘT.</a:t>
            </a:r>
            <a:br/>
            <a:br/>
            <a:r>
              <a:t>Em có thể sử dụng chuột bằng cách di chuyển ngón tay trên đó.</a:t>
            </a:r>
            <a:br/>
            <a:br/>
            <a:r>
              <a:t>(SGK tr.15 - Hình 15)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2103120"/>
            <a:ext cx="5303520" cy="3291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22860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91E63"/>
                </a:solidFill>
                <a:latin typeface="Arial"/>
              </a:defRPr>
            </a:pPr>
            <a:r>
              <a:t>Điện thoại &amp; Máy tính bảng 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834640"/>
            <a:ext cx="47548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C2C2C"/>
                </a:solidFill>
                <a:latin typeface="Arial"/>
              </a:defRPr>
            </a:pPr>
            <a:r>
              <a:t>Có MÀN HÌNH CẢM ỨNG.</a:t>
            </a:r>
            <a:br/>
            <a:br/>
            <a:r>
              <a:t>Vừa là chuột, vừa là bàn phím!</a:t>
            </a:r>
            <a:br/>
            <a:br/>
            <a:r>
              <a:t>Em dùng ngón tay chạm trên màn hình.</a:t>
            </a:r>
            <a:br/>
            <a:br/>
            <a:r>
              <a:t>(SGK tr.15 - Hình 16)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91695" cy="548640"/>
          </a:xfrm>
          <a:prstGeom prst="rect">
            <a:avLst/>
          </a:prstGeom>
          <a:solidFill>
            <a:srgbClr val="FFC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2C2C2C"/>
                </a:solidFill>
                <a:latin typeface="Arial"/>
              </a:defRPr>
            </a:pPr>
            <a:r>
              <a:t>📌 GHI NHỚ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1828800"/>
            <a:ext cx="9144000" cy="1371600"/>
          </a:xfrm>
          <a:prstGeom prst="roundRect">
            <a:avLst>
              <a:gd name="adj" fmla="val 4000"/>
            </a:avLst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201168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Arial"/>
              </a:defRPr>
            </a:pPr>
            <a:r>
              <a:t>Máy tính xách tay, máy tính bảng và</a:t>
            </a:r>
            <a:br/>
            <a:r>
              <a:t>điện thoại thông minh cũng có các bộ phận</a:t>
            </a:r>
            <a:br/>
            <a:r>
              <a:t>cơ bản như máy tính để bàn.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3474720"/>
            <a:ext cx="9144000" cy="1097280"/>
          </a:xfrm>
          <a:prstGeom prst="roundRect">
            <a:avLst>
              <a:gd name="adj" fmla="val 4000"/>
            </a:avLst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0" y="36576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Màn hình cảm ứng của điện thoại thông minh,</a:t>
            </a:r>
            <a:br/>
            <a:r>
              <a:t>máy tính bảng còn được sử dụng để đưa thông tin vào.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846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E91E63"/>
                </a:solidFill>
                <a:latin typeface="Arial"/>
              </a:defRPr>
            </a:pPr>
            <a:r>
              <a:t>❓ Bộ phận nào của điện thoại thông minh thực hiện chức năng của chuột và bàn phím?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91695" cy="4754880"/>
          </a:xfrm>
          <a:prstGeom prst="rect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Arial"/>
              </a:defRPr>
            </a:pPr>
            <a:r>
              <a:t>⚡ 3. AN TOÀN VỀ ĐIỆN</a:t>
            </a:r>
            <a:br/>
            <a:r>
              <a:t>KHI SỬ DỤNG MÁY TÍNH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CA28"/>
                </a:solidFill>
                <a:latin typeface="Arial"/>
              </a:defRPr>
            </a:pPr>
            <a:r>
              <a:t>SGK trang 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91695" cy="4754880"/>
          </a:xfrm>
          <a:prstGeom prst="rect">
            <a:avLst/>
          </a:prstGeom>
          <a:solidFill>
            <a:srgbClr val="FDF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D32F2F"/>
                </a:solidFill>
                <a:latin typeface="Arial"/>
              </a:defRPr>
            </a:pPr>
            <a:r>
              <a:t>🔍 HOẠT ĐỘNG 3: Đúng hay Sai?</a:t>
            </a:r>
          </a:p>
        </p:txBody>
      </p:sp>
      <p:pic>
        <p:nvPicPr>
          <p:cNvPr id="4" name="Picture 3" descr="page_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011680"/>
            <a:ext cx="10058400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91695" cy="4754880"/>
          </a:xfrm>
          <a:prstGeom prst="rect">
            <a:avLst/>
          </a:prstGeom>
          <a:solidFill>
            <a:srgbClr val="FDF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D32F2F"/>
                </a:solidFill>
                <a:latin typeface="Arial"/>
              </a:defRPr>
            </a:pPr>
            <a:r>
              <a:t>📋 QUY TẮC AN TOÀN VỀ ĐIỆN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920240"/>
            <a:ext cx="5303520" cy="3657600"/>
          </a:xfrm>
          <a:prstGeom prst="roundRect">
            <a:avLst>
              <a:gd name="adj" fmla="val 4000"/>
            </a:avLst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Arial"/>
              </a:defRPr>
            </a:pPr>
            <a:r>
              <a:t>✅ NÊN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rial"/>
              </a:defRPr>
            </a:pPr>
            <a:r>
              <a:t>1. Hỏi người lớn khi bật/tắt máy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10896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rial"/>
              </a:defRPr>
            </a:pPr>
            <a:r>
              <a:t>2. Thông báo khi phát hiện dây ngắt, ổ cắm hở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rial"/>
              </a:defRPr>
            </a:pPr>
            <a:r>
              <a:t>3. Dùng khăn mềm/chổi phủi bụi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20624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rial"/>
              </a:defRPr>
            </a:pPr>
            <a:r>
              <a:t>4. Giữ máy tính sạch sẽ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754879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rial"/>
              </a:defRPr>
            </a:pPr>
            <a:r>
              <a:t>5. Sạc đầy pin trước khi dùng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920240"/>
            <a:ext cx="5303520" cy="3657600"/>
          </a:xfrm>
          <a:prstGeom prst="roundRect">
            <a:avLst>
              <a:gd name="adj" fmla="val 4000"/>
            </a:avLst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0116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Arial"/>
              </a:defRPr>
            </a:pPr>
            <a:r>
              <a:t>❌ KHÔNG NÊN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56032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rial"/>
              </a:defRPr>
            </a:pPr>
            <a:r>
              <a:t>1. Tự cắm/rút dây điện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310896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rial"/>
              </a:defRPr>
            </a:pPr>
            <a:r>
              <a:t>2. Dùng vật sắc nhọn cắm vào nguồn điện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365760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rial"/>
              </a:defRPr>
            </a:pPr>
            <a:r>
              <a:t>3. Dùng khăn ướt lau máy tính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420624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rial"/>
              </a:defRPr>
            </a:pPr>
            <a:r>
              <a:t>4. Ăn uống quanh khu vực máy tính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4754879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rial"/>
              </a:defRPr>
            </a:pPr>
            <a:r>
              <a:t>5. Vừa sạc vừa sử dụng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91695" cy="4754880"/>
          </a:xfrm>
          <a:prstGeom prst="rect">
            <a:avLst/>
          </a:prstGeom>
          <a:solidFill>
            <a:srgbClr val="FDF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6B35"/>
                </a:solidFill>
                <a:latin typeface="Arial"/>
              </a:defRPr>
            </a:pPr>
            <a:r>
              <a:t>📝 LUYỆN TẬP</a:t>
            </a:r>
          </a:p>
        </p:txBody>
      </p:sp>
      <p:pic>
        <p:nvPicPr>
          <p:cNvPr id="4" name="Picture 3" descr="page_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920240"/>
            <a:ext cx="100584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91695" cy="4754880"/>
          </a:xfrm>
          <a:prstGeom prst="rect">
            <a:avLst/>
          </a:prstGeom>
          <a:solidFill>
            <a:srgbClr val="FDF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E91E63"/>
                </a:solidFill>
                <a:latin typeface="Arial"/>
              </a:defRPr>
            </a:pPr>
            <a:r>
              <a:t>🧩 THỬ TÀI EM!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C2C2C"/>
                </a:solidFill>
                <a:latin typeface="Arial"/>
              </a:defRPr>
            </a:pPr>
            <a:r>
              <a:t>Minh đang dùng máy tính thì phát hiện có mùi khét từ dây điện.</a:t>
            </a:r>
            <a:br/>
            <a:r>
              <a:t>Theo em Minh nên làm gì?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017520"/>
            <a:ext cx="5029200" cy="1097280"/>
          </a:xfrm>
          <a:prstGeom prst="roundRect">
            <a:avLst>
              <a:gd name="adj" fmla="val 4000"/>
            </a:avLst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320040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A. Tiếp tục công việc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3017520"/>
            <a:ext cx="5029200" cy="1097280"/>
          </a:xfrm>
          <a:prstGeom prst="roundRect">
            <a:avLst>
              <a:gd name="adj" fmla="val 4000"/>
            </a:avLst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320040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B. Mở cửa to cho bớt mùi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4389120"/>
            <a:ext cx="5029200" cy="1097280"/>
          </a:xfrm>
          <a:prstGeom prst="roundRect">
            <a:avLst>
              <a:gd name="adj" fmla="val 4000"/>
            </a:avLst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457200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C. Chạy ra ngoài báo người lớn ✅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4389120"/>
            <a:ext cx="5029200" cy="1097280"/>
          </a:xfrm>
          <a:prstGeom prst="roundRect">
            <a:avLst>
              <a:gd name="adj" fmla="val 4000"/>
            </a:avLst>
          </a:prstGeom>
          <a:solidFill>
            <a:srgbClr val="FFC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457200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D. Rút dây cắm điện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91695" cy="4754880"/>
          </a:xfrm>
          <a:prstGeom prst="rect">
            <a:avLst/>
          </a:prstGeom>
          <a:solidFill>
            <a:srgbClr val="FDF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6B35"/>
                </a:solidFill>
                <a:latin typeface="Arial"/>
              </a:defRPr>
            </a:pPr>
            <a:r>
              <a:t>🌟 TỔNG KẾT BÀI HỌC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011680"/>
            <a:ext cx="3474720" cy="3200400"/>
          </a:xfrm>
          <a:prstGeom prst="roundRect">
            <a:avLst>
              <a:gd name="adj" fmla="val 4000"/>
            </a:avLst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19456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Arial"/>
              </a:defRPr>
            </a:pPr>
            <a:r>
              <a:t>💻 Các loại máy tính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926080"/>
            <a:ext cx="3108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Arial"/>
              </a:defRPr>
            </a:pPr>
            <a:r>
              <a:t>Máy tính để bàn, xách tay,</a:t>
            </a:r>
            <a:br/>
            <a:r>
              <a:t>máy tính bảng, điện thoại</a:t>
            </a:r>
            <a:br/>
            <a:r>
              <a:t>thông minh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2011680"/>
            <a:ext cx="3474720" cy="3200400"/>
          </a:xfrm>
          <a:prstGeom prst="roundRect">
            <a:avLst>
              <a:gd name="adj" fmla="val 4000"/>
            </a:avLst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60" y="219456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Arial"/>
              </a:defRPr>
            </a:pPr>
            <a:r>
              <a:t>👆 Cảm ứng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0" y="2926080"/>
            <a:ext cx="3108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Arial"/>
              </a:defRPr>
            </a:pPr>
            <a:r>
              <a:t>Màn hình cảm ứng vừa là</a:t>
            </a:r>
            <a:br/>
            <a:r>
              <a:t>chuột vừa là bàn phím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2011680"/>
            <a:ext cx="3474720" cy="3200400"/>
          </a:xfrm>
          <a:prstGeom prst="roundRect">
            <a:avLst>
              <a:gd name="adj" fmla="val 4000"/>
            </a:avLst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0" y="219456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Arial"/>
              </a:defRPr>
            </a:pPr>
            <a:r>
              <a:t>⚡ An toàn điện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2926080"/>
            <a:ext cx="3108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Arial"/>
              </a:defRPr>
            </a:pPr>
            <a:r>
              <a:t>Luôn nhờ người lớn</a:t>
            </a:r>
            <a:br/>
            <a:r>
              <a:t>Bảo đảm an toàn về điện</a:t>
            </a:r>
            <a:br/>
            <a:r>
              <a:t>khi sử dụng máy tính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91695" cy="475488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🌟 CÁC EM GIỎI LẮM! 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CA28"/>
                </a:solidFill>
                <a:latin typeface="Arial"/>
              </a:defRPr>
            </a:pPr>
            <a:r>
              <a:t>📚 Bài tập về nhà:</a:t>
            </a:r>
            <a:br/>
            <a:r>
              <a:t>Quan sát các thiết bị số trong gia đình</a:t>
            </a:r>
            <a:br/>
            <a:r>
              <a:t>và ghi lại các bộ phận của chúng.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17</Words>
  <Application>Microsoft Office PowerPoint</Application>
  <PresentationFormat>Widescreen</PresentationFormat>
  <Paragraphs>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Monotype Corsiva</vt:lpstr>
      <vt:lpstr>Office Theme</vt:lpstr>
      <vt:lpstr>PowerPoint Presentation</vt:lpstr>
      <vt:lpstr>Môn Tin học lớp </vt:lpstr>
      <vt:lpstr>Môn Tin học lớp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Nguyên Đậu</dc:creator>
  <cp:lastModifiedBy>Nguyên Đậu</cp:lastModifiedBy>
  <cp:revision>4</cp:revision>
  <dcterms:created xsi:type="dcterms:W3CDTF">2026-08-04T15:56:52Z</dcterms:created>
  <dcterms:modified xsi:type="dcterms:W3CDTF">2026-08-04T16:29:42Z</dcterms:modified>
</cp:coreProperties>
</file>