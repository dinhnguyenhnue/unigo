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4"/>
    <p:sldId id="257" r:id="rId3"/>
    <p:sldId id="258" r:id="rId2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8288000" cy="10287000"/>
  <p:notesSz cx="6858000" cy="9144000"/>
  <p:embeddedFontLst>
    <p:embeddedFont>
      <p:font typeface="Aileron Heavy" panose="020B0604020202020204" charset="0"/>
      <p:regular r:id="rId6"/>
    </p:embeddedFont>
    <p:embeddedFont>
      <p:font typeface="Monggirella script" panose="020B0604020202020204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1E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06" autoAdjust="0"/>
    <p:restoredTop sz="94622" autoAdjust="0"/>
  </p:normalViewPr>
  <p:slideViewPr>
    <p:cSldViewPr>
      <p:cViewPr varScale="1">
        <p:scale>
          <a:sx n="68" d="100"/>
          <a:sy n="68" d="100"/>
        </p:scale>
        <p:origin x="63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font" Target="fonts/font1.fntdata"/><Relationship Id="rId7" Type="http://schemas.openxmlformats.org/officeDocument/2006/relationships/font" Target="fonts/font2.fntdata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08.07.2026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40000" y="1080000"/>
            <a:ext cx="15407999" cy="72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0" y="1080000"/>
            <a:ext cx="432000" cy="7200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0" y="1620000"/>
            <a:ext cx="5040000" cy="432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TIN HỌC 3  •  BÀI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8000" y="2340000"/>
            <a:ext cx="9000000" cy="216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3200" b="1" i="0">
                <a:solidFill>
                  <a:srgbClr val="1E3A8A"/>
                </a:solidFill>
                <a:latin typeface="Arial"/>
              </a:defRPr>
            </a:pPr>
            <a:r>
              <a:rPr>
                <a:latin typeface="Arial"/>
              </a:rPr>
              <a:t>THÔNG TIN VÀ QUYẾT ĐỊNH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000" b="0" i="1">
                <a:solidFill>
                  <a:srgbClr val="64748B"/>
                </a:solidFill>
                <a:latin typeface="Arial"/>
              </a:defRPr>
            </a:pPr>
            <a:r>
              <a:rPr>
                <a:latin typeface="Arial"/>
              </a:rPr>
              <a:t>Chủ đề 1: Máy tính và 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0000" y="1800000"/>
            <a:ext cx="4320000" cy="3600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60000" y="2160000"/>
            <a:ext cx="3960000" cy="288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  <a:defRPr sz="1600" b="1" i="0">
                <a:solidFill>
                  <a:srgbClr val="1E3A8A"/>
                </a:solidFill>
                <a:latin typeface="Arial"/>
              </a:defRPr>
            </a:pPr>
            <a:r>
              <a:rPr>
                <a:latin typeface="Arial"/>
              </a:rPr>
              <a:t>🏫 TRƯỜNG UNIGO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 b="1" i="0">
                <a:solidFill>
                  <a:srgbClr val="64748B"/>
                </a:solidFill>
                <a:latin typeface="Arial"/>
              </a:defRPr>
            </a:pPr>
            <a:r>
              <a:rPr>
                <a:latin typeface="Arial"/>
              </a:rPr>
              <a:t>👤 Giáo viên giảng dạy: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6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Tổ Bộ Môn Tin Học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400" b="0" i="0">
                <a:solidFill>
                  <a:srgbClr val="64748B"/>
                </a:solidFill>
                <a:latin typeface="Arial"/>
              </a:defRPr>
            </a:pPr>
            <a:r>
              <a:rPr>
                <a:latin typeface="Arial"/>
              </a:rPr>
              <a:t>📅 Năm học: 2026 - 2027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MỤC TIÊU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TIN HỌC 3 • BÀI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2160000"/>
            <a:ext cx="5400000" cy="64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2160000"/>
            <a:ext cx="216000" cy="6480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2000" y="2700000"/>
            <a:ext cx="792000" cy="7920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780000"/>
            <a:ext cx="4680000" cy="43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Vai trò của thông tin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Nêu được ví dụ đơn giản minh họa vai trò của thông tin trong việc ra quyết định của con người.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8000" y="2160000"/>
            <a:ext cx="5400000" cy="64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8000" y="2160000"/>
            <a:ext cx="216000" cy="648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40000" y="2700000"/>
            <a:ext cx="792000" cy="7920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8000" y="3780000"/>
            <a:ext cx="4680000" cy="43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Nhận biết ví dụ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Nhận biết được đâu là thông tin và đâu là quyết định trong ví dụ cụ thể.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96000" y="2160000"/>
            <a:ext cx="5400000" cy="648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096000" y="2160000"/>
            <a:ext cx="216000" cy="64800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528000" y="2700000"/>
            <a:ext cx="792000" cy="7920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56000" y="3780000"/>
            <a:ext cx="4680000" cy="43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Ba dạng thông tin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Nhận biết 3 dạng thông tin thường gặp: dạng chữ, dạng âm thanh, dạng hình ảnh.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KHỞI ĐỘNG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KHỞI ĐỘNG 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9000000" cy="68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6840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000" y="2340000"/>
            <a:ext cx="8280000" cy="61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  <a:defRPr sz="2000" b="1" i="0">
                <a:solidFill>
                  <a:srgbClr val="EA580C"/>
                </a:solidFill>
                <a:latin typeface="Arial"/>
              </a:defRPr>
            </a:pPr>
            <a:r>
              <a:rPr>
                <a:latin typeface="Arial"/>
              </a:rPr>
              <a:t>🔔 Tình huống buổi sáng của Minh:</a:t>
            </a:r>
          </a:p>
          <a:p>
            <a:pPr>
              <a:spcBef>
                <a:spcPts val="200"/>
              </a:spcBef>
              <a:spcAft>
                <a:spcPts val="16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Mỗi sáng, khi tiếng chuông đồng hồ báo thức reo lên, bạn Minh quyết định thức dậy, rời khỏi giường để vệ sinh cá nhân, ăn sáng và đi học.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 b="1" i="0">
                <a:solidFill>
                  <a:srgbClr val="1E3A8A"/>
                </a:solidFill>
                <a:latin typeface="Arial"/>
              </a:defRPr>
            </a:pPr>
            <a:r>
              <a:rPr>
                <a:latin typeface="Arial"/>
              </a:rPr>
              <a:t>❓ Câu hỏi suy nghĩ: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6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👉 1. Tiếng chuông báo thức cho Minh biết điều gì?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👉 2. Từ những điều đó, bạn Minh đã ra những quyết định gì?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0000" y="1980000"/>
            <a:ext cx="7308000" cy="68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p3_thong_tin_quyet_di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000" y="2160000"/>
            <a:ext cx="6948000" cy="6480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ransition spd="med" advClick="1">
    <p:wipe dir="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1. THÔNG TIN VÀ QUYẾT ĐỊNH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KIẾN THỨC MỚI 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7920000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3240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000" y="2232000"/>
            <a:ext cx="7200000" cy="27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EA580C"/>
                </a:solidFill>
                <a:latin typeface="Arial"/>
              </a:defRPr>
            </a:pPr>
            <a:r>
              <a:rPr>
                <a:latin typeface="Arial"/>
              </a:rPr>
              <a:t>💡 THÔNG TIN LÀ GÌ?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Những điều em biết được qua quan sát, lắng nghe, đọc sách... gọi là THÔNG TIN.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60000" y="1980000"/>
            <a:ext cx="8208000" cy="324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60000" y="1980000"/>
            <a:ext cx="216000" cy="324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92000" y="2232000"/>
            <a:ext cx="7488000" cy="27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10B981"/>
                </a:solidFill>
                <a:latin typeface="Arial"/>
              </a:defRPr>
            </a:pPr>
            <a:r>
              <a:rPr>
                <a:latin typeface="Arial"/>
              </a:rPr>
              <a:t>🎯 QUYẾT ĐỊNH LÀ GÌ?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Hành động em lựa chọn thực hiện dựa trên suy nghĩ gọi là QUYẾT ĐỊNH.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5760000"/>
            <a:ext cx="16848000" cy="2880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0000" y="6192000"/>
            <a:ext cx="15480000" cy="216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000" b="1" i="0">
                <a:solidFill>
                  <a:srgbClr val="1E3A8A"/>
                </a:solidFill>
                <a:latin typeface="Arial"/>
              </a:defRPr>
            </a:pPr>
            <a:r>
              <a:rPr>
                <a:latin typeface="Arial"/>
              </a:rPr>
              <a:t>🌟 GHI NHỚ CỐT LÕI: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200" b="1" i="0">
                <a:solidFill>
                  <a:srgbClr val="EA580C"/>
                </a:solidFill>
                <a:latin typeface="Arial"/>
              </a:defRPr>
            </a:pPr>
            <a:r>
              <a:rPr>
                <a:latin typeface="Arial"/>
              </a:rPr>
              <a:t>THÔNG TIN THU ĐƯỢC ➔ SUY NGHĨ, XỬ LÝ ➔ ĐƯA RA QUYẾT ĐỊNH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2. VAI TRÒ CỦA THÔNG TIN TRONG QUYẾT ĐỊNH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KIẾN THỨC MỚI 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16848000" cy="306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3060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2232000"/>
            <a:ext cx="15840000" cy="27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EA580C"/>
                </a:solidFill>
                <a:latin typeface="Arial"/>
              </a:defRPr>
            </a:pPr>
            <a:r>
              <a:rPr>
                <a:latin typeface="Arial"/>
              </a:rPr>
              <a:t>📖 NỘI DUNG NỔI BẬT: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⚽ Minh chuẩn bị ra khỏi nhà:</a:t>
            </a:r>
            <a:br/>
            <a:r>
              <a:rPr>
                <a:latin typeface="Arial"/>
              </a:rPr>
              <a:t>• Đi đá bóng ➔ Mặc quần áo thể thao.</a:t>
            </a:r>
            <a:br/>
            <a:r>
              <a:rPr>
                <a:latin typeface="Arial"/>
              </a:rPr>
              <a:t>• Đi học ➔ Mặc đồng phục.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5400000"/>
            <a:ext cx="16848000" cy="3240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0000" y="5688000"/>
            <a:ext cx="15480000" cy="288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2000" b="1" i="0">
                <a:solidFill>
                  <a:srgbClr val="1E3A8A"/>
                </a:solidFill>
                <a:latin typeface="Arial"/>
              </a:defRPr>
            </a:pPr>
            <a:r>
              <a:rPr>
                <a:latin typeface="Arial"/>
              </a:rPr>
              <a:t>📌 KẾT LUẬN: CẦN PHẢI CÓ THÔNG TIN ĐỂ RA QUYẾT ĐỊNH!</a:t>
            </a:r>
            <a:br/>
            <a:r>
              <a:rPr>
                <a:latin typeface="Arial"/>
              </a:rPr>
              <a:t>Thông tin giúp con người đưa ra quyết định phù hợp và đúng đắn.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3. BA DẠNG THÔNG TIN THƯỜNG GẶP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KIẾN THỨC MỚI 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5400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4320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0000" y="2232000"/>
            <a:ext cx="4680000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200" b="1" i="0">
                <a:solidFill>
                  <a:srgbClr val="EA580C"/>
                </a:solidFill>
                <a:latin typeface="Arial"/>
              </a:defRPr>
            </a:pPr>
            <a:r>
              <a:rPr>
                <a:latin typeface="Arial"/>
              </a:rPr>
              <a:t>📝 DẠNG CHỮ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Dòng chữ trên sách, báo, bảng hiệu, nhãn vở, tin nhắn...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8000" y="1980000"/>
            <a:ext cx="5400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8000" y="1980000"/>
            <a:ext cx="216000" cy="43200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8000" y="2232000"/>
            <a:ext cx="4680000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200" b="1" i="0">
                <a:solidFill>
                  <a:srgbClr val="10B981"/>
                </a:solidFill>
                <a:latin typeface="Arial"/>
              </a:defRPr>
            </a:pPr>
            <a:r>
              <a:rPr>
                <a:latin typeface="Arial"/>
              </a:rPr>
              <a:t>🖼️ DẠNG HÌNH ẢNH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Bức tranh, ảnh chụp, biển báo giao thông, bản đồ, video...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096000" y="1980000"/>
            <a:ext cx="5400000" cy="43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096000" y="1980000"/>
            <a:ext cx="216000" cy="43200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56000" y="2232000"/>
            <a:ext cx="4680000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  <a:defRPr sz="2200" b="1" i="0">
                <a:solidFill>
                  <a:srgbClr val="1E3A8A"/>
                </a:solidFill>
                <a:latin typeface="Arial"/>
              </a:defRPr>
            </a:pPr>
            <a:r>
              <a:rPr>
                <a:latin typeface="Arial"/>
              </a:rPr>
              <a:t>🔊 DẠNG ÂM THANH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6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Tiếng chuông báo, tiếng còi xe, tiếng nói, tiếng chim hót...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0000" y="6552000"/>
            <a:ext cx="16848000" cy="223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p3_ba_dang_thong_t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000" y="6660000"/>
            <a:ext cx="7920000" cy="201599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wipe dir="d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LUYỆN TẬP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LUYỆN TẬP 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1980000"/>
            <a:ext cx="16848000" cy="2951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1980000"/>
            <a:ext cx="216000" cy="2951999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2268000"/>
            <a:ext cx="15840000" cy="25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900" b="1" i="0">
                <a:solidFill>
                  <a:srgbClr val="1E3A8A"/>
                </a:solidFill>
                <a:latin typeface="Arial"/>
              </a:defRPr>
            </a:pPr>
            <a:r>
              <a:rPr>
                <a:latin typeface="Arial"/>
              </a:rPr>
              <a:t>❓ Câu 1: Minh thấy An vui vẻ nên muốn kết bạn.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A. Minh thấy An vui vẻ = THÔNG TIN | B. Kết bạn với An = QUYẾT ĐỊNH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5220000"/>
            <a:ext cx="16848000" cy="295199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0000" y="5220000"/>
            <a:ext cx="216000" cy="2951999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0000" y="5508000"/>
            <a:ext cx="15840000" cy="252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900" b="1" i="0">
                <a:solidFill>
                  <a:srgbClr val="1E3A8A"/>
                </a:solidFill>
                <a:latin typeface="Arial"/>
              </a:defRPr>
            </a:pPr>
            <a:r>
              <a:rPr>
                <a:latin typeface="Arial"/>
              </a:rPr>
              <a:t>❓ Câu 2: Thấy trời mưa, Khoa đưa áo mưa cho mẹ.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700" b="0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Thông tin = Thấy trời mưa | Quyết định = Khoa đưa áo mưa cho mẹ.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" dur="indefinite" nodeType="mainSeq">
                <p:childTnLst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VẬN DỤNG &amp; TRẢI NGHIỆM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VẬN DỤNG 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0000" y="2160000"/>
            <a:ext cx="15407999" cy="6120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40000" y="2160000"/>
            <a:ext cx="216000" cy="6120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60000" y="2700000"/>
            <a:ext cx="13967999" cy="504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2400" b="1" i="0">
                <a:solidFill>
                  <a:srgbClr val="EA580C"/>
                </a:solidFill>
                <a:latin typeface="Arial"/>
              </a:defRPr>
            </a:pPr>
            <a:r>
              <a:rPr>
                <a:latin typeface="Arial"/>
              </a:rPr>
              <a:t>🌟 THỬ THÁCH THỰC TẾ DÀNH CHO EM: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1. Nêu 1 ví dụ về quyết định của em hôm nay và thông tin giúp em đưa ra quyết định.</a:t>
            </a:r>
            <a:br/>
            <a:r>
              <a:rPr>
                <a:latin typeface="Arial"/>
              </a:rPr>
              <a:t>2. Quan sát ngôi nhà em và ghi 3 ví dụ về 3 dạng thông tin (Chữ, Hình ảnh, Âm thanh).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36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l">
              <a:spcBef>
                <a:spcPts val="8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  TỔNG KẾT BÀI HỌC GHI NHỚ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180000"/>
            <a:ext cx="3600000" cy="32400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TỔNG KẾT 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0000" y="2160000"/>
            <a:ext cx="15407999" cy="612000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60000" y="2700000"/>
            <a:ext cx="13967999" cy="504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2400" b="1" i="0">
                <a:solidFill>
                  <a:srgbClr val="1E3A8A"/>
                </a:solidFill>
                <a:latin typeface="Arial"/>
              </a:defRPr>
            </a:pPr>
            <a:r>
              <a:rPr>
                <a:latin typeface="Arial"/>
              </a:rPr>
              <a:t>⭐ TÓM TẮT KIẾN THỨC CỐT LÕI: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1. Vai trò của thông tin: Nêu được ví dụ đơn giản minh họa vai trò của thông tin trong việc ra quyết định của con người.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2. Nhận biết ví dụ: Nhận biết được đâu là thông tin và đâu là quyết định trong ví dụ cụ thể.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 b="1" i="0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3. Ba dạng thông tin: Nhận biết 3 dạng thông tin thường gặp: dạng chữ, dạng âm thanh, dạng hình ảnh.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 advClick="1">
    <p:wipe dir="d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60000" y="1800000"/>
            <a:ext cx="13967999" cy="576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0" y="2880000"/>
            <a:ext cx="12527999" cy="3600000"/>
          </a:xfrm>
          <a:prstGeom prst="rect">
            <a:avLst/>
          </a:prstGeom>
          <a:noFill/>
        </p:spPr>
        <p:txBody>
          <a:bodyPr wrap="square" lIns="144000" rIns="144000" tIns="144000" bIns="14400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  <a:defRPr sz="3200" b="1" i="0">
                <a:solidFill>
                  <a:srgbClr val="EA580C"/>
                </a:solidFill>
                <a:latin typeface="Arial"/>
              </a:defRPr>
            </a:pPr>
            <a:r>
              <a:rPr>
                <a:latin typeface="Arial"/>
              </a:rPr>
              <a:t>🌟 CẢM ƠN CÁC EM ĐÃ THEO DÕI! 🌟</a:t>
            </a:r>
          </a:p>
          <a:p>
            <a:pPr>
              <a:spcBef>
                <a:spcPts val="200"/>
              </a:spcBef>
              <a:spcAft>
                <a:spcPts val="1600"/>
              </a:spcAft>
              <a:defRPr sz="2000" b="0" i="1">
                <a:solidFill>
                  <a:srgbClr val="0F172A"/>
                </a:solidFill>
                <a:latin typeface="Arial"/>
              </a:defRPr>
            </a:pPr>
            <a:r>
              <a:rPr>
                <a:latin typeface="Arial"/>
              </a:rPr>
              <a:t>Chúc các em luôn học giỏi và hăng hái khám phá thế giới Tin học!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2200" b="1" i="0">
                <a:solidFill>
                  <a:srgbClr val="1E3A8A"/>
                </a:solidFill>
                <a:latin typeface="Arial"/>
              </a:defRPr>
            </a:pPr>
            <a:r>
              <a:rPr>
                <a:latin typeface="Arial"/>
              </a:rPr>
              <a:t>TRƯỜNG TIỂU HỌC VÀ THCS UNIGO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809280"/>
            <a:ext cx="18288000" cy="432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TRƯỜNG TIỂU HỌC VÀ THCS UNIGO  •  HỆ THỐNG GIÁO DỤC CHẤT LƯỢNG CAO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4468</TotalTime>
  <Words>17</Words>
  <Application>Microsoft Office PowerPoint</Application>
  <PresentationFormat>Custom</PresentationFormat>
  <Paragraphs>7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Aileron Heavy</vt:lpstr>
      <vt:lpstr>Arial</vt:lpstr>
      <vt:lpstr>Monggirella script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UNIGO COLLEGE</dc:title>
  <dc:creator>Admin</dc:creator>
  <cp:lastModifiedBy>Admin</cp:lastModifiedBy>
  <cp:revision>127</cp:revision>
  <dcterms:created xsi:type="dcterms:W3CDTF">2006-08-16T00:00:00Z</dcterms:created>
  <dcterms:modified xsi:type="dcterms:W3CDTF">2026-07-08T06:31:05Z</dcterms:modified>
  <dc:identifier>DAGcCSuIkf8</dc:identifier>
</cp:coreProperties>
</file>