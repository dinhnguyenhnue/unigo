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94392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4392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0284C7"/>
                </a:solidFill>
                <a:latin typeface="Times New Roman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5752" cy="11887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Times New Roman"/>
              </a:defRPr>
            </a:pPr>
            <a:r>
              <a:t>BÀI 1: THÔNG TIN VÀ QUYẾT ĐỊNH</a:t>
            </a:r>
            <a:br/>
            <a:r>
              <a:t>(TIẾT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4575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imes New Roman"/>
              </a:defRPr>
            </a:pPr>
            <a:r>
              <a:t>Môn Tin học • Lớp 3 • Tuần 2 • Sách Kết nối tri thức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imes New Roman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5752" cy="34747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365760" cy="3474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011680"/>
            <a:ext cx="8046720" cy="5486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Times New Roman"/>
              </a:defRPr>
            </a:pPr>
            <a:r>
              <a:t>MỤC TIÊU TIẾT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651760"/>
            <a:ext cx="8046720" cy="13716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Sau tiết học hôm nay, em sẽ: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023360"/>
            <a:ext cx="804672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Times New Roman"/>
              </a:defRPr>
            </a:pPr>
            <a:r>
              <a:t>✓ Nêu được ví dụ đơn giản minh hoạ vai trò của thông tin trong ra quyết định.</a:t>
            </a:r>
            <a:br/>
            <a:r>
              <a:t>✓ Nhận biết được thông tin và quyết định trong các ví dụ cụ thể.</a:t>
            </a:r>
            <a:br/>
            <a:r>
              <a:t>✓ Nhận biết 3 dạng thông tin thường gặp (chữ, hình ảnh, âm thanh).</a:t>
            </a:r>
            <a:br/>
            <a:r>
              <a:t>✓ Làm quen với cách thiết bị thông minh (AI) thu nhận thông tin.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HOẠT ĐỘNG 1: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0369A1"/>
                </a:solidFill>
                <a:latin typeface="Times New Roman"/>
              </a:defRPr>
            </a:pPr>
            <a:r>
              <a:t>Câu chuyện buổi sáng của bạn Minh 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389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Bạn Minh nghe tiếng chuông đồng hồ báo thức reo vang.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Minh thức dậy, đánh răng, rửa mặt, ăn sáng và chuẩn bị sách vở đến trường.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❓ Câu hỏi giao lưu: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- Tiếng chuông reo báo cho Minh biết điều gì?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- Sau khi nghe chuông, Minh đã làm những việc gì?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KHÁM PHÁ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0369A1"/>
                </a:solidFill>
                <a:latin typeface="Times New Roman"/>
              </a:defRPr>
            </a:pPr>
            <a:r>
              <a:t>Thế nào là Thông tin? Thế nào là Quyết định?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389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ĐIỀU EM BIẾT: Tiếng chuông báo thức reo (đã đến giờ dậy).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Đó chính là THÔNG TIN.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HÀNH ĐỘNG EM LÀM: Rời khỏi giường, vệ sinh cá nhân, đi học.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Đó chính là QUYẾT ĐỊNH.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💡 Ghi nhớ: Con người thu nhận thông tin từ thế giới xung quanh, sau khi suy nghĩ sẽ đưa ra quyết định hành động.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5_img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777239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💡 Em hãy nhắc lại: Mối liên hệ giữa Thông tin và Quyết định?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640080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57400"/>
            <a:ext cx="164592" cy="21488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943600" cy="777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1. Hằng ngày, mắt em nhìn, tai em nghe thấy mọi vật xung quanh.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2. Mọi điều em biết được từ xung quanh đều là Thông tin.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3. Từ thông tin đó, em suy nghĩ và lựa chọn hành động phù hợp.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057400"/>
            <a:ext cx="466344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6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03120"/>
            <a:ext cx="448056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Times New Roman"/>
              </a:defRPr>
            </a:pPr>
            <a:r>
              <a:t>📌 GHI NHỚ TRỌNG TÂM (SGK)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Những điều em biết là thông tin.</a:t>
            </a:r>
            <a:br/>
            <a:r>
              <a:t>Từ thông tin thu được, sau khi suy nghĩ, em sẽ đưa ra quyết định của mình.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KHÁM PHÁ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0369A1"/>
                </a:solidFill>
                <a:latin typeface="Times New Roman"/>
              </a:defRPr>
            </a:pPr>
            <a:r>
              <a:t>Vai trò của thông tin trong ra quyết định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389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Tình huống 1: Buổi sáng xem Thời khóa biểu thấy có tiết Thể dục 👉 Quyết định đi giày thể thao.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Tình huống 2: Bạn An nói thư viện trường mới có truyện cổ tích hay 👉 Giờ ra chơi quyết định đến thư viện mượn đọc.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❓ Nếu không có thông tin trên, em có đưa ra các quyết định đó không?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6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777239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💡 Vì sao chúng ta luôn cần có thông tin trước khi hành động?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640080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57400"/>
            <a:ext cx="164592" cy="21488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943600" cy="777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Thông tin giúp em biết mình nên làm gì và không nên làm gì.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Có thông tin đầy đủ, quyết định của em sẽ chính xác và an toàn.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Nếu thiếu thông tin, quyết định có thể bị nhầm lẫn hoặc sai sót.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057400"/>
            <a:ext cx="466344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6_img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03120"/>
            <a:ext cx="448056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Times New Roman"/>
              </a:defRPr>
            </a:pPr>
            <a:r>
              <a:t>📌 GHI NHỚ TRỌNG TÂM (SGK)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Cần phải có thông tin để ra quyết định.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KHÁM PHÁ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0369A1"/>
                </a:solidFill>
                <a:latin typeface="Times New Roman"/>
              </a:defRPr>
            </a:pPr>
            <a:r>
              <a:t>Ba dạng thông tin thường gặp trong đời sống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56616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DẠNG CHỮ 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Các chữ cái, con số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Tên trường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Sách báo, biển hiệu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Lời nhắn, tin nhắn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645920"/>
            <a:ext cx="35661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DẠNG HÌNH ẢNH 🖼️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Bức tranh cổ động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3464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Biển báo giao thông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42900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Ảnh chụp bạn bè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02336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Video hoạt hình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356616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DẠNG ÂM THANH 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Tiếng trống trường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83464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Tiếng chuông báo thức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42900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Tiếng chim hót líu 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02336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Giọng nói thầy cô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777239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💡 Em hãy quan sát xung quanh lớp học và kể tên 3 dạng thông tin?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640080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57400"/>
            <a:ext cx="164592" cy="21488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943600" cy="777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Bảng nội quy lớp học: Thông tin dạng CHỮ.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Tranh ảnh trang trí trên tường: Thông tin dạng HÌNH ẢNH.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Tiếng trống báo vào lớp: Thông tin dạng ÂM THANH.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🤖 Góc AI: Loa thông minh nghe được âm thanh giọng nói; Camera thông minh nhìn được hình ảnh để hỗ trợ con người!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057400"/>
            <a:ext cx="466344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7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03120"/>
            <a:ext cx="4480560" cy="2057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Times New Roman"/>
              </a:defRPr>
            </a:pPr>
            <a:r>
              <a:t>📌 GHI NHỚ TRỌNG TÂM (SGK)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Ba dạng thông tin thường gặp là dạng chữ, dạng hình ảnh và dạng âm thanh.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HOẠT ĐỘNG 3: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0369A1"/>
                </a:solidFill>
                <a:latin typeface="Times New Roman"/>
              </a:defRPr>
            </a:pPr>
            <a:r>
              <a:t>Quan sát 3 thùng rác và phân biệt thông tin ♻️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389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Thùng màu xanh: Rác hữu cơ (thức ăn thừa, lá cây).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Thùng màu cam: Rác vô cơ (túi nilon, đồ nhựa).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Thùng màu vàng: Rác tái chế (vỏ chai, giấy vụn).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❓ Câu hỏi: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Thông tin giúp em bỏ rác đúng thùng được thể hiện ở những dạng nào?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Có cả DẠNG CHỮ và DẠNG HÌNH ẢNH!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ai1_p8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THỬ THÁCH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82880" cy="9144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t>❓ Tiếng còi xe cứu thương đang hú trên đường thuộc dạng thông tin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822960" cy="822959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Dạng chữ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880360"/>
            <a:ext cx="822960" cy="822959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Dạng âm thanh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Dạng hình ảnh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Dạng con số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THỬ THÁCH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82880" cy="9144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t>❓ Nhìn thấy biển báo đèn đỏ bật sáng ở ngã tư, người lái xe dừng lại. Hành động dừng xe là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822960" cy="822959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Thông 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880360"/>
            <a:ext cx="822960" cy="822959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Thiết bị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Quyết định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Dữ liệu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1352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1352" cy="18287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5592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400" b="1">
                <a:solidFill>
                  <a:srgbClr val="0284C7"/>
                </a:solidFill>
                <a:latin typeface="Times New Roman"/>
              </a:defRPr>
            </a:pPr>
            <a:r>
              <a:t>VẬN DỤNG &amp; DẶN DÒ VỀ NHÀ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8165592" cy="1280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Times New Roman"/>
              </a:defRPr>
            </a:pPr>
            <a:r>
              <a:t>1. Quan sát thời tiết ngày mai trước khi đi học và chuẩn bị áo mưa hoặc mũ nón phù hợp.</a:t>
            </a:r>
            <a:br/>
            <a:r>
              <a:t>2. Tìm thêm 3 ví dụ về dạng chữ, hình ảnh, âm thanh trong ngôi nhà của em.</a:t>
            </a:r>
            <a:br/>
            <a:r>
              <a:t>3. Ôn lại 3 Hộp Ghi nhớ trọng tâm để chuẩn bị cho Tiết 2 thật tốt nhé!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297680"/>
            <a:ext cx="816559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Times New Roman"/>
              </a:defRPr>
            </a:pPr>
            <a:r>
              <a:t>Hẹn gặp lại các em ở bài học tuần sau!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