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3 • Bài 1</a:t>
            </a:r>
          </a:p>
        </p:txBody>
      </p:sp>
      <p:pic>
        <p:nvPicPr>
          <p:cNvPr id="6" name="Picture 5" descr="bai1_p5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1. 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Em hãy đoán xem!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31407"/>
                </a:solidFill>
                <a:latin typeface="Arial"/>
              </a:rPr>
              <a:t>Sáng nay trước khi đi học, em quyết định mặc áo gì?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31407"/>
                </a:solidFill>
                <a:latin typeface="Arial"/>
              </a:rPr>
              <a:t>Em dựa vào đâu để đưa ra quyết định đó?</a:t>
            </a:r>
          </a:p>
        </p:txBody>
      </p:sp>
      <p:pic>
        <p:nvPicPr>
          <p:cNvPr id="9" name="Picture 8" descr="bai1_p5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1. 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Thông tin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28900"/>
            <a:ext cx="3605784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5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132" y="2766060"/>
            <a:ext cx="164592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Nhìn thấy — chữ viết, hình ảnh, màu sắc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1584" y="2628900"/>
            <a:ext cx="3605784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5_img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2766060"/>
            <a:ext cx="16459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28744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Nghe thấy — âm thanh, tiếng nói, tiếng chuông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968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5968" y="2628900"/>
            <a:ext cx="3605784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5_img3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5900" y="2766060"/>
            <a:ext cx="16459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3128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Cảm nhận — độ nóng, lạnh, cứng, mềm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1. 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Thông tin giúp em quyết định!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28900"/>
            <a:ext cx="3605784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5_img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132" y="2766060"/>
            <a:ext cx="164592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Trời mưa → Em mang theo ô hoặc áo mưa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1584" y="2628900"/>
            <a:ext cx="3605784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6_img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2766060"/>
            <a:ext cx="16459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28744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Đèn đỏ → Em dừng xe lại trước vạch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968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5968" y="2628900"/>
            <a:ext cx="3605784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6_img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5900" y="2766060"/>
            <a:ext cx="16459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3128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Chuông reo → Em nhanh chóng vào lớp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1. 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Các dạng thông tin cơ bản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28900"/>
            <a:ext cx="3605784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6_img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132" y="2766060"/>
            <a:ext cx="164592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Dạng chữ (văn bản) — sách, báo, tin nhắn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1584" y="2628900"/>
            <a:ext cx="3605784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6_img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2766060"/>
            <a:ext cx="16459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28744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Dạng hình ảnh — bức tranh, ảnh chụp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968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5968" y="2628900"/>
            <a:ext cx="3605784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7_img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5900" y="2766060"/>
            <a:ext cx="16459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3128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Dạng âm thanh — bản nhạc, tiếng nói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Em hãy thử nào!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7C2D12"/>
                </a:solidFill>
                <a:latin typeface="Arial"/>
              </a:rPr>
              <a:t>Trả lời từng câu hỏi tình huống: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3605784" cy="16459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5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371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1868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31407"/>
                </a:solidFill>
                <a:latin typeface="Arial"/>
              </a:rPr>
              <a:t>Thấy mây đen kéo đến → Em quyết định gì?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3017520"/>
            <a:ext cx="3605784" cy="16459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ai1_p5_img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4464" y="3154679"/>
            <a:ext cx="1280160" cy="13715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37504" y="3154679"/>
            <a:ext cx="1868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31407"/>
                </a:solidFill>
                <a:latin typeface="Arial"/>
              </a:rPr>
              <a:t>Nghe tiếng chuông báo thức → Em làm gì?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5968" y="3017520"/>
            <a:ext cx="3605784" cy="16459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ai1_p5_img3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8847" y="3154679"/>
            <a:ext cx="1280160" cy="13715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71888" y="3154679"/>
            <a:ext cx="1868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31407"/>
                </a:solidFill>
                <a:latin typeface="Arial"/>
              </a:rPr>
              <a:t>Nhìn thấy bảng hiệu ghi Stop → Em làm gì?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Trò chơi: Phân loại thông tin!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31407"/>
                </a:solidFill>
                <a:latin typeface="Arial"/>
              </a:rPr>
              <a:t>Hãy xác định dạng của mỗi thông tin sau:</a:t>
            </a:r>
          </a:p>
        </p:txBody>
      </p:sp>
      <p:pic>
        <p:nvPicPr>
          <p:cNvPr id="9" name="Picture 8" descr="bai1_p5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C2410C"/>
                </a:solidFill>
                <a:latin typeface="Arial"/>
              </a:rPr>
              <a:t>Hôm nay em đã học!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42316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C2D12"/>
                </a:solidFill>
                <a:latin typeface="Arial"/>
              </a:rPr>
              <a:t>Thông tin là những gì ta tiếp nhận qua giác quan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91840"/>
            <a:ext cx="73152" cy="6400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91840"/>
            <a:ext cx="9994392" cy="640079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C2D12"/>
                </a:solidFill>
                <a:latin typeface="Arial"/>
              </a:rPr>
              <a:t>3 dạng thông tin chính: Chữ, Hình ảnh, Âm thanh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297680"/>
            <a:ext cx="73152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297680"/>
            <a:ext cx="9994392" cy="6400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43484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C2D12"/>
                </a:solidFill>
                <a:latin typeface="Arial"/>
              </a:rPr>
              <a:t>Thông tin là cơ sở giúp con người quyết định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làm tốt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337560"/>
            <a:ext cx="73152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611879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431407"/>
                </a:solidFill>
                <a:latin typeface="Arial"/>
              </a:rPr>
              <a:t>BTVN: Kể 3 thông tin em nhận được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431407"/>
                </a:solidFill>
                <a:latin typeface="Arial"/>
              </a:rPr>
              <a:t>hôm nay và quyết định tương ứng!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