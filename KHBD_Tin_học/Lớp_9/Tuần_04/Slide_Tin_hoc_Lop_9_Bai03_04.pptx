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Mạng máy tính &amp; Internet 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9 • Tiết 3 &amp; 4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9 • BÀI 3. MẠNG MÁY TÍNH &amp; BÀI 4. 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Thế giới kết nối toàn cầu!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E1065"/>
                </a:solidFill>
                <a:latin typeface="Arial"/>
              </a:rPr>
              <a:t>Hàng tỷ thiết bị trên khắp hành tinh đang kết nối và truyền dữ liệu từng mili-giây: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E1065"/>
                </a:solidFill>
                <a:latin typeface="Arial"/>
              </a:rPr>
              <a:t>Hạ tầng mạng Internet toàn cầu hoạt động dựa trên những giao thức nào?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9 • KHÁM PHÁ VIDEO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Khám phá: Hạ tầng Internet &amp; Điện toán đám mây 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>Video phân tích cách thức dữ liệu di chuyển qua các tuyến cáp quang biển và hệ thống máy chủ toàn cầu!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>🔗 Đường link video tham khảo: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>https://www.youtube.com/watch?v=7v8n9m0k1Rq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E1065"/>
                </a:solidFill>
                <a:latin typeface="Arial"/>
              </a:rPr>
              <a:t>💡 Thầy/Cô sẽ chiếu video cho các em quan sát nhé!</a:t>
            </a:r>
          </a:p>
        </p:txBody>
      </p:sp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9 • BÀI 3. MẠNG MÁY TÍNH &amp; BÀI 4. 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Tiết 3: Cấu trúc &amp; Phân loại Mạng máy tính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11274552" cy="7338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91440" cy="73380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1090879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Mạng cục bộ (LAN — Local Area Network): kết nối trong phạm vi hẹp (trường học, công 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84398"/>
            <a:ext cx="1127455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184398"/>
            <a:ext cx="91440" cy="73380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21558"/>
            <a:ext cx="1090879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Mạng diện rộng (WAN — Wide Area Network): kết nối vượt qua phạm vi quốc gia, châu lục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82796"/>
            <a:ext cx="1127455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82796"/>
            <a:ext cx="91440" cy="73380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219956"/>
            <a:ext cx="1090879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Các thiết bị mạng: Switch, Router, Modem, Cáp quang, Điểm truy cập Access 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981194"/>
            <a:ext cx="1127455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981194"/>
            <a:ext cx="91440" cy="73380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118354"/>
            <a:ext cx="1090879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Mô hình mạng: Khách - Chủ (Client - Server) và Ngang hàng (Peer-to-Peer)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9 • BÀI 3. MẠNG MÁY TÍNH &amp; BÀI 4. 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Tiết 4: Mạng toàn cầu Internet &amp; Điện toán đám mây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11274552" cy="7338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91440" cy="73380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1090879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Internet: mạng của các mạng máy tính kết nối toàn cầu, sử dụng giao thức TCP/IP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84398"/>
            <a:ext cx="1127455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184398"/>
            <a:ext cx="91440" cy="73380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21558"/>
            <a:ext cx="1090879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Dịch vụ Internet: WWW, Thư điện tử (Email), Truyền tệp (FTP), Hội thảo trực tuyến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82796"/>
            <a:ext cx="1127455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82796"/>
            <a:ext cx="91440" cy="73380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219956"/>
            <a:ext cx="1090879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Điện toán đám mây (Cloud Computing): lưu trữ và xử lý dữ liệu từ xa trên máy chủ đám mây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981194"/>
            <a:ext cx="1127455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981194"/>
            <a:ext cx="91440" cy="73380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118354"/>
            <a:ext cx="1090879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Vạn vật kết nối (IoT — Internet of Things): các thiết bị thông minh kết nối mạng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9 • LUYỆN TẬP TƯƠNG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Phân tích hệ thống mạng &amp; Dịch vụ đám mây!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Xác định các thành phần mạng: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54679"/>
            <a:ext cx="51572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1065"/>
                </a:solidFill>
                <a:latin typeface="Arial"/>
              </a:rPr>
              <a:t>Mạng phòng máy trường học ↔ Mạng cục bộ (LAN)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1656" y="3154679"/>
            <a:ext cx="51572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1065"/>
                </a:solidFill>
                <a:latin typeface="Arial"/>
              </a:rPr>
              <a:t>Mạng Internet toàn cầu ↔ Mạng diện rộng (WAN)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1572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1065"/>
                </a:solidFill>
                <a:latin typeface="Arial"/>
              </a:rPr>
              <a:t>Google Drive, iCloud ↔ Dịch vụ lưu trữ Đám mây (Cloud)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4663440"/>
            <a:ext cx="51572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1065"/>
                </a:solidFill>
                <a:latin typeface="Arial"/>
              </a:rPr>
              <a:t>Giao thức truyền thông chính của Internet ↔ TCP/IP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9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Thảo luận: An ninh mạng trong thời đại IoT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Thảo luận nhóm 4 học sinh (5 phút):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Những nguy cơ an ninh mạng khi nhà thông minh (Smart home) kết nối Internet?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Tầm quan trọng của việc cập nhật firmware và đổi mật khẩu mặc định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Trách nhiệm của học sinh khi tham gia không gian mạng</a:t>
            </a:r>
          </a:p>
        </p:txBody>
      </p:sp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1065"/>
                </a:solidFill>
                <a:latin typeface="Arial"/>
              </a:rPr>
              <a:t>Tóm tắt bài học 2 tiết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331464" cy="3291839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79"/>
            <a:ext cx="411480" cy="411480"/>
          </a:xfrm>
          <a:prstGeom prst="ellipse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E1065"/>
                </a:solidFill>
                <a:latin typeface="Arial"/>
              </a:rPr>
              <a:t>Phân biệt mạng cục bộ LAN và mạng diện rộng WAN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744" y="2103120"/>
            <a:ext cx="3331464" cy="3291839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5904" y="2240279"/>
            <a:ext cx="411480" cy="411480"/>
          </a:xfrm>
          <a:prstGeom prst="ellipse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E1065"/>
                </a:solidFill>
                <a:latin typeface="Arial"/>
              </a:rPr>
              <a:t>Bản chất của mạng Internet và bộ giao thức TCP/IP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3088" y="2103120"/>
            <a:ext cx="3331464" cy="3291839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80248" y="2240279"/>
            <a:ext cx="411480" cy="411480"/>
          </a:xfrm>
          <a:prstGeom prst="ellipse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248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248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E1065"/>
                </a:solidFill>
                <a:latin typeface="Arial"/>
              </a:rPr>
              <a:t>Ứng dụng của Điện toán đám mây và IoT trong đời sống hiện đại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Bài học kết thúc!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BTVN: Tìm hiểu về tuyến cáp quang biển kết nối Internet của Việt Nam!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