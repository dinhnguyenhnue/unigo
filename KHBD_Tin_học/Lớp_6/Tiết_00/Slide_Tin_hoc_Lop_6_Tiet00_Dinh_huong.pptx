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5"/>
    <p:sldId id="257" r:id="rId4"/>
    <p:sldId id="258" r:id="rId3"/>
    <p:sldId id="259" r:id="rId2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96" y="1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4.xml"/><Relationship Id="rId3" Type="http://schemas.openxmlformats.org/officeDocument/2006/relationships/slide" Target="slides/slide3.xml"/><Relationship Id="rId4" Type="http://schemas.openxmlformats.org/officeDocument/2006/relationships/slide" Target="slides/slide2.xml"/><Relationship Id="rId5" Type="http://schemas.openxmlformats.org/officeDocument/2006/relationships/slide" Target="slides/slide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2D0BA-FBE9-6E44-691F-000C693EA2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CE97D33-3B98-BBDE-4334-263FB7EE47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0CF0E5-ADF7-8470-3B9F-91C48728E4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E504DA-4D4F-4EDC-F344-F03CE86DB4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549F38-FA9E-B600-327E-9BDCCF1020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0410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DBFD97-87FB-631E-EEF8-6E51DCB457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4DE0B9-02FF-4F72-ED16-1FB31B569E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7B87DC-AA2C-EDEA-982F-36A5FDC6D2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6E27A9-4B0A-C4FB-C65C-DD407FABC5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47FF0C-E183-66BE-709C-448A4AC577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60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744FD-7E48-FCDF-CF0B-2B23DE1327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94DECC-CB72-B397-C02A-C5108354BF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31C495-26F5-512C-E243-F8AA335A8E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8E351D-6FC7-D545-DF8A-EB162F5B4D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B95763-201D-C4E1-EB65-4B88B137B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70148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05217B-8EC9-4EA4-9045-0C817687E4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88FE9A-0D5F-7AE0-E7C8-A53EE8AF7E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4AE5D0-63E8-DCD8-D6B8-306243F3FC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59FF46-C6D8-B70D-34CC-F0BBD25146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5A21F2-0257-6653-C1B4-BE4271B70E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888B2D-A696-926B-CB00-30CB39A21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5907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2D1804-FC72-EA87-B283-0ED24BD9CD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D6F214-B860-807F-5D59-775C2C3CD3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872204-513C-7EE5-A63F-ACD7E6F1F0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8089B82-4A6B-0A50-33A8-F57C641AA40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57602B8-966B-D55B-DF46-EF8FE962A89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35D0A2-DDAB-2DEB-1654-64E2CF1352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F526C51-F9C1-C9F7-E325-985744413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9CD2BB8-A738-B00D-CD4F-1E516729D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5510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5058C7-EC99-CA69-69A1-B71A2EE1FB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A82FDDE-258E-65C9-5E9B-059B5310B2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88222D-5913-69EE-C0A1-2115B6A3B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364462-4379-23E8-5042-4188F2424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80956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E2B39AE-76E9-53E8-5AC2-AD6E83AE5A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8A39721-3A37-FE8B-936D-3225F2B6F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6383E3-5325-C6DD-4FD0-655FEA72A2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87331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9B1C8-88D4-EB75-0A5A-DBF764E94A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FB7FCE-F57B-B919-56DD-5EDF6227BA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BC4E80-42F9-68B4-89A4-09F4B2E311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2E4884-0004-05C1-9162-12837C41B9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10837C-4E57-5E0F-EC87-6499BA034A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A4D633-7171-8A0D-E4C6-6D53E0859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11064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0E132-6996-68E8-4F29-37C27BB8EB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0434507-83A3-0D3E-B631-5AA2974E08B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62259C-71C9-5E4F-343E-C0E87D750F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081087-DD77-D63D-A0AB-E7DF40F551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55EC71-8A66-0F0A-B040-0930D31AA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332627-5E94-EEB1-7186-47F0D5C6F5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95566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121772-A9B5-C630-07CA-DECD42CD77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DBB18D-FEE1-0190-5A10-2B09E03977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CD711D-A70F-EF10-8E36-12C26924E8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F3B26D-7C72-7CF5-91E5-6B9F530321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AE76EA-4D7B-99B2-4676-A289DD637D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96339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1B24F8F-8C52-E27E-05DE-AD92E136AB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CCC27E-F320-1CAF-FC80-1F7384CA5E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5A3655-F6DA-384A-BCB5-A32BD9B555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496872-344F-98B4-6458-BAACD263E5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A6A315-6909-97E2-34A8-B9CB86B9CF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549293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78B8C0F-9B11-4065-AE8C-7637290FB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5032" y="829142"/>
            <a:ext cx="10198768" cy="8615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5FE732-1FF5-3147-A7B1-F7E2E0778B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D77A1F-9F08-BD8F-DAF3-65DDCDFC4F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665A47-83AD-EE80-1199-0CCBE3548B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F62C6C-6174-7774-F45D-8725FE4A30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D2C332A-3D9A-458F-2703-2BC4602A665E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940" y="136525"/>
            <a:ext cx="867744" cy="86154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0712185-E163-EB6D-9E42-C99AF00858F6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81" t="23826" r="6770" b="30087"/>
          <a:stretch>
            <a:fillRect/>
          </a:stretch>
        </p:blipFill>
        <p:spPr>
          <a:xfrm>
            <a:off x="0" y="5883441"/>
            <a:ext cx="12252960" cy="1126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03477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lassroom_computer_lab_178586191947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188720"/>
            <a:ext cx="5120640" cy="4206240"/>
          </a:xfrm>
          <a:prstGeom prst="rect">
            <a:avLst/>
          </a:prstGeom>
        </p:spPr>
      </p:pic>
      <p:grpSp>
        <p:nvGrpSpPr>
          <p:cNvPr id="5" name="Card Group 5"/>
          <p:cNvGrpSpPr/>
          <p:nvPr/>
        </p:nvGrpSpPr>
        <p:grpSpPr>
          <a:xfrm>
            <a:off x="548640" y="1188720"/>
            <a:ext cx="5486400" cy="4206240"/>
            <a:chOff x="548640" y="1188720"/>
            <a:chExt cx="5486400" cy="4206240"/>
          </a:xfrm>
        </p:grpSpPr>
        <p:sp>
          <p:nvSpPr>
            <p:cNvPr id="3" name="Rounded Rectangle 2"/>
            <p:cNvSpPr/>
            <p:nvPr/>
          </p:nvSpPr>
          <p:spPr>
            <a:xfrm>
              <a:off x="548640" y="1188720"/>
              <a:ext cx="5486400" cy="4206240"/>
            </a:xfrm>
            <a:prstGeom prst="roundRect">
              <a:avLst>
                <a:gd name="adj" fmla="val 20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ounded Rectangle 3"/>
            <p:cNvSpPr/>
            <p:nvPr/>
          </p:nvSpPr>
          <p:spPr>
            <a:xfrm>
              <a:off x="548640" y="1188720"/>
              <a:ext cx="137160" cy="4206240"/>
            </a:xfrm>
            <a:prstGeom prst="roundRect">
              <a:avLst>
                <a:gd name="adj" fmla="val 50000"/>
              </a:avLst>
            </a:prstGeom>
            <a:solidFill>
              <a:srgbClr val="F43F5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6" name="Rounded Rectangle 5"/>
          <p:cNvSpPr/>
          <p:nvPr/>
        </p:nvSpPr>
        <p:spPr>
          <a:xfrm>
            <a:off x="1005840" y="1371600"/>
            <a:ext cx="4114800" cy="457200"/>
          </a:xfrm>
          <a:prstGeom prst="roundRect">
            <a:avLst>
              <a:gd name="adj" fmla="val 2000"/>
            </a:avLst>
          </a:prstGeom>
          <a:solidFill>
            <a:srgbClr val="1E3A8A"/>
          </a:solidFill>
          <a:ln w="9525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Times New Roman"/>
              </a:rPr>
              <a:t>TIN HỌC 6  •  NĂM HỌC 2026 – 2027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01168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E3A8A"/>
                </a:solidFill>
                <a:latin typeface="Times New Roman"/>
              </a:rPr>
              <a:t>Tiết 0 — Định hướng</a:t>
            </a:r>
          </a:p>
          <a:p>
            <a:pPr>
              <a:spcBef>
                <a:spcPts val="600"/>
              </a:spcBef>
            </a:pPr>
            <a:r>
              <a:rPr sz="2000" b="1" i="0">
                <a:solidFill>
                  <a:srgbClr val="F43F5E"/>
                </a:solidFill>
                <a:latin typeface="Times New Roman"/>
              </a:rPr>
              <a:t>Phuong phap &amp; An toan so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402336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i="0">
                <a:solidFill>
                  <a:srgbClr val="3B82F6"/>
                </a:solidFill>
                <a:latin typeface="Times New Roman"/>
              </a:rPr>
              <a:t>Trường TH &amp; THCS UNIGO</a:t>
            </a:r>
          </a:p>
          <a:p>
            <a:pPr>
              <a:spcBef>
                <a:spcPts val="400"/>
              </a:spcBef>
            </a:pPr>
            <a:r>
              <a:rPr sz="1500" b="0" i="1">
                <a:solidFill>
                  <a:srgbClr val="64748B"/>
                </a:solidFill>
                <a:latin typeface="Times New Roman"/>
              </a:rPr>
              <a:t>Giáo viên: Đậu Đình Nguyên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tudent_learning_goals_178586196147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80160"/>
            <a:ext cx="3840480" cy="4206240"/>
          </a:xfrm>
          <a:prstGeom prst="rect">
            <a:avLst/>
          </a:prstGeom>
        </p:spPr>
      </p:pic>
      <p:grpSp>
        <p:nvGrpSpPr>
          <p:cNvPr id="5" name="Card Group 5"/>
          <p:cNvGrpSpPr/>
          <p:nvPr/>
        </p:nvGrpSpPr>
        <p:grpSpPr>
          <a:xfrm>
            <a:off x="4572000" y="1188720"/>
            <a:ext cx="6949440" cy="4389120"/>
            <a:chOff x="4572000" y="1188720"/>
            <a:chExt cx="6949440" cy="4389120"/>
          </a:xfrm>
        </p:grpSpPr>
        <p:sp>
          <p:nvSpPr>
            <p:cNvPr id="3" name="Rounded Rectangle 2"/>
            <p:cNvSpPr/>
            <p:nvPr/>
          </p:nvSpPr>
          <p:spPr>
            <a:xfrm>
              <a:off x="4572000" y="1188720"/>
              <a:ext cx="6949440" cy="4389120"/>
            </a:xfrm>
            <a:prstGeom prst="roundRect">
              <a:avLst>
                <a:gd name="adj" fmla="val 20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ounded Rectangle 3"/>
            <p:cNvSpPr/>
            <p:nvPr/>
          </p:nvSpPr>
          <p:spPr>
            <a:xfrm>
              <a:off x="4572000" y="1188720"/>
              <a:ext cx="137160" cy="4389120"/>
            </a:xfrm>
            <a:prstGeom prst="roundRect">
              <a:avLst>
                <a:gd name="adj" fmla="val 50000"/>
              </a:avLst>
            </a:prstGeom>
            <a:solidFill>
              <a:srgbClr val="1E3A8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4937760" y="1371600"/>
            <a:ext cx="63093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200"/>
              </a:lnSpc>
              <a:spcAft>
                <a:spcPts val="1200"/>
              </a:spcAft>
            </a:pPr>
            <a:r>
              <a:rPr sz="2600" b="1" i="0">
                <a:solidFill>
                  <a:srgbClr val="1E3A8A"/>
                </a:solidFill>
                <a:latin typeface="Times New Roman"/>
              </a:rPr>
              <a:t>🎯  Mục tiêu tiết học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F43F5E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Tổng quan chương trình Tin học 6.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F43F5E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Nội quy an toàn phòng máy tính UNIGO.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F43F5E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Ứng xử văn minh trên môi trường số (Digital Citizenship).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digital_devices_around_178586192932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1188720"/>
            <a:ext cx="4846320" cy="4389120"/>
          </a:xfrm>
          <a:prstGeom prst="rect">
            <a:avLst/>
          </a:prstGeom>
        </p:spPr>
      </p:pic>
      <p:grpSp>
        <p:nvGrpSpPr>
          <p:cNvPr id="5" name="Card Group 5"/>
          <p:cNvGrpSpPr/>
          <p:nvPr/>
        </p:nvGrpSpPr>
        <p:grpSpPr>
          <a:xfrm>
            <a:off x="548640" y="1188720"/>
            <a:ext cx="5852160" cy="4389120"/>
            <a:chOff x="548640" y="1188720"/>
            <a:chExt cx="5852160" cy="4389120"/>
          </a:xfrm>
        </p:grpSpPr>
        <p:sp>
          <p:nvSpPr>
            <p:cNvPr id="3" name="Rounded Rectangle 2"/>
            <p:cNvSpPr/>
            <p:nvPr/>
          </p:nvSpPr>
          <p:spPr>
            <a:xfrm>
              <a:off x="548640" y="1188720"/>
              <a:ext cx="5852160" cy="4389120"/>
            </a:xfrm>
            <a:prstGeom prst="roundRect">
              <a:avLst>
                <a:gd name="adj" fmla="val 20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ounded Rectangle 3"/>
            <p:cNvSpPr/>
            <p:nvPr/>
          </p:nvSpPr>
          <p:spPr>
            <a:xfrm>
              <a:off x="548640" y="1188720"/>
              <a:ext cx="137160" cy="4389120"/>
            </a:xfrm>
            <a:prstGeom prst="roundRect">
              <a:avLst>
                <a:gd name="adj" fmla="val 50000"/>
              </a:avLst>
            </a:prstGeom>
            <a:solidFill>
              <a:srgbClr val="3B82F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914400" y="1371600"/>
            <a:ext cx="5212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200"/>
              </a:lnSpc>
              <a:spcAft>
                <a:spcPts val="1200"/>
              </a:spcAft>
            </a:pPr>
            <a:r>
              <a:rPr sz="2600" b="1" i="0">
                <a:solidFill>
                  <a:srgbClr val="3B82F6"/>
                </a:solidFill>
                <a:latin typeface="Times New Roman"/>
              </a:rPr>
              <a:t>🎮  Thế giới số quanh em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3B82F6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Thiết bị nào quanh em? (máy tính, tablet...)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3B82F6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Em đã dùng máy tính để làm gì?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3B82F6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Tin học 6: "người dùng" → "nhà sáng tạo số"!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in_hoc_mindmap_178586198045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71600"/>
            <a:ext cx="4114800" cy="4023360"/>
          </a:xfrm>
          <a:prstGeom prst="rect">
            <a:avLst/>
          </a:prstGeom>
        </p:spPr>
      </p:pic>
      <p:grpSp>
        <p:nvGrpSpPr>
          <p:cNvPr id="5" name="Card Group 5"/>
          <p:cNvGrpSpPr/>
          <p:nvPr/>
        </p:nvGrpSpPr>
        <p:grpSpPr>
          <a:xfrm>
            <a:off x="4754880" y="1188720"/>
            <a:ext cx="6766560" cy="4389120"/>
            <a:chOff x="4754880" y="1188720"/>
            <a:chExt cx="6766560" cy="4389120"/>
          </a:xfrm>
        </p:grpSpPr>
        <p:sp>
          <p:nvSpPr>
            <p:cNvPr id="3" name="Rounded Rectangle 2"/>
            <p:cNvSpPr/>
            <p:nvPr/>
          </p:nvSpPr>
          <p:spPr>
            <a:xfrm>
              <a:off x="4754880" y="1188720"/>
              <a:ext cx="6766560" cy="4389120"/>
            </a:xfrm>
            <a:prstGeom prst="roundRect">
              <a:avLst>
                <a:gd name="adj" fmla="val 20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ounded Rectangle 3"/>
            <p:cNvSpPr/>
            <p:nvPr/>
          </p:nvSpPr>
          <p:spPr>
            <a:xfrm>
              <a:off x="4754880" y="1188720"/>
              <a:ext cx="137160" cy="4389120"/>
            </a:xfrm>
            <a:prstGeom prst="roundRect">
              <a:avLst>
                <a:gd name="adj" fmla="val 50000"/>
              </a:avLst>
            </a:prstGeom>
            <a:solidFill>
              <a:srgbClr val="F43F5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5120640" y="1371600"/>
            <a:ext cx="61264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200"/>
              </a:lnSpc>
              <a:spcAft>
                <a:spcPts val="1200"/>
              </a:spcAft>
            </a:pPr>
            <a:r>
              <a:rPr sz="2400" b="1" i="0">
                <a:solidFill>
                  <a:srgbClr val="F43F5E"/>
                </a:solidFill>
                <a:latin typeface="Times New Roman"/>
              </a:rPr>
              <a:t>📚  Chương trình Tin học 6</a:t>
            </a:r>
          </a:p>
          <a:p>
            <a:pPr>
              <a:lnSpc>
                <a:spcPts val="2400"/>
              </a:lnSpc>
              <a:spcAft>
                <a:spcPts val="800"/>
              </a:spcAft>
            </a:pPr>
            <a:r>
              <a:rPr sz="1400" b="1" i="0">
                <a:solidFill>
                  <a:srgbClr val="1E3A8A"/>
                </a:solidFill>
                <a:latin typeface="Times New Roman"/>
              </a:rPr>
              <a:t>●  </a:t>
            </a:r>
            <a:r>
              <a:rPr sz="1600" b="0" i="0">
                <a:solidFill>
                  <a:srgbClr val="1E293B"/>
                </a:solidFill>
                <a:latin typeface="Times New Roman"/>
              </a:rPr>
              <a:t>Máy tính &amp; Xã hội tri thức</a:t>
            </a:r>
          </a:p>
          <a:p>
            <a:pPr>
              <a:lnSpc>
                <a:spcPts val="2400"/>
              </a:lnSpc>
              <a:spcAft>
                <a:spcPts val="800"/>
              </a:spcAft>
            </a:pPr>
            <a:r>
              <a:rPr sz="1400" b="1" i="0">
                <a:solidFill>
                  <a:srgbClr val="1E3A8A"/>
                </a:solidFill>
                <a:latin typeface="Times New Roman"/>
              </a:rPr>
              <a:t>●  </a:t>
            </a:r>
            <a:r>
              <a:rPr sz="1600" b="0" i="0">
                <a:solidFill>
                  <a:srgbClr val="1E293B"/>
                </a:solidFill>
                <a:latin typeface="Times New Roman"/>
              </a:rPr>
              <a:t>Mạng &amp; Internet (Networking)</a:t>
            </a:r>
          </a:p>
          <a:p>
            <a:pPr>
              <a:lnSpc>
                <a:spcPts val="2400"/>
              </a:lnSpc>
              <a:spcAft>
                <a:spcPts val="800"/>
              </a:spcAft>
            </a:pPr>
            <a:r>
              <a:rPr sz="1400" b="1" i="0">
                <a:solidFill>
                  <a:srgbClr val="1E3A8A"/>
                </a:solidFill>
                <a:latin typeface="Times New Roman"/>
              </a:rPr>
              <a:t>●  </a:t>
            </a:r>
            <a:r>
              <a:rPr sz="1600" b="0" i="0">
                <a:solidFill>
                  <a:srgbClr val="1E293B"/>
                </a:solidFill>
                <a:latin typeface="Times New Roman"/>
              </a:rPr>
              <a:t>Đạo đức &amp; Pháp luật số</a:t>
            </a:r>
          </a:p>
          <a:p>
            <a:pPr>
              <a:lnSpc>
                <a:spcPts val="2400"/>
              </a:lnSpc>
              <a:spcAft>
                <a:spcPts val="800"/>
              </a:spcAft>
            </a:pPr>
            <a:r>
              <a:rPr sz="1400" b="1" i="0">
                <a:solidFill>
                  <a:srgbClr val="1E3A8A"/>
                </a:solidFill>
                <a:latin typeface="Times New Roman"/>
              </a:rPr>
              <a:t>●  </a:t>
            </a:r>
            <a:r>
              <a:rPr sz="1600" b="0" i="0">
                <a:solidFill>
                  <a:srgbClr val="1E293B"/>
                </a:solidFill>
                <a:latin typeface="Times New Roman"/>
              </a:rPr>
              <a:t>Ứng dụng Tin học (IT Apps)</a:t>
            </a:r>
          </a:p>
          <a:p>
            <a:pPr>
              <a:lnSpc>
                <a:spcPts val="2400"/>
              </a:lnSpc>
              <a:spcAft>
                <a:spcPts val="800"/>
              </a:spcAft>
            </a:pPr>
            <a:r>
              <a:rPr sz="1400" b="1" i="0">
                <a:solidFill>
                  <a:srgbClr val="1E3A8A"/>
                </a:solidFill>
                <a:latin typeface="Times New Roman"/>
              </a:rPr>
              <a:t>●  </a:t>
            </a:r>
            <a:r>
              <a:rPr sz="1600" b="0" i="0">
                <a:solidFill>
                  <a:srgbClr val="1E293B"/>
                </a:solidFill>
                <a:latin typeface="Times New Roman"/>
              </a:rPr>
              <a:t>Giải thuật &amp; Lập trình (Algorithms)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F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4" name="Card Group 4"/>
          <p:cNvGrpSpPr/>
          <p:nvPr/>
        </p:nvGrpSpPr>
        <p:grpSpPr>
          <a:xfrm>
            <a:off x="457200" y="1188720"/>
            <a:ext cx="5394960" cy="4389120"/>
            <a:chOff x="457200" y="1188720"/>
            <a:chExt cx="5394960" cy="4389120"/>
          </a:xfrm>
        </p:grpSpPr>
        <p:sp>
          <p:nvSpPr>
            <p:cNvPr id="2" name="Rounded Rectangle 1"/>
            <p:cNvSpPr/>
            <p:nvPr/>
          </p:nvSpPr>
          <p:spPr>
            <a:xfrm>
              <a:off x="457200" y="1188720"/>
              <a:ext cx="5394960" cy="4389120"/>
            </a:xfrm>
            <a:prstGeom prst="roundRect">
              <a:avLst>
                <a:gd name="adj" fmla="val 20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" name="Rounded Rectangle 2"/>
            <p:cNvSpPr/>
            <p:nvPr/>
          </p:nvSpPr>
          <p:spPr>
            <a:xfrm>
              <a:off x="457200" y="1188720"/>
              <a:ext cx="137160" cy="4389120"/>
            </a:xfrm>
            <a:prstGeom prst="roundRect">
              <a:avLst>
                <a:gd name="adj" fmla="val 50000"/>
              </a:avLst>
            </a:prstGeom>
            <a:solidFill>
              <a:srgbClr val="1E3A8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5" name="TextBox 4"/>
          <p:cNvSpPr txBox="1"/>
          <p:nvPr/>
        </p:nvSpPr>
        <p:spPr>
          <a:xfrm>
            <a:off x="822960" y="137160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200"/>
              </a:lnSpc>
              <a:spcAft>
                <a:spcPts val="1200"/>
              </a:spcAft>
            </a:pPr>
            <a:r>
              <a:rPr sz="2400" b="1" i="0">
                <a:solidFill>
                  <a:srgbClr val="1E3A8A"/>
                </a:solidFill>
                <a:latin typeface="Times New Roman"/>
              </a:rPr>
              <a:t>🚀  Cách học hiệu quả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1E3A8A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Trải nghiệm (Hands-on)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1E3A8A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Dự án (Project-based)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1E3A8A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Tìm lỗi (Debugging)</a:t>
            </a:r>
          </a:p>
        </p:txBody>
      </p:sp>
      <p:grpSp>
        <p:nvGrpSpPr>
          <p:cNvPr id="8" name="Card Group 8"/>
          <p:cNvGrpSpPr/>
          <p:nvPr/>
        </p:nvGrpSpPr>
        <p:grpSpPr>
          <a:xfrm>
            <a:off x="6217920" y="1188720"/>
            <a:ext cx="5394960" cy="4389120"/>
            <a:chOff x="6217920" y="1188720"/>
            <a:chExt cx="5394960" cy="4389120"/>
          </a:xfrm>
        </p:grpSpPr>
        <p:sp>
          <p:nvSpPr>
            <p:cNvPr id="6" name="Rounded Rectangle 5"/>
            <p:cNvSpPr/>
            <p:nvPr/>
          </p:nvSpPr>
          <p:spPr>
            <a:xfrm>
              <a:off x="6217920" y="1188720"/>
              <a:ext cx="5394960" cy="4389120"/>
            </a:xfrm>
            <a:prstGeom prst="roundRect">
              <a:avLst>
                <a:gd name="adj" fmla="val 20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6217920" y="1188720"/>
              <a:ext cx="137160" cy="4389120"/>
            </a:xfrm>
            <a:prstGeom prst="roundRect">
              <a:avLst>
                <a:gd name="adj" fmla="val 50000"/>
              </a:avLst>
            </a:prstGeom>
            <a:solidFill>
              <a:srgbClr val="F43F5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9" name="TextBox 8"/>
          <p:cNvSpPr txBox="1"/>
          <p:nvPr/>
        </p:nvSpPr>
        <p:spPr>
          <a:xfrm>
            <a:off x="6583680" y="137160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200"/>
              </a:lnSpc>
              <a:spcAft>
                <a:spcPts val="1200"/>
              </a:spcAft>
            </a:pPr>
            <a:r>
              <a:rPr sz="2400" b="1" i="0">
                <a:solidFill>
                  <a:srgbClr val="F43F5E"/>
                </a:solidFill>
                <a:latin typeface="Times New Roman"/>
              </a:rPr>
              <a:t>🧠  Tư duy máy tính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F43F5E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Phân rã (Decomposition)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F43F5E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Nhận mẫu (Pattern)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F43F5E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Thuật toán (Algorithm)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rules_before_cla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188720"/>
            <a:ext cx="4937760" cy="4389120"/>
          </a:xfrm>
          <a:prstGeom prst="rect">
            <a:avLst/>
          </a:prstGeom>
        </p:spPr>
      </p:pic>
      <p:grpSp>
        <p:nvGrpSpPr>
          <p:cNvPr id="5" name="Card Group 5"/>
          <p:cNvGrpSpPr/>
          <p:nvPr/>
        </p:nvGrpSpPr>
        <p:grpSpPr>
          <a:xfrm>
            <a:off x="457200" y="1188720"/>
            <a:ext cx="5760720" cy="4389120"/>
            <a:chOff x="457200" y="1188720"/>
            <a:chExt cx="5760720" cy="4389120"/>
          </a:xfrm>
        </p:grpSpPr>
        <p:sp>
          <p:nvSpPr>
            <p:cNvPr id="3" name="Rounded Rectangle 2"/>
            <p:cNvSpPr/>
            <p:nvPr/>
          </p:nvSpPr>
          <p:spPr>
            <a:xfrm>
              <a:off x="457200" y="1188720"/>
              <a:ext cx="5760720" cy="4389120"/>
            </a:xfrm>
            <a:prstGeom prst="roundRect">
              <a:avLst>
                <a:gd name="adj" fmla="val 20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ounded Rectangle 3"/>
            <p:cNvSpPr/>
            <p:nvPr/>
          </p:nvSpPr>
          <p:spPr>
            <a:xfrm>
              <a:off x="457200" y="1188720"/>
              <a:ext cx="137160" cy="4389120"/>
            </a:xfrm>
            <a:prstGeom prst="roundRect">
              <a:avLst>
                <a:gd name="adj" fmla="val 50000"/>
              </a:avLst>
            </a:prstGeom>
            <a:solidFill>
              <a:srgbClr val="EA580C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822960" y="1371600"/>
            <a:ext cx="51206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200"/>
              </a:lnSpc>
              <a:spcAft>
                <a:spcPts val="1200"/>
              </a:spcAft>
            </a:pPr>
            <a:r>
              <a:rPr sz="2400" b="1" i="0">
                <a:solidFill>
                  <a:srgbClr val="EA580C"/>
                </a:solidFill>
                <a:latin typeface="Times New Roman"/>
              </a:rPr>
              <a:t>⚠️  I. Trước khi vào phòng máy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EA580C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Trang phục chỉnh tề; để balo, giày dép đúng nơi quy định.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EA580C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Chỉ mang sách, vở, bút và tài liệu được phép vào vị trí ngồi.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EA580C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NGHIÊM CẤM mang đồ ăn, thức uống, kẹo cao su, chất dễ cháy nổ vào phòng máy.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rules_during_cla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188720"/>
            <a:ext cx="4937760" cy="4389120"/>
          </a:xfrm>
          <a:prstGeom prst="rect">
            <a:avLst/>
          </a:prstGeom>
        </p:spPr>
      </p:pic>
      <p:grpSp>
        <p:nvGrpSpPr>
          <p:cNvPr id="5" name="Card Group 5"/>
          <p:cNvGrpSpPr/>
          <p:nvPr/>
        </p:nvGrpSpPr>
        <p:grpSpPr>
          <a:xfrm>
            <a:off x="457200" y="1188720"/>
            <a:ext cx="5760720" cy="4389120"/>
            <a:chOff x="457200" y="1188720"/>
            <a:chExt cx="5760720" cy="4389120"/>
          </a:xfrm>
        </p:grpSpPr>
        <p:sp>
          <p:nvSpPr>
            <p:cNvPr id="3" name="Rounded Rectangle 2"/>
            <p:cNvSpPr/>
            <p:nvPr/>
          </p:nvSpPr>
          <p:spPr>
            <a:xfrm>
              <a:off x="457200" y="1188720"/>
              <a:ext cx="5760720" cy="4389120"/>
            </a:xfrm>
            <a:prstGeom prst="roundRect">
              <a:avLst>
                <a:gd name="adj" fmla="val 20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ounded Rectangle 3"/>
            <p:cNvSpPr/>
            <p:nvPr/>
          </p:nvSpPr>
          <p:spPr>
            <a:xfrm>
              <a:off x="457200" y="1188720"/>
              <a:ext cx="137160" cy="4389120"/>
            </a:xfrm>
            <a:prstGeom prst="roundRect">
              <a:avLst>
                <a:gd name="adj" fmla="val 50000"/>
              </a:avLst>
            </a:prstGeom>
            <a:solidFill>
              <a:srgbClr val="EA580C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822960" y="1371600"/>
            <a:ext cx="51206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200"/>
              </a:lnSpc>
              <a:spcAft>
                <a:spcPts val="1200"/>
              </a:spcAft>
            </a:pPr>
            <a:r>
              <a:rPr sz="2400" b="1" i="0">
                <a:solidFill>
                  <a:srgbClr val="EA580C"/>
                </a:solidFill>
                <a:latin typeface="Times New Roman"/>
              </a:rPr>
              <a:t>⚠️  II. Trong giờ học</a:t>
            </a:r>
          </a:p>
          <a:p>
            <a:pPr>
              <a:lnSpc>
                <a:spcPts val="2400"/>
              </a:lnSpc>
              <a:spcAft>
                <a:spcPts val="800"/>
              </a:spcAft>
            </a:pPr>
            <a:r>
              <a:rPr sz="1400" b="1" i="0">
                <a:solidFill>
                  <a:srgbClr val="EA580C"/>
                </a:solidFill>
                <a:latin typeface="Times New Roman"/>
              </a:rPr>
              <a:t>●  </a:t>
            </a:r>
            <a:r>
              <a:rPr sz="1600" b="0" i="0">
                <a:solidFill>
                  <a:srgbClr val="1E293B"/>
                </a:solidFill>
                <a:latin typeface="Times New Roman"/>
              </a:rPr>
              <a:t>Ngồi đúng vị trí, đúng máy tính được phân công.</a:t>
            </a:r>
          </a:p>
          <a:p>
            <a:pPr>
              <a:lnSpc>
                <a:spcPts val="2400"/>
              </a:lnSpc>
              <a:spcAft>
                <a:spcPts val="800"/>
              </a:spcAft>
            </a:pPr>
            <a:r>
              <a:rPr sz="1400" b="1" i="0">
                <a:solidFill>
                  <a:srgbClr val="EA580C"/>
                </a:solidFill>
                <a:latin typeface="Times New Roman"/>
              </a:rPr>
              <a:t>●  </a:t>
            </a:r>
            <a:r>
              <a:rPr sz="1600" b="0" i="0">
                <a:solidFill>
                  <a:srgbClr val="1E293B"/>
                </a:solidFill>
                <a:latin typeface="Times New Roman"/>
              </a:rPr>
              <a:t>Kiểm tra máy trước khi bật; không tự ý tháo lắp, cài/gỡ phần mềm.</a:t>
            </a:r>
          </a:p>
          <a:p>
            <a:pPr>
              <a:lnSpc>
                <a:spcPts val="2400"/>
              </a:lnSpc>
              <a:spcAft>
                <a:spcPts val="800"/>
              </a:spcAft>
            </a:pPr>
            <a:r>
              <a:rPr sz="1400" b="1" i="0">
                <a:solidFill>
                  <a:srgbClr val="EA580C"/>
                </a:solidFill>
                <a:latin typeface="Times New Roman"/>
              </a:rPr>
              <a:t>●  </a:t>
            </a:r>
            <a:r>
              <a:rPr sz="1600" b="0" i="0">
                <a:solidFill>
                  <a:srgbClr val="1E293B"/>
                </a:solidFill>
                <a:latin typeface="Times New Roman"/>
              </a:rPr>
              <a:t>Chỉ truy cập nội dung phục vụ bài học; cấm chơi game, xem phim.</a:t>
            </a:r>
          </a:p>
          <a:p>
            <a:pPr>
              <a:lnSpc>
                <a:spcPts val="2400"/>
              </a:lnSpc>
              <a:spcAft>
                <a:spcPts val="800"/>
              </a:spcAft>
            </a:pPr>
            <a:r>
              <a:rPr sz="1400" b="1" i="0">
                <a:solidFill>
                  <a:srgbClr val="EA580C"/>
                </a:solidFill>
                <a:latin typeface="Times New Roman"/>
              </a:rPr>
              <a:t>●  </a:t>
            </a:r>
            <a:r>
              <a:rPr sz="1600" b="0" i="0">
                <a:solidFill>
                  <a:srgbClr val="1E293B"/>
                </a:solidFill>
                <a:latin typeface="Times New Roman"/>
              </a:rPr>
              <a:t>Giữ trật tự, không nói chuyện riêng, không đi lại tự do.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rules_after_cla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188720"/>
            <a:ext cx="4937760" cy="4389120"/>
          </a:xfrm>
          <a:prstGeom prst="rect">
            <a:avLst/>
          </a:prstGeom>
        </p:spPr>
      </p:pic>
      <p:grpSp>
        <p:nvGrpSpPr>
          <p:cNvPr id="5" name="Card Group 5"/>
          <p:cNvGrpSpPr/>
          <p:nvPr/>
        </p:nvGrpSpPr>
        <p:grpSpPr>
          <a:xfrm>
            <a:off x="457200" y="1188720"/>
            <a:ext cx="5760720" cy="4389120"/>
            <a:chOff x="457200" y="1188720"/>
            <a:chExt cx="5760720" cy="4389120"/>
          </a:xfrm>
        </p:grpSpPr>
        <p:sp>
          <p:nvSpPr>
            <p:cNvPr id="3" name="Rounded Rectangle 2"/>
            <p:cNvSpPr/>
            <p:nvPr/>
          </p:nvSpPr>
          <p:spPr>
            <a:xfrm>
              <a:off x="457200" y="1188720"/>
              <a:ext cx="5760720" cy="4389120"/>
            </a:xfrm>
            <a:prstGeom prst="roundRect">
              <a:avLst>
                <a:gd name="adj" fmla="val 20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ounded Rectangle 3"/>
            <p:cNvSpPr/>
            <p:nvPr/>
          </p:nvSpPr>
          <p:spPr>
            <a:xfrm>
              <a:off x="457200" y="1188720"/>
              <a:ext cx="137160" cy="4389120"/>
            </a:xfrm>
            <a:prstGeom prst="roundRect">
              <a:avLst>
                <a:gd name="adj" fmla="val 50000"/>
              </a:avLst>
            </a:prstGeom>
            <a:solidFill>
              <a:srgbClr val="EA580C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822960" y="1371600"/>
            <a:ext cx="51206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200"/>
              </a:lnSpc>
              <a:spcAft>
                <a:spcPts val="1200"/>
              </a:spcAft>
            </a:pPr>
            <a:r>
              <a:rPr sz="2400" b="1" i="0">
                <a:solidFill>
                  <a:srgbClr val="EA580C"/>
                </a:solidFill>
                <a:latin typeface="Times New Roman"/>
              </a:rPr>
              <a:t>⚠️  III. Sau khi kết thúc giờ học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EA580C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Tắt máy đúng quy trình (Shutdown); KHÔNG ngắt nguồn đột ngột.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EA580C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Bàn phím, chuột để ngay ngắn; ghế đẩy sát vào gầm bàn.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EA580C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Thu gom rác cá nhân, giấy nháp bỏ vào thùng rác.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nternet_safety_kids_17858619417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80160"/>
            <a:ext cx="3931920" cy="4114800"/>
          </a:xfrm>
          <a:prstGeom prst="rect">
            <a:avLst/>
          </a:prstGeom>
        </p:spPr>
      </p:pic>
      <p:grpSp>
        <p:nvGrpSpPr>
          <p:cNvPr id="5" name="Card Group 5"/>
          <p:cNvGrpSpPr/>
          <p:nvPr/>
        </p:nvGrpSpPr>
        <p:grpSpPr>
          <a:xfrm>
            <a:off x="4572000" y="1188720"/>
            <a:ext cx="6949440" cy="4389120"/>
            <a:chOff x="4572000" y="1188720"/>
            <a:chExt cx="6949440" cy="4389120"/>
          </a:xfrm>
        </p:grpSpPr>
        <p:sp>
          <p:nvSpPr>
            <p:cNvPr id="3" name="Rounded Rectangle 2"/>
            <p:cNvSpPr/>
            <p:nvPr/>
          </p:nvSpPr>
          <p:spPr>
            <a:xfrm>
              <a:off x="4572000" y="1188720"/>
              <a:ext cx="6949440" cy="4389120"/>
            </a:xfrm>
            <a:prstGeom prst="roundRect">
              <a:avLst>
                <a:gd name="adj" fmla="val 20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ounded Rectangle 3"/>
            <p:cNvSpPr/>
            <p:nvPr/>
          </p:nvSpPr>
          <p:spPr>
            <a:xfrm>
              <a:off x="4572000" y="1188720"/>
              <a:ext cx="137160" cy="4389120"/>
            </a:xfrm>
            <a:prstGeom prst="roundRect">
              <a:avLst>
                <a:gd name="adj" fmla="val 50000"/>
              </a:avLst>
            </a:prstGeom>
            <a:solidFill>
              <a:srgbClr val="3B82F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4937760" y="1371600"/>
            <a:ext cx="63093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200"/>
              </a:lnSpc>
              <a:spcAft>
                <a:spcPts val="1200"/>
              </a:spcAft>
            </a:pPr>
            <a:r>
              <a:rPr sz="2400" b="1" i="0">
                <a:solidFill>
                  <a:srgbClr val="3B82F6"/>
                </a:solidFill>
                <a:latin typeface="Times New Roman"/>
              </a:rPr>
              <a:t>🛡️  An toàn số (Digital Safety)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3B82F6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Giữ bí mật mật khẩu (password).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3B82F6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Không chia sẻ thông tin cá nhân.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3B82F6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Cảnh giác link lạ, file lạ.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3B82F6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Ứng xử văn minh, không bắt nạt mạng.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F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4" name="Card Group 4"/>
          <p:cNvGrpSpPr/>
          <p:nvPr/>
        </p:nvGrpSpPr>
        <p:grpSpPr>
          <a:xfrm>
            <a:off x="457200" y="1188720"/>
            <a:ext cx="5394960" cy="4389120"/>
            <a:chOff x="457200" y="1188720"/>
            <a:chExt cx="5394960" cy="4389120"/>
          </a:xfrm>
        </p:grpSpPr>
        <p:sp>
          <p:nvSpPr>
            <p:cNvPr id="2" name="Rounded Rectangle 1"/>
            <p:cNvSpPr/>
            <p:nvPr/>
          </p:nvSpPr>
          <p:spPr>
            <a:xfrm>
              <a:off x="457200" y="1188720"/>
              <a:ext cx="5394960" cy="4389120"/>
            </a:xfrm>
            <a:prstGeom prst="roundRect">
              <a:avLst>
                <a:gd name="adj" fmla="val 20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" name="Rounded Rectangle 2"/>
            <p:cNvSpPr/>
            <p:nvPr/>
          </p:nvSpPr>
          <p:spPr>
            <a:xfrm>
              <a:off x="457200" y="1188720"/>
              <a:ext cx="137160" cy="4389120"/>
            </a:xfrm>
            <a:prstGeom prst="roundRect">
              <a:avLst>
                <a:gd name="adj" fmla="val 50000"/>
              </a:avLst>
            </a:prstGeom>
            <a:solidFill>
              <a:srgbClr val="1E3A8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5" name="TextBox 4"/>
          <p:cNvSpPr txBox="1"/>
          <p:nvPr/>
        </p:nvSpPr>
        <p:spPr>
          <a:xfrm>
            <a:off x="822960" y="137160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200"/>
              </a:lnSpc>
              <a:spcAft>
                <a:spcPts val="1200"/>
              </a:spcAft>
            </a:pPr>
            <a:r>
              <a:rPr sz="2400" b="1" i="0">
                <a:solidFill>
                  <a:srgbClr val="1E3A8A"/>
                </a:solidFill>
                <a:latin typeface="Times New Roman"/>
              </a:rPr>
              <a:t>📊  Cách đánh giá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1E3A8A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Đánh giá thường xuyên (ĐGTX).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1E3A8A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Đánh giá định kỳ (4 lần/năm).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1E3A8A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Sản phẩm dự án nhóm.</a:t>
            </a:r>
          </a:p>
        </p:txBody>
      </p:sp>
      <p:grpSp>
        <p:nvGrpSpPr>
          <p:cNvPr id="8" name="Card Group 8"/>
          <p:cNvGrpSpPr/>
          <p:nvPr/>
        </p:nvGrpSpPr>
        <p:grpSpPr>
          <a:xfrm>
            <a:off x="6217920" y="1188720"/>
            <a:ext cx="5394960" cy="4389120"/>
            <a:chOff x="6217920" y="1188720"/>
            <a:chExt cx="5394960" cy="4389120"/>
          </a:xfrm>
        </p:grpSpPr>
        <p:sp>
          <p:nvSpPr>
            <p:cNvPr id="6" name="Rounded Rectangle 5"/>
            <p:cNvSpPr/>
            <p:nvPr/>
          </p:nvSpPr>
          <p:spPr>
            <a:xfrm>
              <a:off x="6217920" y="1188720"/>
              <a:ext cx="5394960" cy="4389120"/>
            </a:xfrm>
            <a:prstGeom prst="roundRect">
              <a:avLst>
                <a:gd name="adj" fmla="val 20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6217920" y="1188720"/>
              <a:ext cx="137160" cy="4389120"/>
            </a:xfrm>
            <a:prstGeom prst="roundRect">
              <a:avLst>
                <a:gd name="adj" fmla="val 50000"/>
              </a:avLst>
            </a:prstGeom>
            <a:solidFill>
              <a:srgbClr val="3B82F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9" name="TextBox 8"/>
          <p:cNvSpPr txBox="1"/>
          <p:nvPr/>
        </p:nvSpPr>
        <p:spPr>
          <a:xfrm>
            <a:off x="6583680" y="137160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200"/>
              </a:lnSpc>
              <a:spcAft>
                <a:spcPts val="1200"/>
              </a:spcAft>
            </a:pPr>
            <a:r>
              <a:rPr sz="2400" b="1" i="0">
                <a:solidFill>
                  <a:srgbClr val="3B82F6"/>
                </a:solidFill>
                <a:latin typeface="Times New Roman"/>
              </a:rPr>
              <a:t>📚  Đồ dùng cần có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3B82F6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SGK Tin học 6.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3B82F6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Vở ghi &amp; sổ tay cá nhân.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3B82F6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USB / thẻ nhớ (THCS).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F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4" name="Card Group 4"/>
          <p:cNvGrpSpPr/>
          <p:nvPr/>
        </p:nvGrpSpPr>
        <p:grpSpPr>
          <a:xfrm>
            <a:off x="457200" y="1188720"/>
            <a:ext cx="11247120" cy="4389120"/>
            <a:chOff x="457200" y="1188720"/>
            <a:chExt cx="11247120" cy="4389120"/>
          </a:xfrm>
        </p:grpSpPr>
        <p:sp>
          <p:nvSpPr>
            <p:cNvPr id="2" name="Rounded Rectangle 1"/>
            <p:cNvSpPr/>
            <p:nvPr/>
          </p:nvSpPr>
          <p:spPr>
            <a:xfrm>
              <a:off x="457200" y="1188720"/>
              <a:ext cx="11247120" cy="4389120"/>
            </a:xfrm>
            <a:prstGeom prst="roundRect">
              <a:avLst>
                <a:gd name="adj" fmla="val 20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" name="Rounded Rectangle 2"/>
            <p:cNvSpPr/>
            <p:nvPr/>
          </p:nvSpPr>
          <p:spPr>
            <a:xfrm>
              <a:off x="457200" y="1188720"/>
              <a:ext cx="137160" cy="4389120"/>
            </a:xfrm>
            <a:prstGeom prst="roundRect">
              <a:avLst>
                <a:gd name="adj" fmla="val 50000"/>
              </a:avLst>
            </a:prstGeom>
            <a:solidFill>
              <a:srgbClr val="F43F5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5" name="TextBox 4"/>
          <p:cNvSpPr txBox="1"/>
          <p:nvPr/>
        </p:nvSpPr>
        <p:spPr>
          <a:xfrm>
            <a:off x="914400" y="1371600"/>
            <a:ext cx="10515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200"/>
              </a:lnSpc>
              <a:spcAft>
                <a:spcPts val="1200"/>
              </a:spcAft>
            </a:pPr>
            <a:r>
              <a:rPr sz="2600" b="1" i="0">
                <a:solidFill>
                  <a:srgbClr val="F43F5E"/>
                </a:solidFill>
                <a:latin typeface="Times New Roman"/>
              </a:rPr>
              <a:t>📝  Nhiệm vụ mở rộng (Homework)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F43F5E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Viết 2 mục tiêu em muốn đạt trong năm học.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F43F5E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Đề xuất 1 sản phẩm số muốn tự tạo.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F43F5E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Cam kết thực hiện nội quy phòng máy.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F43F5E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Về nhà: Xem trước Bài 1 trong SGK.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0916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5" name="Card Group 5"/>
          <p:cNvGrpSpPr/>
          <p:nvPr/>
        </p:nvGrpSpPr>
        <p:grpSpPr>
          <a:xfrm>
            <a:off x="1097280" y="1371600"/>
            <a:ext cx="9966960" cy="4114800"/>
            <a:chOff x="1097280" y="1371600"/>
            <a:chExt cx="9966960" cy="4114800"/>
          </a:xfrm>
        </p:grpSpPr>
        <p:sp>
          <p:nvSpPr>
            <p:cNvPr id="3" name="Rounded Rectangle 2"/>
            <p:cNvSpPr/>
            <p:nvPr/>
          </p:nvSpPr>
          <p:spPr>
            <a:xfrm>
              <a:off x="1097280" y="1371600"/>
              <a:ext cx="9966960" cy="4114800"/>
            </a:xfrm>
            <a:prstGeom prst="roundRect">
              <a:avLst>
                <a:gd name="adj" fmla="val 20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ounded Rectangle 3"/>
            <p:cNvSpPr/>
            <p:nvPr/>
          </p:nvSpPr>
          <p:spPr>
            <a:xfrm>
              <a:off x="1097280" y="1371600"/>
              <a:ext cx="164592" cy="4114800"/>
            </a:xfrm>
            <a:prstGeom prst="roundRect">
              <a:avLst>
                <a:gd name="adj" fmla="val 50000"/>
              </a:avLst>
            </a:prstGeom>
            <a:solidFill>
              <a:srgbClr val="F43F5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1554480" y="1554480"/>
            <a:ext cx="9144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200"/>
              </a:lnSpc>
              <a:spcAft>
                <a:spcPts val="1200"/>
              </a:spcAft>
            </a:pPr>
            <a:r>
              <a:rPr sz="2600" b="1" i="0">
                <a:solidFill>
                  <a:srgbClr val="1E3A8A"/>
                </a:solidFill>
                <a:latin typeface="Times New Roman"/>
              </a:rPr>
              <a:t>📌  Ghi nhớ — Tin học 6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F43F5E"/>
                </a:solidFill>
                <a:latin typeface="Times New Roman"/>
              </a:rPr>
              <a:t>●  </a:t>
            </a:r>
            <a:r>
              <a:rPr sz="2000" b="0" i="0">
                <a:solidFill>
                  <a:srgbClr val="1E293B"/>
                </a:solidFill>
                <a:latin typeface="Times New Roman"/>
              </a:rPr>
              <a:t>Tin học mang đến kỹ năng số thiết thực.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F43F5E"/>
                </a:solidFill>
                <a:latin typeface="Times New Roman"/>
              </a:rPr>
              <a:t>●  </a:t>
            </a:r>
            <a:r>
              <a:rPr sz="2000" b="0" i="0">
                <a:solidFill>
                  <a:srgbClr val="1E293B"/>
                </a:solidFill>
                <a:latin typeface="Times New Roman"/>
              </a:rPr>
              <a:t>Tuân thủ nội quy &amp; ứng xử văn minh.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F43F5E"/>
                </a:solidFill>
                <a:latin typeface="Times New Roman"/>
              </a:rPr>
              <a:t>●  </a:t>
            </a:r>
            <a:r>
              <a:rPr sz="2000" b="0" i="0">
                <a:solidFill>
                  <a:srgbClr val="1E293B"/>
                </a:solidFill>
                <a:latin typeface="Times New Roman"/>
              </a:rPr>
              <a:t>Tự tin khám phá, sáng tạo!</a:t>
            </a:r>
          </a:p>
          <a:p>
            <a:pPr algn="ctr">
              <a:spcBef>
                <a:spcPts val="2000"/>
              </a:spcBef>
            </a:pPr>
            <a:r>
              <a:rPr sz="2200" b="1" i="0">
                <a:solidFill>
                  <a:srgbClr val="3B82F6"/>
                </a:solidFill>
                <a:latin typeface="Times New Roman"/>
              </a:rPr>
              <a:t>Chúc các em năm học tuyệt vời! 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17</Words>
  <Application>Microsoft Office PowerPoint</Application>
  <PresentationFormat>Widescreen</PresentationFormat>
  <Paragraphs>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Monotype Corsiva</vt:lpstr>
      <vt:lpstr>Office Theme</vt:lpstr>
      <vt:lpstr>PowerPoint Presentation</vt:lpstr>
      <vt:lpstr>Môn Tin học lớp </vt:lpstr>
      <vt:lpstr>Môn Tin học lớp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Nguyên Đậu</dc:creator>
  <cp:lastModifiedBy>Nguyên Đậu</cp:lastModifiedBy>
  <cp:revision>4</cp:revision>
  <dcterms:created xsi:type="dcterms:W3CDTF">2026-08-04T15:56:52Z</dcterms:created>
  <dcterms:modified xsi:type="dcterms:W3CDTF">2026-08-04T16:29:42Z</dcterms:modified>
</cp:coreProperties>
</file>