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91695" cy="475488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0" y="1280160"/>
            <a:ext cx="3474720" cy="365760"/>
          </a:xfrm>
          <a:prstGeom prst="roundRect">
            <a:avLst>
              <a:gd name="adj" fmla="val 50000"/>
            </a:avLst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TIN HỌC LỚP 6 • TUẦN 8 • TIẾT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46A0"/>
                </a:solidFill>
                <a:latin typeface="Arial"/>
              </a:defRPr>
            </a:pPr>
            <a:r>
              <a:t>BÀI 4: MẠNG MÁY TÍNH</a:t>
            </a:r>
            <a:br/>
            <a:r>
              <a:t>(TIẾT 1) 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64646"/>
                </a:solidFill>
                <a:latin typeface="Arial"/>
              </a:defRPr>
            </a:pPr>
            <a:r>
              <a:t>Khái niệm mạng • 3 Thành phần của mạng máy tính</a:t>
            </a:r>
          </a:p>
        </p:txBody>
      </p:sp>
      <p:pic>
        <p:nvPicPr>
          <p:cNvPr id="6" name="Picture 5" descr="lop6_network_conce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280160"/>
            <a:ext cx="475488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1115568"/>
            <a:ext cx="2926080" cy="320040"/>
          </a:xfrm>
          <a:prstGeom prst="roundRect">
            <a:avLst>
              <a:gd name="adj" fmla="val 50000"/>
            </a:avLst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KHỞI ĐỘNG 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1">
                <a:solidFill>
                  <a:srgbClr val="1A2744"/>
                </a:solidFill>
                <a:latin typeface="Arial"/>
              </a:defRPr>
            </a:pPr>
            <a:r>
              <a:t>30 Máy tính dùng chung 1 máy in như thế nào?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5486400" cy="3474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82828"/>
                </a:solidFill>
                <a:latin typeface="Arial"/>
              </a:defRPr>
            </a:pPr>
            <a:r>
              <a:t>🖨️ Tình huống tại phòng thực hành UNIGO:</a:t>
            </a:r>
            <a:br/>
            <a:br/>
            <a:r>
              <a:t>• Phòng máy có 30 học sinh nhưng chỉ có duy nhất 1 chiếc máy in.</a:t>
            </a:r>
            <a:br/>
            <a:br/>
            <a:r>
              <a:t>• Làm thế nào để em ngồi tại máy của mình vẫn có thể in bài kiểm tra ra máy in chung mà không cần cắm USB qua lại?</a:t>
            </a:r>
            <a:br/>
            <a:br/>
            <a:r>
              <a:t>👉 Kết nối các máy tính thành một MẠNG MÁY TÍNH!</a:t>
            </a:r>
          </a:p>
        </p:txBody>
      </p:sp>
      <p:pic>
        <p:nvPicPr>
          <p:cNvPr id="6" name="Picture 5" descr="p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11680"/>
            <a:ext cx="493776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1115568"/>
            <a:ext cx="2926080" cy="320040"/>
          </a:xfrm>
          <a:prstGeom prst="roundRect">
            <a:avLst>
              <a:gd name="adj" fmla="val 50000"/>
            </a:avLst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CẤU TRÚC MẠNG 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1">
                <a:solidFill>
                  <a:srgbClr val="1A2744"/>
                </a:solidFill>
                <a:latin typeface="Arial"/>
              </a:defRPr>
            </a:pPr>
            <a:r>
              <a:t>Ba thành phần cơ bản cấu tạo nên mạng máy tính</a:t>
            </a:r>
          </a:p>
        </p:txBody>
      </p:sp>
      <p:pic>
        <p:nvPicPr>
          <p:cNvPr id="4" name="Picture 3" descr="network_components_diagram_v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993391"/>
            <a:ext cx="10753344" cy="388247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1115568"/>
            <a:ext cx="2926080" cy="320040"/>
          </a:xfrm>
          <a:prstGeom prst="roundRect">
            <a:avLst>
              <a:gd name="adj" fmla="val 50000"/>
            </a:avLst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LUYỆN TẬP 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1">
                <a:solidFill>
                  <a:srgbClr val="1A2744"/>
                </a:solidFill>
                <a:latin typeface="Arial"/>
              </a:defRPr>
            </a:pPr>
            <a:r>
              <a:t>Phân loại: Thiết bị đầu cuối hay Thiết bị kết nối?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10698480" cy="804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217627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82828"/>
                </a:solidFill>
                <a:latin typeface="Arial"/>
              </a:defRPr>
            </a:pPr>
            <a:r>
              <a:t>1. Máy tính xách tay (Laptop)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2176272"/>
            <a:ext cx="5303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D7"/>
                </a:solidFill>
                <a:latin typeface="Arial"/>
              </a:defRPr>
            </a:pPr>
            <a:r>
              <a:rPr dirty="0"/>
              <a:t>➔ THIẾT BỊ ĐẦU 💻 (</a:t>
            </a:r>
            <a:r>
              <a:rPr dirty="0" err="1"/>
              <a:t>Nơi</a:t>
            </a:r>
            <a:r>
              <a:rPr dirty="0"/>
              <a:t> </a:t>
            </a:r>
            <a:r>
              <a:rPr dirty="0" err="1"/>
              <a:t>gửi</a:t>
            </a:r>
            <a:r>
              <a:rPr dirty="0"/>
              <a:t>/</a:t>
            </a:r>
            <a:r>
              <a:rPr dirty="0" err="1"/>
              <a:t>nhận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07792"/>
            <a:ext cx="10698480" cy="804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3072384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82828"/>
                </a:solidFill>
                <a:latin typeface="Arial"/>
              </a:defRPr>
            </a:pPr>
            <a:r>
              <a:t>2. Bộ định tuyến Router Wi-Fi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3072384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8A745"/>
                </a:solidFill>
                <a:latin typeface="Arial"/>
              </a:defRPr>
            </a:pPr>
            <a:r>
              <a:t>➔ THIẾT BỊ KẾT NỐI 📡 (Định tuyến dữ liệu)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03904"/>
            <a:ext cx="10698480" cy="804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3968496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82828"/>
                </a:solidFill>
                <a:latin typeface="Arial"/>
              </a:defRPr>
            </a:pPr>
            <a:r>
              <a:t>3. Máy in mạng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3968496"/>
            <a:ext cx="5303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D7"/>
                </a:solidFill>
                <a:latin typeface="Arial"/>
              </a:defRPr>
            </a:pPr>
            <a:r>
              <a:rPr dirty="0"/>
              <a:t>➔ THIẾT BỊ CUỐI 🖨️ (</a:t>
            </a:r>
            <a:r>
              <a:rPr dirty="0" err="1"/>
              <a:t>Thiết</a:t>
            </a:r>
            <a:r>
              <a:rPr dirty="0"/>
              <a:t> </a:t>
            </a:r>
            <a:r>
              <a:rPr dirty="0" err="1"/>
              <a:t>bị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</a:t>
            </a:r>
            <a:r>
              <a:rPr dirty="0" err="1"/>
              <a:t>chung</a:t>
            </a:r>
            <a:r>
              <a:rPr dirty="0"/>
              <a:t>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700016"/>
            <a:ext cx="10698480" cy="804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7280" y="4864608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82828"/>
                </a:solidFill>
                <a:latin typeface="Arial"/>
              </a:defRPr>
            </a:pPr>
            <a:r>
              <a:t>4. Dây cáp mạng 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8646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8A745"/>
                </a:solidFill>
                <a:latin typeface="Arial"/>
              </a:defRPr>
            </a:pPr>
            <a:r>
              <a:t>➔ THIẾT BỊ KẾT NỐI 🔌 (Đường truyền vật lý)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1115568"/>
            <a:ext cx="2926080" cy="320040"/>
          </a:xfrm>
          <a:prstGeom prst="roundRect">
            <a:avLst>
              <a:gd name="adj" fmla="val 50000"/>
            </a:avLst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GHI NHỚ 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1">
                <a:solidFill>
                  <a:srgbClr val="1A2744"/>
                </a:solidFill>
                <a:latin typeface="Arial"/>
              </a:defRPr>
            </a:pPr>
            <a:r>
              <a:t>Những kiến thức trọng tâm em cần nhớ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011680"/>
            <a:ext cx="9966960" cy="3474720"/>
          </a:xfrm>
          <a:prstGeom prst="roundRect">
            <a:avLst>
              <a:gd name="adj" fmla="val 4000"/>
            </a:avLst>
          </a:prstGeom>
          <a:solidFill>
            <a:srgbClr val="FFF3CD"/>
          </a:solidFill>
          <a:ln w="317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280160" y="2148840"/>
            <a:ext cx="9601200" cy="41148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71600" y="2167128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HỘP KẾT LUẬN — MẠNG MÁY TÍNH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651760"/>
            <a:ext cx="9235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B45000"/>
                </a:solidFill>
                <a:latin typeface="Arial"/>
              </a:defRPr>
            </a:pPr>
            <a:r>
              <a:t>⭐  Mạng máy tính là tập hợp các máy tính và thiết bị được kết nối với nhau.</a:t>
            </a:r>
          </a:p>
          <a:p>
            <a:pPr>
              <a:spcAft>
                <a:spcPts val="800"/>
              </a:spcAft>
              <a:defRPr sz="1700" b="1">
                <a:solidFill>
                  <a:srgbClr val="B45000"/>
                </a:solidFill>
                <a:latin typeface="Arial"/>
              </a:defRPr>
            </a:pPr>
            <a:r>
              <a:t>⭐  Ba thành phần chính: Thiết bị đầu cuối, Thiết bị kết nối và Phần mềm mạng.</a:t>
            </a:r>
          </a:p>
          <a:p>
            <a:pPr>
              <a:spcAft>
                <a:spcPts val="800"/>
              </a:spcAft>
              <a:defRPr sz="1700" b="1">
                <a:solidFill>
                  <a:srgbClr val="B45000"/>
                </a:solidFill>
                <a:latin typeface="Arial"/>
              </a:defRPr>
            </a:pPr>
            <a:r>
              <a:t>⭐  Thiết bị đầu cuối gồm máy tính, điện thoại, máy in; thiết bị kết nối gồm router, switch, cáp mạng.</a:t>
            </a:r>
          </a:p>
          <a:p>
            <a:pPr>
              <a:spcAft>
                <a:spcPts val="800"/>
              </a:spcAft>
              <a:defRPr sz="1700" b="1">
                <a:solidFill>
                  <a:srgbClr val="B45000"/>
                </a:solidFill>
                <a:latin typeface="Arial"/>
              </a:defRPr>
            </a:pPr>
            <a:r>
              <a:t>⭐  Mạng máy tính giúp trao đổi thông tin và chia sẻ tài nguyên nhanh chóng!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91695" cy="475488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66CC"/>
                </a:solidFill>
                <a:latin typeface="Arial"/>
              </a:defRPr>
            </a:pPr>
            <a:r>
              <a:t>CHÚC MỪNG CÁC EM! 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3C3C3C"/>
                </a:solidFill>
                <a:latin typeface="Arial"/>
              </a:defRPr>
            </a:pPr>
            <a:r>
              <a:t>Tiết sau chúng ta sẽ tìm hiểu về Mạng có dây và Wi-Fi nhé!</a:t>
            </a:r>
            <a:br/>
            <a:br/>
            <a:r>
              <a:t>Hẹn gặp lại các em ở Tiết 8! 🌟</a:t>
            </a:r>
          </a:p>
        </p:txBody>
      </p:sp>
      <p:pic>
        <p:nvPicPr>
          <p:cNvPr id="5" name="Picture 4" descr="mascot_celebrate_troph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3840480" cy="4114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363</Words>
  <Application>Microsoft Office PowerPoint</Application>
  <PresentationFormat>Widescreen</PresentationFormat>
  <Paragraphs>27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Đình</cp:lastModifiedBy>
  <cp:revision>5</cp:revision>
  <dcterms:created xsi:type="dcterms:W3CDTF">2026-08-04T15:56:52Z</dcterms:created>
  <dcterms:modified xsi:type="dcterms:W3CDTF">2026-09-25T03:50:10Z</dcterms:modified>
</cp:coreProperties>
</file>