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Thông tin trong máy tính &amp; Mạng máy tính 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Tin học • Lớp 6 • Tiết 3 &amp; 4</a:t>
            </a:r>
          </a:p>
        </p:txBody>
      </p:sp>
      <p:pic>
        <p:nvPicPr>
          <p:cNvPr id="6" name="Picture 5" descr="p10_img1_1140x16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6 • BÀI 3. THÔNG TIN TRONG MÁY TÍNH &amp; BÀI 4. MẠNG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64E3B"/>
                </a:solidFill>
                <a:latin typeface="Arial"/>
              </a:rPr>
              <a:t>Máy tính hiểu ngôn ngữ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064E3B"/>
                </a:solidFill>
                <a:latin typeface="Arial"/>
              </a:rPr>
              <a:t>Con người dùng tiếng Việt, tiếng Anh để giao tiếp.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064E3B"/>
                </a:solidFill>
                <a:latin typeface="Arial"/>
              </a:rPr>
              <a:t>Còn máy tính điện tử lưu trữ và xử lý mọi thứ bằng ký hiệu gì?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064E3B"/>
                </a:solidFill>
                <a:latin typeface="Arial"/>
              </a:rPr>
              <a:t>Và các máy tính kết nối với nhau như thế nào?</a:t>
            </a:r>
          </a:p>
        </p:txBody>
      </p:sp>
      <p:pic>
        <p:nvPicPr>
          <p:cNvPr id="9" name="Picture 8" descr="p10_img1_1140x16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6 • KHÁM PHÁ VIDEO BÀI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64E3B"/>
                </a:solidFill>
                <a:latin typeface="Arial"/>
              </a:rPr>
              <a:t>Xem Video: Mã nhị phân &amp; Mạng máy tính 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064E3B"/>
                </a:solidFill>
                <a:latin typeface="Arial"/>
              </a:rPr>
              <a:t>Khám phá cách máy tính mã hóa dữ liệu thành các bit 0, 1 và kiến trúc mạng máy tính toàn cầu!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64E3B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64E3B"/>
                </a:solidFill>
                <a:latin typeface="Arial"/>
              </a:rPr>
              <a:t>🔗 Đường link video tham khảo: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64E3B"/>
                </a:solidFill>
                <a:latin typeface="Arial"/>
              </a:rPr>
              <a:t>https://www.youtube.com/watch?v=4F5v6j8m1kQ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64E3B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64E3B"/>
                </a:solidFill>
                <a:latin typeface="Arial"/>
              </a:rPr>
              <a:t>💡 Thầy/Cô sẽ chiếu video cho các em quan sát nhé!</a:t>
            </a:r>
          </a:p>
        </p:txBody>
      </p:sp>
      <p:pic>
        <p:nvPicPr>
          <p:cNvPr id="9" name="Picture 8" descr="p10_img1_1140x16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6 • BÀI 3. THÔNG TIN TRONG MÁY TÍNH &amp; BÀI 4. MẠNG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64E3B"/>
                </a:solidFill>
                <a:latin typeface="Arial"/>
              </a:rPr>
              <a:t>Tiết 3: Biểu diễn thông tin trong máy tính</a:t>
            </a:r>
          </a:p>
        </p:txBody>
      </p:sp>
      <p:pic>
        <p:nvPicPr>
          <p:cNvPr id="6" name="Picture 5" descr="p10_img1_1140x16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6000"/>
            <a:ext cx="1828800" cy="7543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468880" y="2286000"/>
            <a:ext cx="9262872" cy="7543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68880" y="2286000"/>
            <a:ext cx="73152" cy="7543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2423160"/>
            <a:ext cx="8897111" cy="480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64E3B"/>
                </a:solidFill>
                <a:latin typeface="Arial"/>
              </a:rPr>
              <a:t>Bit (Binary digit): đơn vị đo thông tin nhỏ nhất, gồm 0 và 1</a:t>
            </a:r>
          </a:p>
        </p:txBody>
      </p:sp>
      <p:pic>
        <p:nvPicPr>
          <p:cNvPr id="10" name="Picture 9" descr="p11_img1_1140x16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177540"/>
            <a:ext cx="1828800" cy="75437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468880" y="3177540"/>
            <a:ext cx="9262872" cy="7543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68880" y="3177540"/>
            <a:ext cx="73152" cy="75437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3314700"/>
            <a:ext cx="8897111" cy="480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64E3B"/>
                </a:solidFill>
                <a:latin typeface="Arial"/>
              </a:rPr>
              <a:t>Các đơn vị đo dữ liệu: Byte, KB, MB, GB, TB, PB (1 Byte = 8 Bit)</a:t>
            </a:r>
          </a:p>
        </p:txBody>
      </p:sp>
      <p:pic>
        <p:nvPicPr>
          <p:cNvPr id="14" name="Picture 13" descr="p12_img1_1140x16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069080"/>
            <a:ext cx="1828800" cy="7543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468880" y="4069080"/>
            <a:ext cx="9262872" cy="7543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68880" y="4069080"/>
            <a:ext cx="73152" cy="7543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97480" y="4206240"/>
            <a:ext cx="8897111" cy="480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64E3B"/>
                </a:solidFill>
                <a:latin typeface="Arial"/>
              </a:rPr>
              <a:t>Mọi văn bản, hình ảnh, âm thanh đều được số hóa thành dãy bit</a:t>
            </a:r>
          </a:p>
        </p:txBody>
      </p:sp>
      <p:pic>
        <p:nvPicPr>
          <p:cNvPr id="18" name="Picture 17" descr="p13_img1_1140x16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960620"/>
            <a:ext cx="1828800" cy="75438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2468880" y="4960620"/>
            <a:ext cx="9262872" cy="7543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68880" y="4960620"/>
            <a:ext cx="73152" cy="7543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97480" y="5097780"/>
            <a:ext cx="8897111" cy="480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64E3B"/>
                </a:solidFill>
                <a:latin typeface="Arial"/>
              </a:rPr>
              <a:t>Dung lượng bộ nhớ thể hiện khả năng lưu trữ của thiết bị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6 • BÀI 3. THÔNG TIN TRONG MÁY TÍNH &amp; BÀI 4. MẠNG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64E3B"/>
                </a:solidFill>
                <a:latin typeface="Arial"/>
              </a:rPr>
              <a:t>Tiết 4: Khái niệm và lợi ích của Mạng máy tính</a:t>
            </a:r>
          </a:p>
        </p:txBody>
      </p:sp>
      <p:pic>
        <p:nvPicPr>
          <p:cNvPr id="6" name="Picture 5" descr="p13_img1_1140x16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6000"/>
            <a:ext cx="1828800" cy="7543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468880" y="2286000"/>
            <a:ext cx="9262872" cy="7543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68880" y="2286000"/>
            <a:ext cx="73152" cy="7543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2423160"/>
            <a:ext cx="8897111" cy="480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64E3B"/>
                </a:solidFill>
                <a:latin typeface="Arial"/>
              </a:rPr>
              <a:t>Mạng máy tính: tập hợp các máy tính kết nối để chia sẻ tài nguyên</a:t>
            </a:r>
          </a:p>
        </p:txBody>
      </p:sp>
      <p:pic>
        <p:nvPicPr>
          <p:cNvPr id="10" name="Picture 9" descr="p14_img1_1140x16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177540"/>
            <a:ext cx="1828800" cy="75437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468880" y="3177540"/>
            <a:ext cx="9262872" cy="7543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68880" y="3177540"/>
            <a:ext cx="73152" cy="75437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3314700"/>
            <a:ext cx="8897111" cy="480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64E3B"/>
                </a:solidFill>
                <a:latin typeface="Arial"/>
              </a:rPr>
              <a:t>Thành phần chính: Thiết bị đầu cuối, Thiết bị kết nối (Switch/Router), Phần mềm mạng</a:t>
            </a:r>
          </a:p>
        </p:txBody>
      </p:sp>
      <p:pic>
        <p:nvPicPr>
          <p:cNvPr id="14" name="Picture 13" descr="p15_img1_1140x16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069080"/>
            <a:ext cx="1828800" cy="7543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468880" y="4069080"/>
            <a:ext cx="9262872" cy="7543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68880" y="4069080"/>
            <a:ext cx="73152" cy="7543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97480" y="4206240"/>
            <a:ext cx="8897111" cy="480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64E3B"/>
                </a:solidFill>
                <a:latin typeface="Arial"/>
              </a:rPr>
              <a:t>Lợi ích: Dùng chung dữ liệu, dùng chung thiết bị (máy in), trao đổi thông tin nhanh</a:t>
            </a:r>
          </a:p>
        </p:txBody>
      </p:sp>
      <p:pic>
        <p:nvPicPr>
          <p:cNvPr id="18" name="Picture 17" descr="p16_img1_1140x16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960620"/>
            <a:ext cx="1828800" cy="75438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2468880" y="4960620"/>
            <a:ext cx="9262872" cy="7543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68880" y="4960620"/>
            <a:ext cx="73152" cy="7543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97480" y="5097780"/>
            <a:ext cx="8897111" cy="480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64E3B"/>
                </a:solidFill>
                <a:latin typeface="Arial"/>
              </a:rPr>
              <a:t>Phân loại: Mạng có dây (Cáp mạng) và Mạng không dây (Wi-Fi, Bluetooth)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6 • LUYỆN TẬP TƯƠNG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64E3B"/>
                </a:solidFill>
                <a:latin typeface="Arial"/>
              </a:rPr>
              <a:t>Bài tập tính toán dung lượng &amp; Mạng!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Giải quyết các bài tập tình huống: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10_img1_1140x16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54679"/>
            <a:ext cx="128016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3120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4E3B"/>
                </a:solidFill>
                <a:latin typeface="Arial"/>
              </a:rPr>
              <a:t>1 GB bằng bao nhiêu MB? ↔ 1 GB = 1024 MB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11_img1_1140x16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3154679"/>
            <a:ext cx="1280160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54696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4E3B"/>
                </a:solidFill>
                <a:latin typeface="Arial"/>
              </a:rPr>
              <a:t>Một thẻ nhớ 32GB chứa được bao nhiêu bức ảnh 4MB? ↔ ~8.000 ảnh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12_img1_1140x16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663440"/>
            <a:ext cx="1280160" cy="10058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3120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4E3B"/>
                </a:solidFill>
                <a:latin typeface="Arial"/>
              </a:rPr>
              <a:t>Thiết bị kết nối mạng không dây phổ biến ↔ Access Point (Wi-Fi)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13_img1_1140x16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656" y="4663440"/>
            <a:ext cx="1280160" cy="10058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54696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4E3B"/>
                </a:solidFill>
                <a:latin typeface="Arial"/>
              </a:rPr>
              <a:t>Thiết bị đầu cuối trên mạng ↔ Máy tính, Điện thoại, Máy in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3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9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6 • THỬ THÁCH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64E3B"/>
                </a:solidFill>
                <a:latin typeface="Arial"/>
              </a:rPr>
              <a:t>Thảo luận nhóm: Thiết kế mạng gia đình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4008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852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Thảo luận nhóm 4 học sinh (5 phút):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Kể tên các thiết bị kết nối mạng trong gia đình em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Nêu vai trò của bộ định tuyến Wi-Fi Router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Ưu điểm của mạng không dây so với mạng có dây</a:t>
            </a:r>
          </a:p>
        </p:txBody>
      </p:sp>
      <p:pic>
        <p:nvPicPr>
          <p:cNvPr id="9" name="Picture 8" descr="p10_img1_1140x16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77440"/>
            <a:ext cx="4572000" cy="320039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19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64E3B"/>
                </a:solidFill>
                <a:latin typeface="Arial"/>
              </a:rPr>
              <a:t>Tóm tắt bài học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03120"/>
            <a:ext cx="3331464" cy="3291839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240279"/>
            <a:ext cx="411480" cy="411480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64E3B"/>
                </a:solidFill>
                <a:latin typeface="Arial"/>
              </a:rPr>
              <a:t>Mọi thông tin trong máy tính đều được biểu diễn bằng dãy bit (0 và 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8744" y="2103120"/>
            <a:ext cx="3331464" cy="3291839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65904" y="2240279"/>
            <a:ext cx="411480" cy="411480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5904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5904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64E3B"/>
                </a:solidFill>
                <a:latin typeface="Arial"/>
              </a:rPr>
              <a:t>Các đơn vị đo dung lượng thông tin: Byte, KB, MB, GB, TB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43088" y="2103120"/>
            <a:ext cx="3331464" cy="3291839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80248" y="2240279"/>
            <a:ext cx="411480" cy="411480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248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248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64E3B"/>
                </a:solidFill>
                <a:latin typeface="Arial"/>
              </a:rPr>
              <a:t>Mạng máy tính giúp kết nối và chia sẻ tài nguyên hiệu quả</a:t>
            </a:r>
          </a:p>
        </p:txBody>
      </p:sp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Bài học kết thúc! 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BTVN: Vẽ sơ đồ kết nối mạng máy tính của gia đình em!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