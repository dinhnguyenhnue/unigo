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0F766E"/>
                </a:solidFill>
                <a:latin typeface="Times New Roman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188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Times New Roman"/>
              </a:defRPr>
            </a:pPr>
            <a:r>
              <a:t>BÀI 1: THÔNG TIN VÀ DỮ LIỆU</a:t>
            </a:r>
            <a:br/>
            <a:r>
              <a:t>(TIẾT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0F766E"/>
                </a:solidFill>
                <a:latin typeface="Times New Roman"/>
              </a:defRPr>
            </a:pPr>
            <a:r>
              <a:t>Môn Tin học • Lớp 6 • Tuần 2 • Sách Kết nối tri thức với cuộc sống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imes New Roman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34747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65760" cy="3474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804672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Times New Roman"/>
              </a:defRPr>
            </a:pPr>
            <a:r>
              <a:t>MỤC TIÊU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804672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Times New Roman"/>
              </a:defRPr>
            </a:pPr>
            <a:r>
              <a:t>Sau tiết học hôm nay, các em sẽ nắm vững: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804672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Times New Roman"/>
              </a:defRPr>
            </a:pPr>
            <a:r>
              <a:t>✓ Phân biệt được Thông tin và Dữ liệu trong các ví dụ thực tế.</a:t>
            </a:r>
            <a:br/>
            <a:r>
              <a:t>✓ Hiểu được mối quan hệ biện chứng giữa Dữ liệu và Thông tin.</a:t>
            </a:r>
            <a:br/>
            <a:r>
              <a:t>✓ Nêu được tầm quan trọng của thông tin trong việc ra quyết định.</a:t>
            </a:r>
            <a:br/>
            <a:r>
              <a:t>✓ Hiểu vai trò cốt lõi của Dữ liệu đối với sự phát triển của Trí tuệ nhân tạo (AI).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HOẠT ĐỘNG 1: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34E4A"/>
                </a:solidFill>
                <a:latin typeface="Times New Roman"/>
              </a:defRPr>
            </a:pPr>
            <a:r>
              <a:t>Tình huống: Lập kế hoạch chuyến đi dã ngoại 🏕️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Lớp 6A dự định tổ chức một buổi dã ngoại tại khu sinh thái vào cuối tuần.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❓ Câu hỏi thảo luận: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1. Để chuyến đi an toàn, vui vẻ, lớp mình cần biết những điều gì trước khi đi?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2. Làm thế nào để biết thời tiết hôm đó? Khoảng cách đường đi bao xa? Cần chuẩn bị chi phí bao nhiêu?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Các con số, hình ảnh bản đồ, bảng dự báo... là gì?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i1_p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KHÁM PHÁ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34E4A"/>
                </a:solidFill>
                <a:latin typeface="Times New Roman"/>
              </a:defRPr>
            </a:pPr>
            <a:r>
              <a:t>Thông tin và Dữ liệu khác nhau như thế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Quan sát bảng nhiệt độ trong ngày (Hình 1.1 SGK):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- Các con số: 20°C, 25°C, 30°C được ghi chép lại.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Đó là DỮ LIỆU (chưa qua xử lý).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Khi đọc các con số đó, ta hiểu rằng: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"Thời tiết hôm nay nóng ấm, buổi trưa nhiệt độ cao nhất."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Đó là THÔNG TIN (sự hiểu biết rút ra từ dữ liệu).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i1_p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777239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💡 Mối quan hệ giữa Dữ liệu và Thông tin là gì?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640080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64592" cy="21488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943600" cy="777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Dữ liệu là nguyên liệu đầu vào (con số, chữ, ảnh, âm thanh ghi lại).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Con người (hoặc máy tính) tiếp nhận và xử lý dữ liệu.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Kết quả thu được là Thông tin hữu ích giúp gia tăng hiểu biết.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57400"/>
            <a:ext cx="466344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48056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Times New Roman"/>
              </a:defRPr>
            </a:pPr>
            <a:r>
              <a:t>📌 GHI NHỚ TRỌNG TÂM (SGK)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Dữ liệu là các số, văn bản, hình ảnh, âm thanh,... chưa được xử lý.</a:t>
            </a:r>
            <a:br/>
            <a:r>
              <a:t>Thông tin là những hiểu biết của con người về thế giới xung quanh và về chính bản thân mình được rút ra từ dữ liệu.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KHÁM PHÁ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34E4A"/>
                </a:solidFill>
                <a:latin typeface="Times New Roman"/>
              </a:defRPr>
            </a:pPr>
            <a:r>
              <a:t>Tầm quan trọng của thông tin trong đời sống ⚠️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Quan sát Hình 1.2 SGK: Biển báo có nguy cơ đá lở phía trước.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• Ý nghĩa của biển báo: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- Thông tin mang lại: Đoạn đường nguy hiểm, có thể sạt lở.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- Quyết định của lái xe: Giảm tốc độ, chú ý quan sát, đi cẩn thận.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❓ Nếu thiếu thông tin này, hậu quả gì có thể xảy ra?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Thông tin giúp con người phòng ngừa tai nạn và ra quyết định chính xác!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i1_p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777239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6858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💡 Tại sao thông tin lại đóng vai trò quyết định trong thời đại số?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57400"/>
            <a:ext cx="640080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57400"/>
            <a:ext cx="164592" cy="21488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5943600" cy="7772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Có thông tin đúng đắn ➡️ Đưa ra quyết định sáng suốt và thành công.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• Thiếu hoặc sai lệch thông tin ➡️ Dễ dẫn tới những sai lầm đáng tiếc.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94360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🤖 Góc Trí tuệ nhân tạo (AI): AI được 'học' từ lượng Dữ liệu khổng lồ do con người thu thập và gán nhãn để rút ra thông tin thông minh!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57400"/>
            <a:ext cx="4663440" cy="21488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ai1_p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4480560" cy="2057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4343400"/>
            <a:ext cx="11247120" cy="13258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Times New Roman"/>
              </a:defRPr>
            </a:pPr>
            <a:r>
              <a:t>📌 GHI NHỚ TRỌNG TÂM (SGK)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09160"/>
            <a:ext cx="10698480" cy="868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Thông tin có vai trò rất quan trọng, giúp con người đưa ra những quyết định đúng đắn và hiệu quả.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HOẠT ĐỘNG 3: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134E4A"/>
                </a:solidFill>
                <a:latin typeface="Times New Roman"/>
              </a:defRPr>
            </a:pPr>
            <a:r>
              <a:t>Thực hành phân loại: Đâu là Dữ liệu? Đâu là Thông tin?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389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1. Bảng điểm tổng kết học kì của lớp (Toán 9, Văn 8, Tin 10).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04872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DỮ LIỆU (các con số ghi nhận).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6664"/>
            <a:ext cx="3931920" cy="5943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2. Nhận xét: "Bạn Nam học rất xuất sắc môn Tin học".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THÔNG TIN (sự hiểu biết rút ra từ bảng điểm).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t>3. Tiếng chuông báo cháy reo inh ỏi trong toà nhà.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92040"/>
            <a:ext cx="3931920" cy="5943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👉 DỮ LIỆU âm thanh ➡️ Rút ra THÔNG TIN có hỏa hoạn để sơ tán!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ai1_p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THỬ THÁCH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❓ Phát biểu nào sau đây thể hiện đúng nhất khái niệm về DỮ LIỆU?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Sự hiểu biết của con người về thế giới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Các số, văn bản, hình ảnh, âm thanh chưa xử lý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Quyết định lựa chọn hành động của con người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Thiết bị máy tính dùng để truy cập Internet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t>THỬ THÁCH NHANH 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t>❓ Trong hệ thống Trí tuệ nhân tạo (AI), yếu tố nào đóng vai trò là 'nguyên liệu đầu vào' cốt lõi?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Dữ liệu (do con người thu thập, gán nhãn)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Bàn phím và chuột máy tính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Trò chơi điện tử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Times New Roman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Times New Roman"/>
              </a:defRPr>
            </a:pPr>
            <a:r>
              <a:t>Giấy in và mực in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0F766E"/>
                </a:solidFill>
                <a:latin typeface="Times New Roman"/>
              </a:defRPr>
            </a:pPr>
            <a:r>
              <a:t>VẬN DỤNG &amp; NHIỆM VỤ TỰ HỌC 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Times New Roman"/>
              </a:defRPr>
            </a:pPr>
            <a:r>
              <a:t>1. Tìm kiếm 3 nguồn dữ liệu số trên Internet để lên kế hoạch cho một chuyến du lịch gia đình.</a:t>
            </a:r>
            <a:br/>
            <a:r>
              <a:t>2. Ghi nhớ 2 Hộp Chốt kiến thức quan trọng của Bài 1 (SGK trang 6 &amp; 7).</a:t>
            </a:r>
            <a:br/>
            <a:r>
              <a:t>3. Đọc trước mục 3 'Xử lý thông tin' để chuẩn bị cho Tiết 2 tuần sau!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29768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Times New Roman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