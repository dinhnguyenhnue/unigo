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280160"/>
            <a:ext cx="9144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8120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6  •  NĂM HỌC 2026 –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0" y="22860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9688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A2B28"/>
                </a:solidFill>
                <a:latin typeface="Times New Roman"/>
              </a:rPr>
              <a:t>THÔNG TIN VÀ DỮ LIỆU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Thông tin và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4389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A2B28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1188720"/>
            <a:ext cx="10515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1188720"/>
            <a:ext cx="109728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011680"/>
            <a:ext cx="9601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Sự hiểu biết về khái niệm thông tin và dữ liệu trong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Khả năng phân biệt thông tin (ý nghĩa con người hiểu) với dữ liệu (biểu diễn trong máy tính).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Sự nhận biết các dạng dữ liệu cơ bản: số, văn bản, hình ảnh, âm thanh, video.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GV chiếu tình huống: "Em nhận được dãy số 36.5 — đây là dữ liệu gì? Có ý nghĩa gì?" HS 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Chiếu hình ảnh: dãy số "36.5" và đặt câu hỏi: "Đây là gì? Có nghĩa là gì trong từng ngữ...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Quan sát các cặp thảo luận, hỗ trợ gợi ý nếu HS chưa nghĩ ra ví dụ.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Mời 2-3 cặp trình bày, ghi các cách hiểu lên bảng.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00968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🎮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Times New Roman"/>
              </a:defRPr>
            </a:pPr>
            <a:r>
              <a:t>📖  Hình thành kiến thức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GV giảng khái niệm thông tin và dữ liệu qua SGK trang 6-8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HS quan sát ví dụ và phân loại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Chiếu slide khái niệm: Thông tin = ý nghĩa con người hiểu. Dữ liệu = biểu diễn thông ti...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Hỏi tương tác: "Cho ví dụ 1 thông tin và dữ liệu tương ứng trong cuộc sống?"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00968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📖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768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25072" y="1188720"/>
            <a:ext cx="109728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425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Times New Roman"/>
              </a:defRPr>
            </a:pPr>
            <a:r>
              <a:t>✏️ 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25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HS thực hành phân loại 10 ví dụ vào đúng dạng dữ liệu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Giải thích lý do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Phát phiếu học tập gồm 10 ví dụ (ảnh chụp, file MP3, bảng Excel...) và yêu cầu HS phân 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Quan sát, nhắc nhở HS làm việc cá nhân và hỗ trợ HS gặp khó khăn.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00968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✏️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188720"/>
            <a:ext cx="68580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HS quan sát dữ liệu trong cuộc sống (điện thoại, máy tính ở nhà) và ghi lại 5 ví dụ về 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Giao nhiệm vụ: Quan sát điện thoại/máy tính ở nhà, tìm 5 ví dụ về 5 dạng dữ liệu khác n...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Nhắc: Ghi rõ tên dữ liệu, dạng và ý nghĩa (thông tin) của nó.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Dặn: Đầu tiết sau sẽ chia sẻ kết quả và nhận xét chéo.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7120" y="1188720"/>
            <a:ext cx="4389120" cy="4389120"/>
          </a:xfrm>
          <a:prstGeom prst="roundRect">
            <a:avLst>
              <a:gd name="adj" fmla="val 4000"/>
            </a:avLst>
          </a:prstGeom>
          <a:solidFill>
            <a:srgbClr val="009688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74480" y="29260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Times New Roman"/>
              </a:defRPr>
            </a:pPr>
            <a:r>
              <a:t>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2440" y="1188720"/>
            <a:ext cx="112471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2440" y="1188720"/>
            <a:ext cx="109728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964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Times New Roman"/>
              </a:defRPr>
            </a:pPr>
            <a:r>
              <a:t>📌  Ghi nhớ — THÔNG TIN VÀ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" y="201168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Sự hiểu biết về khái niệm thông tin và dữ liệu trong máy tính.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Khả năng phân biệt thông tin (ý nghĩa con người hiểu) với dữ liệu (biểu diễn trong máy tính).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Sự nhận biết các dạng dữ liệu cơ bản: số, văn bản, hình ảnh, âm thanh, video.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09688"/>
                </a:solidFill>
                <a:latin typeface="Times New Roman"/>
              </a:rPr>
              <a:t>●  </a:t>
            </a:r>
            <a:r>
              <a:rPr sz="1800">
                <a:solidFill>
                  <a:srgbClr val="0A2B28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9688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0A2B28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