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968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i1_p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773" y="1188720"/>
            <a:ext cx="3196614" cy="4572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797040" y="1097280"/>
            <a:ext cx="5212080" cy="4754880"/>
          </a:xfrm>
          <a:prstGeom prst="roundRect">
            <a:avLst>
              <a:gd name="adj" fmla="val 3000"/>
            </a:avLst>
          </a:prstGeom>
          <a:noFill/>
          <a:ln w="38100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6858000" cy="4206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4114800" cy="457200"/>
          </a:xfrm>
          <a:prstGeom prst="roundRect">
            <a:avLst>
              <a:gd name="adj" fmla="val 30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TIN HỌC LỚP 6  •  NĂM HỌC 2026 –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9688"/>
                </a:solidFill>
                <a:latin typeface="Times New Roman"/>
              </a:rPr>
              <a:t>Bài 1</a:t>
            </a:r>
          </a:p>
          <a:p>
            <a:pPr>
              <a:spcBef>
                <a:spcPts val="400"/>
              </a:spcBef>
            </a:pPr>
            <a:r>
              <a:rPr sz="2800" b="1">
                <a:solidFill>
                  <a:srgbClr val="0A2B28"/>
                </a:solidFill>
                <a:latin typeface="Times New Roman"/>
              </a:rPr>
              <a:t>THÔNG TIN VÀ DỮ LIỆU</a:t>
            </a:r>
          </a:p>
          <a:p>
            <a:pPr>
              <a:spcBef>
                <a:spcPts val="800"/>
              </a:spcBef>
            </a:pPr>
            <a:r>
              <a:rPr sz="1600" i="1">
                <a:solidFill>
                  <a:srgbClr val="666666"/>
                </a:solidFill>
                <a:latin typeface="Times New Roman"/>
              </a:rPr>
              <a:t>Chủ đề: Thông tin và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0A2B28"/>
                </a:solidFill>
                <a:latin typeface="Times New Roman"/>
              </a:rPr>
              <a:t>Trường TH &amp; THCS UNIGO</a:t>
            </a:r>
          </a:p>
          <a:p>
            <a:r>
              <a:rPr sz="1600">
                <a:solidFill>
                  <a:srgbClr val="666666"/>
                </a:solidFill>
                <a:latin typeface="Times New Roman"/>
              </a:rPr>
              <a:t>Giáo viên: Đậu Đình Nguyên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1188720"/>
            <a:ext cx="713232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0"/>
            <a:ext cx="109728" cy="4389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88"/>
                </a:solidFill>
                <a:latin typeface="Times New Roman"/>
              </a:defRPr>
            </a:pPr>
            <a:r>
              <a:t>🎯  Mục tiêu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6400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Sự hiểu biết về khái niệm thông tin và dữ liệu trong máy tính.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Khả năng phân biệt thông tin (ý nghĩa con người hiểu) với dữ liệu (biểu diễn trong máy tính).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Sự nhận biết các dạng dữ liệu cơ bản: số, văn bản, hình ảnh, âm thanh, video.</a:t>
            </a:r>
          </a:p>
        </p:txBody>
      </p:sp>
      <p:pic>
        <p:nvPicPr>
          <p:cNvPr id="6" name="Picture 5" descr="bai1_p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085" y="1188720"/>
            <a:ext cx="3068749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1188720"/>
            <a:ext cx="64008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0"/>
            <a:ext cx="109728" cy="4389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88"/>
                </a:solidFill>
                <a:latin typeface="Times New Roman"/>
              </a:defRPr>
            </a:pPr>
            <a:r>
              <a:t>🎮  Khởi động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5669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GV chiếu tình huống: "Em nhận được dãy số 36.5 — đây là dữ liệu gì? Có ý nghĩa gì?" HS ...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Chiếu hình ảnh: dãy số "36.5" và đặt câu hỏi: "Đây là gì? Có nghĩa là gì trong từng ngữ...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Quan sát các cặp thảo luận, hỗ trợ gợi ý nếu HS chưa nghĩ ra ví dụ.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Mời 2-3 cặp trình bày, ghi các cách hiểu lên bảng.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188720"/>
            <a:ext cx="4922520" cy="4389120"/>
          </a:xfrm>
          <a:prstGeom prst="roundRect">
            <a:avLst>
              <a:gd name="adj" fmla="val 3000"/>
            </a:avLst>
          </a:prstGeom>
          <a:solidFill>
            <a:srgbClr val="F8F8F8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i1_p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23" y="1325880"/>
            <a:ext cx="2876953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683240" y="128016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Times New Roman"/>
              </a:rPr>
              <a:t>📚 SGK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77840" y="1188720"/>
            <a:ext cx="64008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8912" y="1188720"/>
            <a:ext cx="109728" cy="4389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88"/>
                </a:solidFill>
                <a:latin typeface="Times New Roman"/>
              </a:defRPr>
            </a:pPr>
            <a:r>
              <a:t>📖  Hình thành kiến thức mới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2011680"/>
            <a:ext cx="5669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GV giảng khái niệm thông tin và dữ liệu qua SGK trang 6-8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HS quan sát ví dụ và phân loại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Chiếu slide khái niệm: Thông tin = ý nghĩa con người hiểu. Dữ liệu = biểu diễn thông ti...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Hỏi tương tác: "Cho ví dụ 1 thông tin và dữ liệu tương ứng trong cuộc sống?"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5029200" cy="4389120"/>
          </a:xfrm>
          <a:prstGeom prst="roundRect">
            <a:avLst>
              <a:gd name="adj" fmla="val 3000"/>
            </a:avLst>
          </a:prstGeom>
          <a:solidFill>
            <a:srgbClr val="F8F8F8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i1_p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163" y="1325880"/>
            <a:ext cx="2876953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60520" y="128016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Times New Roman"/>
              </a:rPr>
              <a:t>📚 SGK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77840" y="1188720"/>
            <a:ext cx="64008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8912" y="1188720"/>
            <a:ext cx="109728" cy="4389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88"/>
                </a:solidFill>
                <a:latin typeface="Times New Roman"/>
              </a:defRPr>
            </a:pPr>
            <a:r>
              <a:t>✏️ 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2011680"/>
            <a:ext cx="5669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HS thực hành phân loại 10 ví dụ vào đúng dạng dữ liệu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Giải thích lý do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Phát phiếu học tập gồm 10 ví dụ (ảnh chụp, file MP3, bảng Excel...) và yêu cầu HS phân ...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Quan sát, nhắc nhở HS làm việc cá nhân và hỗ trợ HS gặp khó khăn.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5029200" cy="4389120"/>
          </a:xfrm>
          <a:prstGeom prst="roundRect">
            <a:avLst>
              <a:gd name="adj" fmla="val 3000"/>
            </a:avLst>
          </a:prstGeom>
          <a:solidFill>
            <a:srgbClr val="F8F8F8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i1_p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163" y="1325880"/>
            <a:ext cx="2876953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60520" y="128016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Times New Roman"/>
              </a:rPr>
              <a:t>📚 SGK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1188720"/>
            <a:ext cx="64008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0"/>
            <a:ext cx="109728" cy="4389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88"/>
                </a:solidFill>
                <a:latin typeface="Times New Roman"/>
              </a:defRPr>
            </a:pPr>
            <a:r>
              <a:t>🚀  Vận dụng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5669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HS quan sát dữ liệu trong cuộc sống (điện thoại, máy tính ở nhà) và ghi lại 5 ví dụ về ...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Giao nhiệm vụ: Quan sát điện thoại/máy tính ở nhà, tìm 5 ví dụ về 5 dạng dữ liệu khác n...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Nhắc: Ghi rõ tên dữ liệu, dạng và ý nghĩa (thông tin) của nó.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Dặn: Đầu tiết sau sẽ chia sẻ kết quả và nhận xét chéo.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188720"/>
            <a:ext cx="4922520" cy="4389120"/>
          </a:xfrm>
          <a:prstGeom prst="roundRect">
            <a:avLst>
              <a:gd name="adj" fmla="val 3000"/>
            </a:avLst>
          </a:prstGeom>
          <a:solidFill>
            <a:srgbClr val="F8F8F8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i1_p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23" y="1325880"/>
            <a:ext cx="2876953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683240" y="128016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Times New Roman"/>
              </a:rPr>
              <a:t>📚 SGK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1188720"/>
            <a:ext cx="73152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0"/>
            <a:ext cx="109728" cy="4389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88"/>
                </a:solidFill>
                <a:latin typeface="Times New Roman"/>
              </a:defRPr>
            </a:pPr>
            <a:r>
              <a:t>📌  Ghi nhớ — 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6400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Sự hiểu biết về khái niệm thông tin và dữ liệu trong máy tính.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Khả năng phân biệt thông tin (ý nghĩa con người hiểu) với dữ liệu (biểu diễn trong máy tính).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Sự nhận biết các dạng dữ liệu cơ bản: số, văn bản, hình ảnh, âm thanh, video.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9688"/>
                </a:solidFill>
                <a:latin typeface="Times New Roman"/>
              </a:rPr>
              <a:t>●  </a:t>
            </a:r>
            <a:r>
              <a:rPr sz="1800">
                <a:solidFill>
                  <a:srgbClr val="0A2B28"/>
                </a:solidFill>
                <a:latin typeface="Times New Roman"/>
              </a:rPr>
              <a:t>📚 Bài tập về nhà: Xem lại nội dung bài học và chuẩn bị bài tiếp theo.</a:t>
            </a:r>
          </a:p>
        </p:txBody>
      </p:sp>
      <p:pic>
        <p:nvPicPr>
          <p:cNvPr id="6" name="Picture 5" descr="bai1_p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525" y="1188720"/>
            <a:ext cx="3068749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968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i1_p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0323" y="1371600"/>
            <a:ext cx="2876953" cy="4114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162800" y="1371600"/>
            <a:ext cx="4572000" cy="4114800"/>
          </a:xfrm>
          <a:prstGeom prst="rect">
            <a:avLst/>
          </a:prstGeom>
          <a:solidFill>
            <a:srgbClr val="00968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438400" y="1828800"/>
            <a:ext cx="73152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5600" y="228600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9688"/>
                </a:solidFill>
                <a:latin typeface="Times New Roman"/>
              </a:rPr>
              <a:t>CẢM ƠN CÁC EM! 🎉</a:t>
            </a:r>
          </a:p>
          <a:p>
            <a:pPr algn="ctr">
              <a:spcBef>
                <a:spcPts val="1200"/>
              </a:spcBef>
            </a:pPr>
            <a:r>
              <a:rPr sz="2000">
                <a:solidFill>
                  <a:srgbClr val="0A2B28"/>
                </a:solidFill>
                <a:latin typeface="Times New Roman"/>
              </a:rPr>
              <a:t>Hẹn gặp lại ở tiết học sau!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5600" y="38404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99999"/>
                </a:solidFill>
                <a:latin typeface="Times New Roman"/>
              </a:rPr>
              <a:t>Trường TH &amp; THCS UNIGO  •  GV: Đậu Đình Nguyên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