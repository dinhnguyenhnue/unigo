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0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jpg"/><Relationship Id="rId5" Type="http://schemas.openxmlformats.org/officeDocument/2006/relationships/image" Target="../media/image1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1051560"/>
            <a:ext cx="12188952" cy="164592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Máy tính xung quanh 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Tin học • Tiền Tiểu học • Bài 1</a:t>
            </a:r>
          </a:p>
        </p:txBody>
      </p:sp>
      <p:pic>
        <p:nvPicPr>
          <p:cNvPr id="6" name="Picture 5" descr="cover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325880"/>
            <a:ext cx="3474720" cy="34747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B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TIỀN TIỂU HỌC • BÀI 1. MÁY TÍNH XUNG QUANH 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744"/>
                </a:solidFill>
                <a:latin typeface="Arial"/>
              </a:rPr>
              <a:t>Các con ơi, nhìn xung quanh nào!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8580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6309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1A2744"/>
                </a:solidFill>
                <a:latin typeface="Arial"/>
              </a:rPr>
              <a:t>Con có thấy chiếc máy tính nào không?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1A2744"/>
                </a:solidFill>
                <a:latin typeface="Arial"/>
              </a:rPr>
              <a:t>Chỉ cho cô xem nhé!</a:t>
            </a:r>
          </a:p>
        </p:txBody>
      </p:sp>
      <p:pic>
        <p:nvPicPr>
          <p:cNvPr id="9" name="Picture 8" descr="cover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0"/>
            <a:ext cx="4114799" cy="3383279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B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TIỀN TIỂU HỌC • BÀI 1. MÁY TÍNH XUNG QUANH 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744"/>
                </a:solidFill>
                <a:latin typeface="Arial"/>
              </a:rPr>
              <a:t>Đây là máy tính!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628900"/>
            <a:ext cx="3605784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628900"/>
            <a:ext cx="3605784" cy="9144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earn1_bullet1_classr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692" y="2766060"/>
            <a:ext cx="1828800" cy="1828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4640580"/>
            <a:ext cx="33314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2744"/>
                </a:solidFill>
                <a:latin typeface="Arial"/>
              </a:rPr>
              <a:t>Trong phòng học
của chúng mình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1584" y="2628900"/>
            <a:ext cx="3605784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1584" y="2628900"/>
            <a:ext cx="3605784" cy="9144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learn1_bullet2_lap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0076" y="2766060"/>
            <a:ext cx="1828800" cy="1828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28744" y="4640580"/>
            <a:ext cx="33314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2744"/>
                </a:solidFill>
                <a:latin typeface="Arial"/>
              </a:rPr>
              <a:t>Ở nhà
(laptop của bố mẹ)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5968" y="2628900"/>
            <a:ext cx="3605784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5968" y="2628900"/>
            <a:ext cx="3605784" cy="9144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earn1_bullet3_pho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4460" y="2766060"/>
            <a:ext cx="1828800" cy="1828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63128" y="4640580"/>
            <a:ext cx="33314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2744"/>
                </a:solidFill>
                <a:latin typeface="Arial"/>
              </a:rPr>
              <a:t>Trên tay
(điện thoại cũng là
máy tính nhỏ!)</a:t>
            </a:r>
          </a:p>
        </p:txBody>
      </p:sp>
    </p:spTree>
  </p:cSld>
  <p:clrMapOvr>
    <a:masterClrMapping/>
  </p:clrMapOvr>
  <p:transition spd="med">
    <p:wip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B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TIỀN TIỂU HỌC • BÀI 1. MÁY TÍNH XUNG QUANH 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744"/>
                </a:solidFill>
                <a:latin typeface="Arial"/>
              </a:rPr>
              <a:t>Máy tính có những phần nào?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317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331720"/>
            <a:ext cx="5522976" cy="9144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earn2_bullet1_moni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288" y="2468879"/>
            <a:ext cx="1828800" cy="1005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352044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2744"/>
                </a:solidFill>
                <a:latin typeface="Arial"/>
              </a:rPr>
              <a:t>Màn hình
— để con nhìn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23317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8776" y="2331720"/>
            <a:ext cx="5522976" cy="9144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learn2_bullet2_key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5864" y="2468879"/>
            <a:ext cx="1828800" cy="1005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45936" y="352044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2744"/>
                </a:solidFill>
                <a:latin typeface="Arial"/>
              </a:rPr>
              <a:t>Bàn phím
— để con gõ chữ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160520"/>
            <a:ext cx="5522976" cy="9144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earn2_bullet3_mou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4288" y="4297680"/>
            <a:ext cx="1828800" cy="10058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94360" y="534924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2744"/>
                </a:solidFill>
                <a:latin typeface="Arial"/>
              </a:rPr>
              <a:t>Chuột
— để con chỉ và nhấp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41605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8776" y="4160520"/>
            <a:ext cx="5522976" cy="9144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earn2_bullet4_cp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5864" y="4297680"/>
            <a:ext cx="1828800" cy="10058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45936" y="534924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2744"/>
                </a:solidFill>
                <a:latin typeface="Arial"/>
              </a:rPr>
              <a:t>Thân máy
— bộ não của máy tính</a:t>
            </a:r>
          </a:p>
        </p:txBody>
      </p:sp>
    </p:spTree>
  </p:cSld>
  <p:clrMapOvr>
    <a:masterClrMapping/>
  </p:clrMapOvr>
  <p:transition spd="med">
    <p:wip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B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TIỀN TIỂU HỌC • BÀI 1. MÁY TÍNH XUNG QUANH 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744"/>
                </a:solidFill>
                <a:latin typeface="Arial"/>
              </a:rPr>
              <a:t>Máy tính giúp chúng ta làm gì?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317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331720"/>
            <a:ext cx="5522976" cy="9144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earn3_bullet1_stu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288" y="2468879"/>
            <a:ext cx="1828800" cy="1005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352044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2744"/>
                </a:solidFill>
                <a:latin typeface="Arial"/>
              </a:rPr>
              <a:t>Học bài vui vẻ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23317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8776" y="2331720"/>
            <a:ext cx="5522976" cy="9144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learn3_bullet2_d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5864" y="2468879"/>
            <a:ext cx="1828800" cy="1005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45936" y="352044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2744"/>
                </a:solidFill>
                <a:latin typeface="Arial"/>
              </a:rPr>
              <a:t>Vẽ tranh đẹp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160520"/>
            <a:ext cx="5522976" cy="9144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earn3_bullet3_mus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4288" y="4297680"/>
            <a:ext cx="1828800" cy="10058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94360" y="534924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2744"/>
                </a:solidFill>
                <a:latin typeface="Arial"/>
              </a:rPr>
              <a:t>Nghe nhạc hay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41605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8776" y="4160520"/>
            <a:ext cx="5522976" cy="9144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earn3_bullet4_carto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5864" y="4297680"/>
            <a:ext cx="1828800" cy="10058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45936" y="534924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2744"/>
                </a:solidFill>
                <a:latin typeface="Arial"/>
              </a:rPr>
              <a:t>Xem hoạt hình</a:t>
            </a:r>
          </a:p>
        </p:txBody>
      </p:sp>
    </p:spTree>
  </p:cSld>
  <p:clrMapOvr>
    <a:masterClrMapping/>
  </p:clrMapOvr>
  <p:transition spd="med">
    <p:wip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B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TIỀN TIỂU HỌC • LUYỆN TẬP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744"/>
                </a:solidFill>
                <a:latin typeface="Arial"/>
              </a:rPr>
              <a:t>Cùng chơi nào!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A2744"/>
                </a:solidFill>
                <a:latin typeface="Arial"/>
              </a:rPr>
              <a:t>Con hãy chỉ vào từng bộ phận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2744"/>
                </a:solidFill>
                <a:latin typeface="Arial"/>
              </a:rPr>
              <a:t>và nói tên cho cô nghe: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08960"/>
            <a:ext cx="3636264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7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earn2_bullet1_moni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372" y="3200400"/>
            <a:ext cx="1645920" cy="1097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4389120"/>
            <a:ext cx="33619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2744"/>
                </a:solidFill>
                <a:latin typeface="Arial"/>
              </a:rPr>
              <a:t>Đâu là màn hình?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6344" y="3108960"/>
            <a:ext cx="3636264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7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earn2_bullet2_key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1516" y="3200400"/>
            <a:ext cx="1645920" cy="1097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13504" y="4389120"/>
            <a:ext cx="33619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2744"/>
                </a:solidFill>
                <a:latin typeface="Arial"/>
              </a:rPr>
              <a:t>Đâu là bàn phím?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5488" y="3108960"/>
            <a:ext cx="3636264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7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learn2_bullet3_mou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0660" y="3200400"/>
            <a:ext cx="1645920" cy="10972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32648" y="4389120"/>
            <a:ext cx="33619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2744"/>
                </a:solidFill>
                <a:latin typeface="Arial"/>
              </a:rPr>
              <a:t>Đâu là chuột?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3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5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wip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B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TIỀN TIỂU HỌC • THỬ THÁCH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744"/>
                </a:solidFill>
                <a:latin typeface="Arial"/>
              </a:rPr>
              <a:t>Thử thách nhỏ!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59436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394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1A2744"/>
                </a:solidFill>
                <a:latin typeface="Arial"/>
              </a:rPr>
              <a:t>Con hãy vẽ một chiếc máy tính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1A2744"/>
                </a:solidFill>
                <a:latin typeface="Arial"/>
              </a:rPr>
              <a:t>vào giấy của mình.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1A2744"/>
                </a:solidFill>
                <a:latin typeface="Arial"/>
              </a:rPr>
              <a:t>Nhớ vẽ đủ các bộ phận nhé!</a:t>
            </a:r>
          </a:p>
        </p:txBody>
      </p:sp>
      <p:pic>
        <p:nvPicPr>
          <p:cNvPr id="9" name="Picture 8" descr="activity_draw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377440"/>
            <a:ext cx="4937760" cy="3200399"/>
          </a:xfrm>
          <a:prstGeom prst="rect">
            <a:avLst/>
          </a:prstGeom>
        </p:spPr>
      </p:pic>
    </p:spTree>
  </p:cSld>
  <p:clrMapOvr>
    <a:masterClrMapping/>
  </p:clrMapOvr>
  <p:transition spd="med">
    <p:cover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B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188719"/>
            <a:ext cx="11091672" cy="448055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19"/>
            <a:ext cx="11091672" cy="91440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371599"/>
            <a:ext cx="105430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B4F9B"/>
                </a:solidFill>
                <a:latin typeface="Arial"/>
              </a:rPr>
              <a:t>Hôm nay con đã biết!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2057400"/>
            <a:ext cx="7434072" cy="9144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286000"/>
            <a:ext cx="73152" cy="64008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2286000"/>
            <a:ext cx="9994392" cy="640080"/>
          </a:xfrm>
          <a:prstGeom prst="roundRect">
            <a:avLst/>
          </a:prstGeom>
          <a:solidFill>
            <a:srgbClr val="EB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42316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2744"/>
                </a:solidFill>
                <a:latin typeface="Arial"/>
              </a:rPr>
              <a:t>Máy tính ở xung quanh chúng 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291840"/>
            <a:ext cx="73152" cy="640079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97280" y="3291840"/>
            <a:ext cx="9994392" cy="640079"/>
          </a:xfrm>
          <a:prstGeom prst="roundRect">
            <a:avLst/>
          </a:prstGeom>
          <a:solidFill>
            <a:srgbClr val="EB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42900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2744"/>
                </a:solidFill>
                <a:latin typeface="Arial"/>
              </a:rPr>
              <a:t>Máy tính có: màn hình, bàn phím, chuột, thân máy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297680"/>
            <a:ext cx="73152" cy="64008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97280" y="4297680"/>
            <a:ext cx="9994392" cy="640080"/>
          </a:xfrm>
          <a:prstGeom prst="roundRect">
            <a:avLst/>
          </a:prstGeom>
          <a:solidFill>
            <a:srgbClr val="EB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43484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2744"/>
                </a:solidFill>
                <a:latin typeface="Arial"/>
              </a:rPr>
              <a:t>Máy tính giúp con học và chơi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78308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Các con giỏi lắm!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36876" y="3337560"/>
            <a:ext cx="73152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94076" y="3611879"/>
            <a:ext cx="6400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1A2744"/>
                </a:solidFill>
                <a:latin typeface="Arial"/>
              </a:rPr>
              <a:t>Hẹn gặp lại tiết sau nhé!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