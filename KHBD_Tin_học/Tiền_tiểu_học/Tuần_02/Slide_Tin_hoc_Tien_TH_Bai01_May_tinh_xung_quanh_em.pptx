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011680"/>
            <a:ext cx="94457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  <a:latin typeface="Arial"/>
              </a:rPr>
              <a:t>Tin học • Tiền Tiểu học • Bài 1</a:t>
            </a:r>
          </a:p>
        </p:txBody>
      </p:sp>
      <p:pic>
        <p:nvPicPr>
          <p:cNvPr id="6" name="Picture 5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Các con ơi, nhìn xung quanh nào!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Con có thấy chiếc máy tính nào không?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Chỉ cho cô xem nhé!</a:t>
            </a:r>
          </a:p>
        </p:txBody>
      </p:sp>
      <p:pic>
        <p:nvPicPr>
          <p:cNvPr id="9" name="Picture 8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Đây là máy tính!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Máy tính ở khắp nơi: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Trong phòng học của chúng mình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Ở nhà (laptop của bố mẹ)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Trên tay (điện thoại cũng là máy tính nhỏ!)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Máy tính có những phần nào?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Màn hình — để con nhìn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Bàn phím — để con gõ chữ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Chuột — để con chỉ và nhấp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Thân máy — bộ não của máy tính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BÀI 1. MÁY TÍNH XUNG QUANH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Máy tính giúp chúng ta làm gì?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23160"/>
            <a:ext cx="6309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Học bài vui vẻ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Vẽ tranh đẹp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Nghe nhạc hay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● Xem hoạt hình</a:t>
            </a:r>
          </a:p>
        </p:txBody>
      </p:sp>
      <p:pic>
        <p:nvPicPr>
          <p:cNvPr id="9" name="Picture 8" descr="ac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Cùng chơi nào!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Con hãy chỉ vào từng bộ phận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và nói tên cho cô nghe: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744"/>
                </a:solidFill>
                <a:latin typeface="Arial"/>
              </a:rPr>
              <a:t>Đâu là màn hình?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5916" y="32004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4516" y="3291840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744"/>
                </a:solidFill>
                <a:latin typeface="Arial"/>
              </a:rPr>
              <a:t>Đâu là bàn phím?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86200"/>
            <a:ext cx="5545836" cy="5486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2D7D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977639"/>
            <a:ext cx="51800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2744"/>
                </a:solidFill>
                <a:latin typeface="Arial"/>
              </a:rPr>
              <a:t>Đâu là chuột?</a:t>
            </a:r>
          </a:p>
        </p:txBody>
      </p:sp>
    </p:spTree>
  </p:cSld>
  <p:clrMapOvr>
    <a:masterClrMapping/>
  </p:clrMapOvr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TIỀN TIỂU HỌC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2744"/>
                </a:solidFill>
                <a:latin typeface="Arial"/>
              </a:rPr>
              <a:t>Thử thách nhỏ!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Con hãy vẽ một chiếc máy tính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vào giấy của mình.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1A2744"/>
                </a:solidFill>
                <a:latin typeface="Arial"/>
              </a:rPr>
              <a:t>Nhớ vẽ đủ các bộ phận nhé!</a:t>
            </a:r>
          </a:p>
        </p:txBody>
      </p:sp>
    </p:spTree>
  </p:cSld>
  <p:clrMapOvr>
    <a:masterClrMapping/>
  </p:clrMapOvr>
  <p:transition spd="med">
    <p:wip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B4F9B"/>
                </a:solidFill>
                <a:latin typeface="Arial"/>
              </a:rPr>
              <a:t>Hôm nay con đã biết!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3774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744"/>
                </a:solidFill>
                <a:latin typeface="Arial"/>
              </a:rPr>
              <a:t>Máy tính ở xung quanh chúng 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00400"/>
            <a:ext cx="73152" cy="64008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00400"/>
            <a:ext cx="9994392" cy="640080"/>
          </a:xfrm>
          <a:prstGeom prst="round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2918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744"/>
                </a:solidFill>
                <a:latin typeface="Arial"/>
              </a:rPr>
              <a:t>Máy tính có: màn hình, bàn phím, chuột, thân máy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114800"/>
            <a:ext cx="73152" cy="640080"/>
          </a:xfrm>
          <a:prstGeom prst="rect">
            <a:avLst/>
          </a:prstGeom>
          <a:solidFill>
            <a:srgbClr val="2D7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114800"/>
            <a:ext cx="9994392" cy="640080"/>
          </a:xfrm>
          <a:prstGeom prst="roundRect">
            <a:avLst/>
          </a:prstGeom>
          <a:solidFill>
            <a:srgbClr val="EBF3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206240"/>
            <a:ext cx="94457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A2744"/>
                </a:solidFill>
                <a:latin typeface="Arial"/>
              </a:rPr>
              <a:t>Máy tính giúp con học và chơi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1B4F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50876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Các con giỏi lắm!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063240"/>
            <a:ext cx="7315200" cy="228599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337560"/>
            <a:ext cx="64008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A2744"/>
                </a:solidFill>
                <a:latin typeface="Arial"/>
              </a:rPr>
              <a:t>Hẹn gặp lại tiết sau nhé!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