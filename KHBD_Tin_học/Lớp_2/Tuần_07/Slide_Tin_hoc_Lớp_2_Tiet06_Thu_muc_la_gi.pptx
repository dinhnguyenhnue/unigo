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LỚP 2 • TUẦN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26400"/>
                </a:solidFill>
                <a:latin typeface="Arial"/>
              </a:defRPr>
            </a:pPr>
            <a:r>
              <a:t>BÀI: THƯ MỤC</a:t>
            </a:r>
            <a:br/>
            <a:r>
              <a:t>LÀ GÌ? 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05050"/>
                </a:solidFill>
                <a:latin typeface="Arial"/>
              </a:defRPr>
            </a:pPr>
            <a:r>
              <a:t>Khám phá "ngăn tủ thông minh" giúp sắp xếp dữ liệu trong máy tính!</a:t>
            </a:r>
          </a:p>
        </p:txBody>
      </p:sp>
      <p:pic>
        <p:nvPicPr>
          <p:cNvPr id="6" name="Picture 5" descr="robot_folder_ic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Nếu có rất nhiều đồ chơi, em sẽ cất như thế nào?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82828"/>
                </a:solidFill>
                <a:latin typeface="Arial"/>
              </a:defRPr>
            </a:pPr>
            <a:r>
              <a:t>🧸 Thử thách suy nghĩ:</a:t>
            </a:r>
            <a:br/>
            <a:br/>
            <a:r>
              <a:t>• Nếu để lẫn lộn ô tô, búp bê, bút màu và sách vào một đống thì khi cần tìm có lâu không?</a:t>
            </a:r>
            <a:br/>
            <a:br/>
            <a:r>
              <a:t>• Cách tốt nhất: Xếp vào từng NGĂN TỦ RIÊNG!</a:t>
            </a:r>
            <a:br/>
            <a:r>
              <a:t>  + Ngăn đồ chơi</a:t>
            </a:r>
            <a:br/>
            <a:r>
              <a:t>  + Ngăn sách vở</a:t>
            </a:r>
            <a:br/>
            <a:r>
              <a:t>  + Ngăn bút màu</a:t>
            </a:r>
            <a:br/>
            <a:br/>
            <a:r>
              <a:t>👉 Trong máy tính cũng có những "ngăn tủ" như thế, gọi là THƯ MỤC!</a:t>
            </a:r>
          </a:p>
        </p:txBody>
      </p:sp>
      <p:pic>
        <p:nvPicPr>
          <p:cNvPr id="6" name="Picture 5" descr="folder_organize_draw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5120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NỘI DUNG BÀI HỌC 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Cùng khám phá thế giới Thư mục trong máy tính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1. KHÁI NIỆM THƯ MỤC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C3C3C"/>
                </a:solidFill>
                <a:latin typeface="Arial"/>
              </a:defRPr>
            </a:pPr>
            <a:r>
              <a:t>Thư mục = Ngăn tủ chứa tài liệu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9456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21945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2. BIỂU TƯỢNG THƯ MỤC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C3C3C"/>
                </a:solidFill>
                <a:latin typeface="Arial"/>
              </a:defRPr>
            </a:pPr>
            <a:r>
              <a:t>Kẹp giấy màu vàng 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9456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21945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3. MẸ VÀ 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C3C3C"/>
                </a:solidFill>
                <a:latin typeface="Arial"/>
              </a:defRPr>
            </a:pPr>
            <a:r>
              <a:t>Thư mục mẹ &amp; Thư mục con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19456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23960" y="21945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4. TRÒ CHƠI PHÂN LOẠI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C3C3C"/>
                </a:solidFill>
                <a:latin typeface="Arial"/>
              </a:defRPr>
            </a:pPr>
            <a:r>
              <a:t>Thư mục 📁 hay Tệp tin 📄?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1 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Biểu tượng Thư mục (Folder) có hình dáng như thế nào?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9436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82828"/>
                </a:solidFill>
                <a:latin typeface="Arial"/>
              </a:defRPr>
            </a:pPr>
            <a:r>
              <a:t>📁 ĐẶC ĐIỂM CỦA THƯ MỤC:</a:t>
            </a:r>
            <a:br/>
            <a:br/>
            <a:r>
              <a:t>• Tên tiếng Anh: FOLDER.</a:t>
            </a:r>
            <a:br/>
            <a:r>
              <a:t>• Biểu tượng: Hình một KẸP TÀI LIỆU MÀU VÀNG 📁.</a:t>
            </a:r>
            <a:br/>
            <a:r>
              <a:t>• Công dụng: Giúp cất giữ các tệp tin (ảnh, bài hát, văn bản) và các thư mục khác.</a:t>
            </a:r>
            <a:br/>
            <a:r>
              <a:t>• Giúp máy tính ngăn nắp, dễ tìm kiếm tài liệu nhanh chóng!</a:t>
            </a:r>
          </a:p>
        </p:txBody>
      </p:sp>
      <p:pic>
        <p:nvPicPr>
          <p:cNvPr id="6" name="Picture 5" descr="robot_folder_ic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011680"/>
            <a:ext cx="43891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2 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Cây thư mục: Thư mục mẹ và Thư mục con</a:t>
            </a:r>
          </a:p>
        </p:txBody>
      </p:sp>
      <p:pic>
        <p:nvPicPr>
          <p:cNvPr id="4" name="Picture 3" descr="folder_tree_diagram_v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6984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3 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Phân biệt Thư mục mẹ và Thư mục con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FFF5E6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23232"/>
                </a:solidFill>
                <a:latin typeface="Arial"/>
              </a:defRPr>
            </a:pPr>
            <a:r>
              <a:t>👩‍👧 THƯ MỤC MẸ:</a:t>
            </a:r>
            <a:br/>
            <a:br/>
            <a:r>
              <a:t>• Là thư mục lớn ở bên ngoài.</a:t>
            </a:r>
            <a:br/>
            <a:r>
              <a:t>• Ví dụ: Thư mục HOC_TAP.</a:t>
            </a:r>
            <a:br/>
            <a:r>
              <a:t>• Bên trong thư mục mẹ có thể chứa nhiều thư mục nhỏ hơn.</a:t>
            </a:r>
            <a:br/>
            <a:r>
              <a:t>👉 Giống như ngăn kéo to của chiếc bàn học.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F0FFF0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23232"/>
                </a:solidFill>
                <a:latin typeface="Arial"/>
              </a:defRPr>
            </a:pPr>
            <a:r>
              <a:t>👶 THƯ MỤC CON:</a:t>
            </a:r>
            <a:br/>
            <a:br/>
            <a:r>
              <a:t>• Là thư mục nhỏ nằm BÊN TRONG thư mục mẹ.</a:t>
            </a:r>
            <a:br/>
            <a:r>
              <a:t>• Ví dụ: TOAN, TIENG_VIET, TIN_HOC nằm trong HOC_TAP.</a:t>
            </a:r>
            <a:br/>
            <a:r>
              <a:t>• Giúp phân chia từng môn học riêng biệt, không bị lẫn!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QUY TẮC ĐẶT TÊN ✍️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Cách đặt tên thư mục thông minh và dễ nhớ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NÊN: Đặt tên ngắn gọn,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2140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Ví dụ: HOC_TAP, HINH_ANH, AM_NHAC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121408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8A745"/>
                </a:solidFill>
                <a:latin typeface="Arial"/>
              </a:defRPr>
            </a:pPr>
            <a:r>
              <a:t>✅ Giúp dễ tìm ngay khi cần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3832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NÊN: Viết không dấu, 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31012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Ví dụ: BAI_TAP_1, TIENG_ANH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310128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96D6"/>
                </a:solidFill>
                <a:latin typeface="Arial"/>
              </a:defRPr>
            </a:pPr>
            <a:r>
              <a:t>✅ Máy tính đọc chuẩn xác, không lỗi font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69848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KHÔNG NÊN: Đặt tên tùy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49884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Ví dụ: asdfghjk, aaaaa, 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498848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C3545"/>
                </a:solidFill>
                <a:latin typeface="Arial"/>
              </a:defRPr>
            </a:pPr>
            <a:r>
              <a:t>❌ Sau này không biết bên trong có gì!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Trò chơi: Biểu tượng nào là THƯ MỤC?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914400"/>
          </a:xfrm>
          <a:prstGeom prst="roundRect">
            <a:avLst>
              <a:gd name="adj" fmla="val 4000"/>
            </a:avLst>
          </a:prstGeom>
          <a:solidFill>
            <a:srgbClr val="FFF8EB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45000"/>
                </a:solidFill>
                <a:latin typeface="Arial"/>
              </a:defRPr>
            </a:pPr>
            <a:r>
              <a:t>❓ Đố em: Trong các biểu tượng sau, biểu tượng nào là THƯ MỤC (Folder)?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257800" cy="1051560"/>
          </a:xfrm>
          <a:prstGeom prst="roundRect">
            <a:avLst>
              <a:gd name="adj" fmla="val 4000"/>
            </a:avLst>
          </a:prstGeom>
          <a:solidFill>
            <a:srgbClr val="EBFAF0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A745"/>
                </a:solidFill>
                <a:latin typeface="Arial"/>
              </a:defRPr>
            </a:pPr>
            <a:r>
              <a:t>A. 📁 Thư mục màu vàng 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108960"/>
            <a:ext cx="52578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32918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6464"/>
                </a:solidFill>
                <a:latin typeface="Arial"/>
              </a:defRPr>
            </a:pPr>
            <a:r>
              <a:t>B. 📄 Tệp Word (vanban.docx)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52578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262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6464"/>
                </a:solidFill>
                <a:latin typeface="Arial"/>
              </a:defRPr>
            </a:pPr>
            <a:r>
              <a:t>C. 🖼️ Tệp ảnh (anh.png)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343400"/>
            <a:ext cx="52578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5262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6464"/>
                </a:solidFill>
                <a:latin typeface="Arial"/>
              </a:defRPr>
            </a:pPr>
            <a:r>
              <a:t>D. 🎵 Tệp bài hát (nhac.mp3)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Những kiến thức cốt lõi em cần nhớ về Thư mục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THƯ MỤC TRONG MÁY TÍNH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Thư mục giống như một ngăn tủ giúp sắp xếp tệp tin gọn gàng và dễ tìm.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Biểu tượng thư mục là hình kẹp tài liệu màu vàng 📁.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Một thư mục mẹ có thể chứa nhiều thư mục con bên trong.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Cần đặt tên thư mục rõ ràng, có ý nghĩa và dễ hiểu!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26400"/>
                </a:solidFill>
                <a:latin typeface="Arial"/>
              </a:defRPr>
            </a:pPr>
            <a:r>
              <a:t>BẠN LÀ NHÀ QUẢN LÝ TÀI BA! 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Từ nay em đã biết cách cất đồ dùng và bài học vào đúng thư mục rồi!</a:t>
            </a:r>
            <a:br/>
            <a:br/>
            <a:r>
              <a:t>Hãy giữ cho máy tính luôn ngăn nắp nhé! 🌟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