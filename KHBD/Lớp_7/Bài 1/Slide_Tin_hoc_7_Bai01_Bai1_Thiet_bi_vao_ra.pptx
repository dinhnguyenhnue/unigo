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8288000" cy="10287000"/>
  <p:notesSz cx="6858000" cy="9144000"/>
  <p:embeddedFontLst>
    <p:embeddedFont>
      <p:font typeface="Aileron Heavy" panose="020B0604020202020204" charset="0"/>
      <p:regular r:id="rId6"/>
    </p:embeddedFont>
    <p:embeddedFont>
      <p:font typeface="Monggirella script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4622" autoAdjust="0"/>
  </p:normalViewPr>
  <p:slideViewPr>
    <p:cSldViewPr>
      <p:cViewPr varScale="1">
        <p:scale>
          <a:sx n="68" d="100"/>
          <a:sy n="68" d="100"/>
        </p:scale>
        <p:origin x="63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5E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40000" y="1080000"/>
            <a:ext cx="15407999" cy="7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0" y="1080000"/>
            <a:ext cx="432000" cy="72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0" y="1620000"/>
            <a:ext cx="5040000" cy="432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TIN HỌC 7  •  BÀI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8000" y="2340000"/>
            <a:ext cx="9000000" cy="216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3200" b="1" i="0">
                <a:solidFill>
                  <a:srgbClr val="115E59"/>
                </a:solidFill>
                <a:latin typeface="Arial"/>
              </a:defRPr>
            </a:pPr>
            <a:r>
              <a:rPr>
                <a:latin typeface="Arial"/>
              </a:rPr>
              <a:t>THIẾT BỊ VÀO - RA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 b="0" i="1">
                <a:solidFill>
                  <a:srgbClr val="475569"/>
                </a:solidFill>
                <a:latin typeface="Arial"/>
              </a:defRPr>
            </a:pPr>
            <a:r>
              <a:rPr>
                <a:latin typeface="Arial"/>
              </a:rPr>
              <a:t>Chủ đề 1: Máy tính và cộng đồng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0000" y="1800000"/>
            <a:ext cx="4320000" cy="36000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60000" y="2160000"/>
            <a:ext cx="3960000" cy="288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defRPr sz="1600" b="1" i="0">
                <a:solidFill>
                  <a:srgbClr val="115E59"/>
                </a:solidFill>
                <a:latin typeface="Arial"/>
              </a:defRPr>
            </a:pPr>
            <a:r>
              <a:rPr>
                <a:latin typeface="Arial"/>
              </a:rPr>
              <a:t>🏫 TRƯỜNG UNIGO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1" i="0">
                <a:solidFill>
                  <a:srgbClr val="475569"/>
                </a:solidFill>
                <a:latin typeface="Arial"/>
              </a:defRPr>
            </a:pPr>
            <a:r>
              <a:rPr>
                <a:latin typeface="Arial"/>
              </a:rPr>
              <a:t>👤 Giáo viên giảng dạy: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Tổ Bộ Môn Tin Học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0" i="0">
                <a:solidFill>
                  <a:srgbClr val="475569"/>
                </a:solidFill>
                <a:latin typeface="Arial"/>
              </a:defRPr>
            </a:pPr>
            <a:r>
              <a:rPr>
                <a:latin typeface="Arial"/>
              </a:rPr>
              <a:t>📅 Năm học: 2026 - 2027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MỤC TIÊU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TIN HỌC 7 • BÀI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2160000"/>
            <a:ext cx="216000" cy="6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2000" y="2700000"/>
            <a:ext cx="792000" cy="79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Phân loại thiết bị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Nhận biết các loại thiết bị vào - ra có hình dạng và chức năng đa dạng.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8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8000" y="2160000"/>
            <a:ext cx="216000" cy="6480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40000" y="2700000"/>
            <a:ext cx="792000" cy="7920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8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Chức năng hệ thống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Hiểu chức năng của thiết bị vào-ra trong thu nhận, lưu trữ, xử lý thông 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96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096000" y="2160000"/>
            <a:ext cx="216000" cy="6480000"/>
          </a:xfrm>
          <a:prstGeom prst="round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528000" y="2700000"/>
            <a:ext cx="792000" cy="79200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6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Sử dụng an toàn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Nêu ví dụ về thao tác không đúng cách gây lỗi thiết bị.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KHỞI ĐỘNG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KHỞI ĐỘNG 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9000000" cy="68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684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2340000"/>
            <a:ext cx="8280000" cy="61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defRPr sz="20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🖥️ Bộ máy tính để bàn:</a:t>
            </a:r>
          </a:p>
          <a:p>
            <a:pPr>
              <a:spcBef>
                <a:spcPts val="200"/>
              </a:spcBef>
              <a:spcAft>
                <a:spcPts val="16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Hãy quan sát các thành phần của một bộ máy tính cá nhân hoàn chỉnh.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115E59"/>
                </a:solidFill>
                <a:latin typeface="Arial"/>
              </a:defRPr>
            </a:pPr>
            <a:r>
              <a:rPr>
                <a:latin typeface="Arial"/>
              </a:rPr>
              <a:t>❓ Câu hỏi suy nghĩ: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👉 1. Kể tên các thiết bị mà em nhìn thấy.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👉 2. Thiết bị nào đưa dữ liệu vào? Thiết bị nào đưa dữ liệu ra?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0000" y="1980000"/>
            <a:ext cx="7308000" cy="68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p7_thiet_bi_vao_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2160000"/>
            <a:ext cx="6948000" cy="648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1. THIẾT BỊ VÀO (INPUT DEVICES)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7920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324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2232000"/>
            <a:ext cx="7200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📥 CHỨC NĂNG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Chuyển thông tin từ thế giới bên ngoài thành dữ liệu số mà máy tính có thể hiểu được.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60000" y="1980000"/>
            <a:ext cx="8208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60000" y="1980000"/>
            <a:ext cx="216000" cy="3240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2000" y="2232000"/>
            <a:ext cx="7488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EA580C"/>
                </a:solidFill>
                <a:latin typeface="Arial"/>
              </a:defRPr>
            </a:pPr>
            <a:r>
              <a:rPr>
                <a:latin typeface="Arial"/>
              </a:rPr>
              <a:t>⌨️ VÍ DỤ ĐẠI DIỆN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Bàn phím, chuột, micro, webcam, máy quét (scanner), tay cầm game.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5760000"/>
            <a:ext cx="16848000" cy="28800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000" y="6192000"/>
            <a:ext cx="15480000" cy="216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115E59"/>
                </a:solidFill>
                <a:latin typeface="Arial"/>
              </a:defRPr>
            </a:pPr>
            <a:r>
              <a:rPr>
                <a:latin typeface="Arial"/>
              </a:rPr>
              <a:t>🌟 GHI NHỚ CỐT LÕI: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2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ĐƯA DỮ LIỆU &amp; LỆNH TỪ NGHƯỜI DÙNG VÀO MÁY TÍNH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2. THIẾT BỊ RA (OUTPUT DEVICES)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16848000" cy="30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306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2232000"/>
            <a:ext cx="15840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📖 NỘI DUNG NỔI BẬT: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📤 Xuất kết quả xử lý:</a:t>
            </a:r>
            <a:br/>
            <a:r>
              <a:rPr>
                <a:latin typeface="Arial"/>
              </a:rPr>
              <a:t>• Màn hình (hiển thị hình ảnh, văn bản)</a:t>
            </a:r>
            <a:br/>
            <a:r>
              <a:rPr>
                <a:latin typeface="Arial"/>
              </a:rPr>
              <a:t>• Loa / Tai nghe (phát âm thanh)</a:t>
            </a:r>
            <a:br/>
            <a:r>
              <a:rPr>
                <a:latin typeface="Arial"/>
              </a:rPr>
              <a:t>• Máy in (in văn bản ra giấy)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400000"/>
            <a:ext cx="16848000" cy="32400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0" y="5688000"/>
            <a:ext cx="15480000" cy="288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115E59"/>
                </a:solidFill>
                <a:latin typeface="Arial"/>
              </a:defRPr>
            </a:pPr>
            <a:r>
              <a:rPr>
                <a:latin typeface="Arial"/>
              </a:rPr>
              <a:t>📌 THIẾT BỊ VÀO - RA ĐỒNG THỜI:</a:t>
            </a:r>
            <a:br/>
            <a:r>
              <a:rPr>
                <a:latin typeface="Arial"/>
              </a:rPr>
              <a:t>Thẻ nhớ, USB, Ổ cứng di động, Màn hình cảm ứng (Touchscreen).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3. AN TOÀN KHI SỬ DỤNG THIẾT BỊ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43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🚫 KHÔNG RÚT ĐỘT NGỘT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Không rút USB khi đang sao chép dữ liệu gây hỏng tệp.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8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8000" y="1980000"/>
            <a:ext cx="216000" cy="4320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8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EA580C"/>
                </a:solidFill>
                <a:latin typeface="Arial"/>
              </a:defRPr>
            </a:pPr>
            <a:r>
              <a:rPr>
                <a:latin typeface="Arial"/>
              </a:rPr>
              <a:t>💧 TRÁNH ẨM ỨỚT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Không để nước đổ vào bàn phím, thân máy.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96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96000" y="1980000"/>
            <a:ext cx="216000" cy="4320000"/>
          </a:xfrm>
          <a:prstGeom prst="round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56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115E59"/>
                </a:solidFill>
                <a:latin typeface="Arial"/>
              </a:defRPr>
            </a:pPr>
            <a:r>
              <a:rPr>
                <a:latin typeface="Arial"/>
              </a:rPr>
              <a:t>🔌 CẮM ĐÚNG CỔNG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Cắm nhẹ nhàng đúng chiều các đầu cáp kết nối.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wipe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LUYỆN TẬP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LUYỆN TẬP 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16848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29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2268000"/>
            <a:ext cx="15840000" cy="25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 b="1" i="0">
                <a:solidFill>
                  <a:srgbClr val="115E59"/>
                </a:solidFill>
                <a:latin typeface="Arial"/>
              </a:defRPr>
            </a:pPr>
            <a:r>
              <a:rPr>
                <a:latin typeface="Arial"/>
              </a:rPr>
              <a:t>❓ Bài 1: Phân loại các thiết bị sau: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• Micro, Bàn phím = THIẾT BỊ VÀO</a:t>
            </a:r>
            <a:br/>
            <a:r>
              <a:rPr>
                <a:latin typeface="Arial"/>
              </a:rPr>
              <a:t>• Máy in, Loa, Màn hình = THIẾT BỊ 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220000"/>
            <a:ext cx="16848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0000" y="5220000"/>
            <a:ext cx="216000" cy="295199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5508000"/>
            <a:ext cx="15840000" cy="25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 b="1" i="0">
                <a:solidFill>
                  <a:srgbClr val="115E59"/>
                </a:solidFill>
                <a:latin typeface="Arial"/>
              </a:defRPr>
            </a:pPr>
            <a:r>
              <a:rPr>
                <a:latin typeface="Arial"/>
              </a:rPr>
              <a:t>❓ Bài 2: Màn hình cảm ứng thuộc loại nào?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Là thiết bị VỪA VÀO VỪA 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VẬN DỤNG &amp; TRẢI NGHIỆM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VẬN DỤNG 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160000"/>
            <a:ext cx="15407999" cy="61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0000" y="2160000"/>
            <a:ext cx="216000" cy="61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0" y="2700000"/>
            <a:ext cx="13967999" cy="504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24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🌟 THỬ THÁCH THỰC TẾ DÀNH CHO EM: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Tìm các thiết bị vào-ra trên điện thoại thông minh (smartphone) hoặc máy tính bảng.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TỔNG KẾT BÀI HỌC GHI NHỚ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TỔNG KẾT 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160000"/>
            <a:ext cx="15407999" cy="61200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0" y="2700000"/>
            <a:ext cx="13967999" cy="504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2400" b="1" i="0">
                <a:solidFill>
                  <a:srgbClr val="115E59"/>
                </a:solidFill>
                <a:latin typeface="Arial"/>
              </a:defRPr>
            </a:pPr>
            <a:r>
              <a:rPr>
                <a:latin typeface="Arial"/>
              </a:rPr>
              <a:t>⭐ TÓM TẮT KIẾN THỨC CỐT LÕI: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1. Phân loại thiết bị: Nhận biết các loại thiết bị vào - ra có hình dạng và chức năng đa dạng.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2. Chức năng hệ thống: Hiểu chức năng của thiết bị vào-ra trong thu nhận, lưu trữ, xử lý thông tin.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3. Sử dụng an toàn: Nêu ví dụ về thao tác không đúng cách gây lỗi thiết bị.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wipe dir="d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5E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60000" y="1800000"/>
            <a:ext cx="13967999" cy="57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0" y="2880000"/>
            <a:ext cx="12527999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32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🌟 CẢM ƠN CÁC EM ĐÃ THEO DÕI! 🌟</a:t>
            </a:r>
          </a:p>
          <a:p>
            <a:pPr>
              <a:spcBef>
                <a:spcPts val="200"/>
              </a:spcBef>
              <a:spcAft>
                <a:spcPts val="1600"/>
              </a:spcAft>
              <a:defRPr sz="2000" b="0" i="1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Chúc các em luôn học giỏi và hăng hái khám phá thế giới Tin học!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200" b="1" i="0">
                <a:solidFill>
                  <a:srgbClr val="115E59"/>
                </a:solidFill>
                <a:latin typeface="Arial"/>
              </a:defRPr>
            </a:pPr>
            <a:r>
              <a:rPr>
                <a:latin typeface="Arial"/>
              </a:rPr>
              <a:t>TRƯỜNG TIỂU HỌC VÀ THCS UNIGO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4468</TotalTime>
  <Words>17</Words>
  <Application>Microsoft Office PowerPoint</Application>
  <PresentationFormat>Custom</PresentationFormat>
  <Paragraphs>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Aileron Heavy</vt:lpstr>
      <vt:lpstr>Arial</vt:lpstr>
      <vt:lpstr>Monggirella script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UNIGO COLLEGE</dc:title>
  <dc:creator>Admin</dc:creator>
  <cp:lastModifiedBy>Admin</cp:lastModifiedBy>
  <cp:revision>127</cp:revision>
  <dcterms:created xsi:type="dcterms:W3CDTF">2006-08-16T00:00:00Z</dcterms:created>
  <dcterms:modified xsi:type="dcterms:W3CDTF">2026-07-08T06:31:05Z</dcterms:modified>
  <dc:identifier>DAGcCSuIkf8</dc:identifier>
</cp:coreProperties>
</file>